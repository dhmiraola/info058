
<file path=[Content_Types].xml><?xml version="1.0" encoding="utf-8"?>
<Types xmlns="http://schemas.openxmlformats.org/package/2006/content-types">
  <Default ContentType="image/jpeg" Extension="jpg"/>
  <Default ContentType="application/vnd.openxmlformats-officedocument.vmlDrawing" Extension="vml"/>
  <Default ContentType="application/x-fontdata" Extension="fntdata"/>
  <Default ContentType="application/vnd.openxmlformats-officedocument.oleObject" Extension="bin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oleObject" PartName="/ppt/embeddings/oleObject1.bin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y="6858000" cx="9144000"/>
  <p:notesSz cx="6858000" cy="9144000"/>
  <p:embeddedFontLst>
    <p:embeddedFont>
      <p:font typeface="Arial Narrow"/>
      <p:regular r:id="rId45"/>
      <p:bold r:id="rId46"/>
      <p:italic r:id="rId47"/>
      <p:boldItalic r:id="rId48"/>
    </p:embeddedFont>
    <p:embeddedFont>
      <p:font typeface="Tahoma"/>
      <p:regular r:id="rId49"/>
      <p:bold r:id="rId50"/>
    </p:embeddedFont>
    <p:embeddedFont>
      <p:font typeface="Book Antiqua"/>
      <p:regular r:id="rId51"/>
      <p:bold r:id="rId52"/>
      <p:italic r:id="rId53"/>
      <p:boldItalic r:id="rId54"/>
    </p:embeddedFont>
    <p:embeddedFont>
      <p:font typeface="Baumans"/>
      <p:regular r:id="rId5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  <p:ext uri="GoogleSlidesCustomDataVersion2">
      <go:slidesCustomData xmlns:go="http://customooxmlschemas.google.com/" r:id="rId56" roundtripDataSignature="AMtx7mhRp/euzJblnyQiPQgeIhAeVVc5y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E9E5767-6F11-47BE-A44D-5E62487CCF7F}">
  <a:tblStyle styleId="{FE9E5767-6F11-47BE-A44D-5E62487CCF7F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E7F6"/>
          </a:solidFill>
        </a:fill>
      </a:tcStyle>
    </a:wholeTbl>
    <a:band1H>
      <a:tcTxStyle/>
      <a:tcStyle>
        <a:fill>
          <a:solidFill>
            <a:srgbClr val="CCCCEC"/>
          </a:solidFill>
        </a:fill>
      </a:tcStyle>
    </a:band1H>
    <a:band2H>
      <a:tcTxStyle/>
    </a:band2H>
    <a:band1V>
      <a:tcTxStyle/>
      <a:tcStyle>
        <a:fill>
          <a:solidFill>
            <a:srgbClr val="CCCCEC"/>
          </a:solidFill>
        </a:fill>
      </a:tcStyle>
    </a:band1V>
    <a:band2V>
      <a:tcTxStyle/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2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2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2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2"/>
          </a:solidFill>
        </a:fill>
      </a:tcStyle>
    </a:firstRow>
    <a:neCell>
      <a:tcTxStyle/>
    </a:neCell>
    <a:nwCell>
      <a:tcTxStyle/>
    </a:nwCell>
  </a:tblStyle>
  <a:tblStyle styleId="{C46FA75B-8E22-42CB-B898-2A818C713B26}" styleName="Table_1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chemeClr val="accent3"/>
          </a:solidFill>
        </a:fill>
      </a:tcStyle>
    </a:wholeTbl>
    <a:band1H>
      <a:tcTxStyle/>
      <a:tcStyle>
        <a:fill>
          <a:solidFill>
            <a:schemeClr val="accent3"/>
          </a:solidFill>
        </a:fill>
      </a:tcStyle>
    </a:band1H>
    <a:band2H>
      <a:tcTxStyle/>
    </a:band2H>
    <a:band1V>
      <a:tcTxStyle/>
      <a:tcStyle>
        <a:fill>
          <a:solidFill>
            <a:schemeClr val="accent3"/>
          </a:solidFill>
        </a:fill>
      </a:tcStyle>
    </a:band1V>
    <a:band2V>
      <a:tcTxStyle/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3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3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3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3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font" Target="fonts/ArialNarrow-bold.fntdata"/><Relationship Id="rId45" Type="http://schemas.openxmlformats.org/officeDocument/2006/relationships/font" Target="fonts/ArialNarrow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ArialNarrow-boldItalic.fntdata"/><Relationship Id="rId47" Type="http://schemas.openxmlformats.org/officeDocument/2006/relationships/font" Target="fonts/ArialNarrow-italic.fntdata"/><Relationship Id="rId49" Type="http://schemas.openxmlformats.org/officeDocument/2006/relationships/font" Target="fonts/Tahoma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BookAntiqua-regular.fntdata"/><Relationship Id="rId50" Type="http://schemas.openxmlformats.org/officeDocument/2006/relationships/font" Target="fonts/Tahoma-bold.fntdata"/><Relationship Id="rId53" Type="http://schemas.openxmlformats.org/officeDocument/2006/relationships/font" Target="fonts/BookAntiqua-italic.fntdata"/><Relationship Id="rId52" Type="http://schemas.openxmlformats.org/officeDocument/2006/relationships/font" Target="fonts/BookAntiqua-bold.fntdata"/><Relationship Id="rId11" Type="http://schemas.openxmlformats.org/officeDocument/2006/relationships/slide" Target="slides/slide5.xml"/><Relationship Id="rId55" Type="http://schemas.openxmlformats.org/officeDocument/2006/relationships/font" Target="fonts/Baumans-regular.fntdata"/><Relationship Id="rId10" Type="http://schemas.openxmlformats.org/officeDocument/2006/relationships/slide" Target="slides/slide4.xml"/><Relationship Id="rId54" Type="http://schemas.openxmlformats.org/officeDocument/2006/relationships/font" Target="fonts/BookAntiqua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56" Type="http://customschemas.google.com/relationships/presentationmetadata" Target="meta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drawings/_rels/vmlDrawing1.vml.rels><?xml version="1.0" encoding="UTF-8" standalone="yes"?><Relationships xmlns="http://schemas.openxmlformats.org/package/2006/relationships"><Relationship Id="rId1" Type="http://schemas.openxmlformats.org/officeDocument/2006/relationships/image" Target="../media/image2.png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spcBef>
                <a:spcPts val="140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rgbClr val="CC99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140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rgbClr val="CC99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140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rgbClr val="CC99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140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rgbClr val="CC99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rgbClr val="CC99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rgbClr val="CC99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rgbClr val="CC99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rgbClr val="CC99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spcBef>
                <a:spcPts val="140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rgbClr val="CC99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140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rgbClr val="CC99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140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rgbClr val="CC99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140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rgbClr val="CC99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rgbClr val="CC99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rgbClr val="CC99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rgbClr val="CC99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rgbClr val="CC99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spcBef>
                <a:spcPts val="140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rgbClr val="CC99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140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rgbClr val="CC99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140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rgbClr val="CC99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140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rgbClr val="CC99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rgbClr val="CC99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rgbClr val="CC99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rgbClr val="CC99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rgbClr val="CC99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CL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2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s-CL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2" name="Google Shape;132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3" name="Google Shape;133;p1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Indicar que en el ejemplo anterior ellos sin saber dieron solución a los algoritmos a través de su propio seudo-código.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3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s-CL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9" name="Google Shape;139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0" name="Google Shape;140;p1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Indicar que en el ejemplo anterior ellos sin saber dieron solución a los algoritmos a través de su propio seudo-código.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8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s-CL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2" name="Google Shape;182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3" name="Google Shape;183;p1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1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s-CL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6" name="Google Shape;216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7" name="Google Shape;217;p2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5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s-CL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8" name="Google Shape;278;p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9" name="Google Shape;279;p2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6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s-CL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8" name="Google Shape;308;p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9" name="Google Shape;309;p2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2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8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s-CL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3" name="Google Shape;343;p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4" name="Google Shape;344;p2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2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2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30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s-CL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8" name="Google Shape;378;p3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9" name="Google Shape;379;p3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3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3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3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3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3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3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3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3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36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s-CL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5" name="Google Shape;465;p3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66" name="Google Shape;466;p3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37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s-CL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1" name="Google Shape;491;p3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2" name="Google Shape;492;p3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3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3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40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4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" name="Google Shape;17;p4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❑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✔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3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" name="Google Shape;21;p43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60"/>
              <a:buFont typeface="Noto Sans Symbols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" name="Google Shape;24;p44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❑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5280" lvl="1" marL="9144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✔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" name="Google Shape;25;p44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❑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5280" lvl="1" marL="9144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✔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" name="Google Shape;28;p45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  <a:def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" name="Google Shape;29;p45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48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❑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✔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30200" lvl="5" marL="27432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30200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302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30200" lvl="8" marL="4114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0" name="Google Shape;30;p45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  <a:def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1" name="Google Shape;31;p45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48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❑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✔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30200" lvl="5" marL="27432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30200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302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30200" lvl="8" marL="4114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lo el título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7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6" name="Google Shape;36;p47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02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❑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5306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960"/>
              <a:buFont typeface="Noto Sans Symbols"/>
              <a:buChar char="✔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7" name="Google Shape;37;p47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700"/>
              <a:buFont typeface="Noto Sans Symbols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840"/>
              <a:buFont typeface="Noto Sans Symbols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48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0" name="Google Shape;40;p48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41" name="Google Shape;41;p48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700"/>
              <a:buFont typeface="Noto Sans Symbols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840"/>
              <a:buFont typeface="Noto Sans Symbols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4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4" name="Google Shape;44;p49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❑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✔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50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7" name="Google Shape;47;p50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❑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✔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, texto y objetos" type="txAndObj">
  <p:cSld name="TEXT_AND_OBJEC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5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0" name="Google Shape;50;p51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❑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✔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1" name="Google Shape;51;p51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❑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✔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5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ndo_verde_generico" id="10" name="Google Shape;10;p39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-1588"/>
            <a:ext cx="9144000" cy="6859588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39"/>
          <p:cNvSpPr txBox="1"/>
          <p:nvPr/>
        </p:nvSpPr>
        <p:spPr>
          <a:xfrm>
            <a:off x="0" y="1076325"/>
            <a:ext cx="1619250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CL" sz="1600" u="none" cap="none" strike="noStrik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Programación</a:t>
            </a:r>
            <a:endParaRPr b="1" i="1" sz="1600" u="none" cap="none" strike="noStrike">
              <a:solidFill>
                <a:schemeClr val="lt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transition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vmlDrawing" Target="../drawings/vmlDrawing1.vml"/><Relationship Id="rId4" Type="http://schemas.openxmlformats.org/officeDocument/2006/relationships/oleObject" Target="../embeddings/oleObject1.bin"/><Relationship Id="rId5" Type="http://schemas.openxmlformats.org/officeDocument/2006/relationships/oleObject" Target="../embeddings/oleObject1.bin"/><Relationship Id="rId6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nicio_verde_generico" id="56" name="Google Shape;5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6117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"/>
          <p:cNvSpPr txBox="1"/>
          <p:nvPr>
            <p:ph type="ctrTitle"/>
          </p:nvPr>
        </p:nvSpPr>
        <p:spPr>
          <a:xfrm>
            <a:off x="179388" y="188913"/>
            <a:ext cx="8208962" cy="733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Instituto de Informática</a:t>
            </a:r>
            <a:br>
              <a:rPr lang="es-CL" sz="36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endParaRPr sz="3600">
              <a:solidFill>
                <a:schemeClr val="lt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Google Shape;62;p2"/>
          <p:cNvGrpSpPr/>
          <p:nvPr/>
        </p:nvGrpSpPr>
        <p:grpSpPr>
          <a:xfrm>
            <a:off x="-36513" y="981075"/>
            <a:ext cx="1655763" cy="576263"/>
            <a:chOff x="-23" y="618"/>
            <a:chExt cx="953" cy="363"/>
          </a:xfrm>
        </p:grpSpPr>
        <p:sp>
          <p:nvSpPr>
            <p:cNvPr id="63" name="Google Shape;63;p2"/>
            <p:cNvSpPr/>
            <p:nvPr/>
          </p:nvSpPr>
          <p:spPr>
            <a:xfrm>
              <a:off x="46" y="618"/>
              <a:ext cx="884" cy="363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2800">
                <a:solidFill>
                  <a:srgbClr val="CC99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" name="Google Shape;64;p2"/>
            <p:cNvSpPr txBox="1"/>
            <p:nvPr/>
          </p:nvSpPr>
          <p:spPr>
            <a:xfrm>
              <a:off x="-23" y="663"/>
              <a:ext cx="952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s-CL" sz="1600" u="none">
                  <a:solidFill>
                    <a:schemeClr val="lt2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Programación</a:t>
              </a:r>
              <a:endParaRPr b="1" i="1" sz="1600" u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</p:grpSp>
      <p:sp>
        <p:nvSpPr>
          <p:cNvPr id="65" name="Google Shape;65;p2"/>
          <p:cNvSpPr txBox="1"/>
          <p:nvPr/>
        </p:nvSpPr>
        <p:spPr>
          <a:xfrm>
            <a:off x="1763688" y="2379751"/>
            <a:ext cx="5825202" cy="12347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ALGORITMOS</a:t>
            </a:r>
            <a:br>
              <a:rPr b="1" lang="es-CL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s-CL" sz="33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INFO 058</a:t>
            </a:r>
            <a:endParaRPr b="1" sz="2800" u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540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rgbClr val="21218A"/>
                </a:solidFill>
              </a:rPr>
              <a:t>Algoritmos - Definición</a:t>
            </a:r>
            <a:endParaRPr>
              <a:solidFill>
                <a:srgbClr val="21218A"/>
              </a:solidFill>
            </a:endParaRPr>
          </a:p>
        </p:txBody>
      </p:sp>
      <p:sp>
        <p:nvSpPr>
          <p:cNvPr id="77" name="Google Shape;77;p4"/>
          <p:cNvSpPr txBox="1"/>
          <p:nvPr>
            <p:ph idx="1" type="body"/>
          </p:nvPr>
        </p:nvSpPr>
        <p:spPr>
          <a:xfrm>
            <a:off x="1763688" y="3861048"/>
            <a:ext cx="7149480" cy="27363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21218A"/>
              </a:buClr>
              <a:buSzPts val="1400"/>
              <a:buChar char="❑"/>
            </a:pPr>
            <a:r>
              <a:rPr lang="es-CL">
                <a:solidFill>
                  <a:srgbClr val="21218A"/>
                </a:solidFill>
              </a:rPr>
              <a:t>Puede escribirse en lenguaje natural.</a:t>
            </a:r>
            <a:endParaRPr/>
          </a:p>
          <a:p>
            <a:pPr indent="-2540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>
              <a:solidFill>
                <a:srgbClr val="21218A"/>
              </a:solidFill>
            </a:endParaRPr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rgbClr val="21218A"/>
              </a:buClr>
              <a:buSzPts val="1400"/>
              <a:buChar char="❑"/>
            </a:pPr>
            <a:r>
              <a:rPr lang="es-CL">
                <a:solidFill>
                  <a:srgbClr val="21218A"/>
                </a:solidFill>
              </a:rPr>
              <a:t>Independientes de un lenguaje de programación.</a:t>
            </a:r>
            <a:endParaRPr/>
          </a:p>
          <a:p>
            <a:pPr indent="-2540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8" name="Google Shape;78;p4"/>
          <p:cNvSpPr/>
          <p:nvPr/>
        </p:nvSpPr>
        <p:spPr>
          <a:xfrm>
            <a:off x="1763688" y="1628800"/>
            <a:ext cx="6477635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CL" sz="3200">
                <a:solidFill>
                  <a:srgbClr val="21218A"/>
                </a:solidFill>
                <a:latin typeface="Arial"/>
                <a:ea typeface="Arial"/>
                <a:cs typeface="Arial"/>
                <a:sym typeface="Arial"/>
              </a:rPr>
              <a:t>“Secuencia de pasos orientada al logro de un objetivo”.</a:t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rgbClr val="21218A"/>
                </a:solidFill>
              </a:rPr>
              <a:t>Algoritmos - Ejercicios</a:t>
            </a:r>
            <a:endParaRPr/>
          </a:p>
        </p:txBody>
      </p:sp>
      <p:sp>
        <p:nvSpPr>
          <p:cNvPr id="84" name="Google Shape;84;p5"/>
          <p:cNvSpPr txBox="1"/>
          <p:nvPr>
            <p:ph idx="1" type="body"/>
          </p:nvPr>
        </p:nvSpPr>
        <p:spPr>
          <a:xfrm>
            <a:off x="1547664" y="1600200"/>
            <a:ext cx="7139136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21218A"/>
              </a:buClr>
              <a:buSzPts val="1400"/>
              <a:buChar char="❑"/>
            </a:pPr>
            <a:r>
              <a:rPr lang="es-CL">
                <a:solidFill>
                  <a:srgbClr val="21218A"/>
                </a:solidFill>
              </a:rPr>
              <a:t>Usando lenguaje natural:</a:t>
            </a:r>
            <a:endParaRPr/>
          </a:p>
          <a:p>
            <a:pPr indent="-2540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>
              <a:solidFill>
                <a:srgbClr val="21218A"/>
              </a:solidFill>
            </a:endParaRPr>
          </a:p>
          <a:p>
            <a:pPr indent="-228600" lvl="2" marL="1143000" rtl="0" algn="l">
              <a:spcBef>
                <a:spcPts val="560"/>
              </a:spcBef>
              <a:spcAft>
                <a:spcPts val="0"/>
              </a:spcAft>
              <a:buClr>
                <a:srgbClr val="21218A"/>
              </a:buClr>
              <a:buSzPts val="2800"/>
              <a:buFont typeface="Arial"/>
              <a:buChar char="•"/>
            </a:pPr>
            <a:r>
              <a:rPr lang="es-CL" sz="2800">
                <a:solidFill>
                  <a:srgbClr val="21218A"/>
                </a:solidFill>
              </a:rPr>
              <a:t>Diseñe un algoritmo para realizar una llamada desde un teléfono fijo.</a:t>
            </a:r>
            <a:endParaRPr/>
          </a:p>
          <a:p>
            <a:pPr indent="-50800" lvl="2" marL="11430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800">
              <a:solidFill>
                <a:srgbClr val="21218A"/>
              </a:solidFill>
            </a:endParaRPr>
          </a:p>
          <a:p>
            <a:pPr indent="-228600" lvl="2" marL="1143000" rtl="0" algn="l">
              <a:spcBef>
                <a:spcPts val="560"/>
              </a:spcBef>
              <a:spcAft>
                <a:spcPts val="0"/>
              </a:spcAft>
              <a:buClr>
                <a:srgbClr val="21218A"/>
              </a:buClr>
              <a:buSzPts val="2800"/>
              <a:buFont typeface="Arial"/>
              <a:buChar char="•"/>
            </a:pPr>
            <a:r>
              <a:rPr lang="es-CL" sz="2800">
                <a:solidFill>
                  <a:srgbClr val="21218A"/>
                </a:solidFill>
              </a:rPr>
              <a:t>Diseñe un algoritmo para hacer un roll de sushi.</a:t>
            </a:r>
            <a:endParaRPr sz="2800">
              <a:solidFill>
                <a:srgbClr val="21218A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6"/>
          <p:cNvSpPr txBox="1"/>
          <p:nvPr>
            <p:ph type="title"/>
          </p:nvPr>
        </p:nvSpPr>
        <p:spPr>
          <a:xfrm>
            <a:off x="1547813" y="274638"/>
            <a:ext cx="713898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200">
                <a:solidFill>
                  <a:srgbClr val="21218A"/>
                </a:solidFill>
              </a:rPr>
              <a:t>Ver un Algoritmo como un sistema</a:t>
            </a:r>
            <a:endParaRPr sz="3200">
              <a:solidFill>
                <a:srgbClr val="21218A"/>
              </a:solidFill>
            </a:endParaRPr>
          </a:p>
        </p:txBody>
      </p:sp>
      <p:sp>
        <p:nvSpPr>
          <p:cNvPr id="90" name="Google Shape;90;p6"/>
          <p:cNvSpPr txBox="1"/>
          <p:nvPr>
            <p:ph idx="1" type="body"/>
          </p:nvPr>
        </p:nvSpPr>
        <p:spPr>
          <a:xfrm>
            <a:off x="1476375" y="1196975"/>
            <a:ext cx="7667625" cy="13679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1400"/>
              <a:buFont typeface="Noto Sans Symbols"/>
              <a:buNone/>
            </a:pPr>
            <a:r>
              <a:rPr b="1" lang="es-CL">
                <a:solidFill>
                  <a:srgbClr val="FF6600"/>
                </a:solidFill>
              </a:rPr>
              <a:t>Sistema: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rgbClr val="21218A"/>
              </a:buClr>
              <a:buSzPts val="1400"/>
              <a:buChar char="✔"/>
            </a:pPr>
            <a:r>
              <a:rPr lang="es-CL">
                <a:solidFill>
                  <a:srgbClr val="21218A"/>
                </a:solidFill>
              </a:rPr>
              <a:t>Conjunto de elementos interrelacionados que trabajan juntos para obtener un resultado deseado.</a:t>
            </a:r>
            <a:endParaRPr/>
          </a:p>
          <a:p>
            <a:pPr indent="-1968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r>
              <a:t/>
            </a:r>
            <a:endParaRPr b="1" sz="2400">
              <a:solidFill>
                <a:srgbClr val="FF6600"/>
              </a:solidFill>
            </a:endParaRPr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</a:pPr>
            <a:r>
              <a:t/>
            </a:r>
            <a:endParaRPr/>
          </a:p>
        </p:txBody>
      </p:sp>
      <p:pic>
        <p:nvPicPr>
          <p:cNvPr id="91" name="Google Shape;9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27784" y="2708920"/>
            <a:ext cx="5050869" cy="38164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7"/>
          <p:cNvSpPr txBox="1"/>
          <p:nvPr>
            <p:ph type="title"/>
          </p:nvPr>
        </p:nvSpPr>
        <p:spPr>
          <a:xfrm>
            <a:off x="1547813" y="274638"/>
            <a:ext cx="713898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200">
                <a:solidFill>
                  <a:srgbClr val="21218A"/>
                </a:solidFill>
              </a:rPr>
              <a:t>Ver un Algoritmo como un sistema</a:t>
            </a:r>
            <a:endParaRPr sz="3200">
              <a:solidFill>
                <a:srgbClr val="21218A"/>
              </a:solidFill>
            </a:endParaRPr>
          </a:p>
        </p:txBody>
      </p:sp>
      <p:sp>
        <p:nvSpPr>
          <p:cNvPr id="97" name="Google Shape;97;p7"/>
          <p:cNvSpPr txBox="1"/>
          <p:nvPr>
            <p:ph idx="1" type="body"/>
          </p:nvPr>
        </p:nvSpPr>
        <p:spPr>
          <a:xfrm>
            <a:off x="1476375" y="1196975"/>
            <a:ext cx="7416105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1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/>
          </a:p>
          <a:p>
            <a:pPr indent="-342900" lvl="0" marL="342900" rtl="0" algn="ctr">
              <a:spcBef>
                <a:spcPts val="72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None/>
            </a:pPr>
            <a:r>
              <a:rPr b="1" lang="es-CL" sz="2400">
                <a:solidFill>
                  <a:schemeClr val="accent2"/>
                </a:solidFill>
              </a:rPr>
              <a:t>Un</a:t>
            </a:r>
            <a:r>
              <a:rPr lang="es-CL" sz="3600">
                <a:solidFill>
                  <a:schemeClr val="accent2"/>
                </a:solidFill>
                <a:latin typeface="Baumans"/>
                <a:ea typeface="Baumans"/>
                <a:cs typeface="Baumans"/>
                <a:sym typeface="Baumans"/>
              </a:rPr>
              <a:t> algoritmo </a:t>
            </a:r>
            <a:r>
              <a:rPr b="1" lang="es-CL" sz="2400">
                <a:solidFill>
                  <a:schemeClr val="accent2"/>
                </a:solidFill>
              </a:rPr>
              <a:t>es un  sistema que tiene entrada, proceso y salida.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r>
              <a:t/>
            </a:r>
            <a:endParaRPr b="1" sz="2400">
              <a:solidFill>
                <a:srgbClr val="FF6600"/>
              </a:solidFill>
            </a:endParaRPr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</a:pPr>
            <a:r>
              <a:t/>
            </a:r>
            <a:endParaRPr/>
          </a:p>
        </p:txBody>
      </p:sp>
      <p:grpSp>
        <p:nvGrpSpPr>
          <p:cNvPr id="98" name="Google Shape;98;p7"/>
          <p:cNvGrpSpPr/>
          <p:nvPr/>
        </p:nvGrpSpPr>
        <p:grpSpPr>
          <a:xfrm>
            <a:off x="1904999" y="3140968"/>
            <a:ext cx="6216650" cy="1366837"/>
            <a:chOff x="1124" y="2659"/>
            <a:chExt cx="3916" cy="861"/>
          </a:xfrm>
        </p:grpSpPr>
        <p:grpSp>
          <p:nvGrpSpPr>
            <p:cNvPr id="99" name="Google Shape;99;p7"/>
            <p:cNvGrpSpPr/>
            <p:nvPr/>
          </p:nvGrpSpPr>
          <p:grpSpPr>
            <a:xfrm>
              <a:off x="1882" y="2659"/>
              <a:ext cx="2540" cy="861"/>
              <a:chOff x="1882" y="2614"/>
              <a:chExt cx="2540" cy="861"/>
            </a:xfrm>
          </p:grpSpPr>
          <p:sp>
            <p:nvSpPr>
              <p:cNvPr id="100" name="Google Shape;100;p7"/>
              <p:cNvSpPr/>
              <p:nvPr/>
            </p:nvSpPr>
            <p:spPr>
              <a:xfrm>
                <a:off x="2517" y="2614"/>
                <a:ext cx="1270" cy="861"/>
              </a:xfrm>
              <a:prstGeom prst="rect">
                <a:avLst/>
              </a:prstGeom>
              <a:solidFill>
                <a:schemeClr val="lt1"/>
              </a:solidFill>
              <a:ln cap="flat" cmpd="sng" w="38100">
                <a:solidFill>
                  <a:srgbClr val="70CC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2800">
                  <a:solidFill>
                    <a:srgbClr val="CC99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01" name="Google Shape;101;p7"/>
              <p:cNvCxnSpPr/>
              <p:nvPr/>
            </p:nvCxnSpPr>
            <p:spPr>
              <a:xfrm>
                <a:off x="1882" y="3022"/>
                <a:ext cx="59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70CC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102" name="Google Shape;102;p7"/>
              <p:cNvCxnSpPr/>
              <p:nvPr/>
            </p:nvCxnSpPr>
            <p:spPr>
              <a:xfrm>
                <a:off x="3832" y="3067"/>
                <a:ext cx="59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70CC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sp>
          <p:nvSpPr>
            <p:cNvPr id="103" name="Google Shape;103;p7"/>
            <p:cNvSpPr txBox="1"/>
            <p:nvPr/>
          </p:nvSpPr>
          <p:spPr>
            <a:xfrm>
              <a:off x="1124" y="2659"/>
              <a:ext cx="959" cy="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CL" sz="2800">
                  <a:solidFill>
                    <a:srgbClr val="CC9900"/>
                  </a:solidFill>
                  <a:latin typeface="Arial"/>
                  <a:ea typeface="Arial"/>
                  <a:cs typeface="Arial"/>
                  <a:sym typeface="Arial"/>
                </a:rPr>
                <a:t>Entrada</a:t>
              </a:r>
              <a:endParaRPr b="1" sz="2800">
                <a:solidFill>
                  <a:srgbClr val="CC99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p7"/>
            <p:cNvSpPr txBox="1"/>
            <p:nvPr/>
          </p:nvSpPr>
          <p:spPr>
            <a:xfrm>
              <a:off x="4264" y="2704"/>
              <a:ext cx="776" cy="3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CL" sz="2800">
                  <a:solidFill>
                    <a:srgbClr val="CC9900"/>
                  </a:solidFill>
                  <a:latin typeface="Arial"/>
                  <a:ea typeface="Arial"/>
                  <a:cs typeface="Arial"/>
                  <a:sym typeface="Arial"/>
                </a:rPr>
                <a:t>Salida</a:t>
              </a:r>
              <a:endParaRPr b="1" sz="2800">
                <a:solidFill>
                  <a:srgbClr val="CC99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p7"/>
            <p:cNvSpPr txBox="1"/>
            <p:nvPr/>
          </p:nvSpPr>
          <p:spPr>
            <a:xfrm>
              <a:off x="2650" y="2931"/>
              <a:ext cx="1001" cy="3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CL" sz="2800">
                  <a:solidFill>
                    <a:srgbClr val="CC9900"/>
                  </a:solidFill>
                  <a:latin typeface="Arial"/>
                  <a:ea typeface="Arial"/>
                  <a:cs typeface="Arial"/>
                  <a:sym typeface="Arial"/>
                </a:rPr>
                <a:t>Proceso</a:t>
              </a:r>
              <a:endParaRPr b="1" sz="2800">
                <a:solidFill>
                  <a:srgbClr val="CC99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6" name="Google Shape;106;p7"/>
          <p:cNvSpPr txBox="1"/>
          <p:nvPr/>
        </p:nvSpPr>
        <p:spPr>
          <a:xfrm>
            <a:off x="2559843" y="5080886"/>
            <a:ext cx="5114925" cy="854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000">
                <a:solidFill>
                  <a:srgbClr val="21218A"/>
                </a:solidFill>
                <a:latin typeface="Arial"/>
                <a:ea typeface="Arial"/>
                <a:cs typeface="Arial"/>
                <a:sym typeface="Arial"/>
              </a:rPr>
              <a:t>Un Algoritmo siempre es finito, es decir, </a:t>
            </a:r>
            <a:endParaRPr/>
          </a:p>
          <a:p>
            <a:pPr indent="0" lvl="0" marL="0" marR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b="1" lang="es-CL" sz="2000">
                <a:solidFill>
                  <a:srgbClr val="21218A"/>
                </a:solidFill>
                <a:latin typeface="Arial"/>
                <a:ea typeface="Arial"/>
                <a:cs typeface="Arial"/>
                <a:sym typeface="Arial"/>
              </a:rPr>
              <a:t>tiene un INICIO y un FIN</a:t>
            </a:r>
            <a:endParaRPr b="1" sz="2000">
              <a:solidFill>
                <a:srgbClr val="21218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rgbClr val="21218A"/>
                </a:solidFill>
              </a:rPr>
              <a:t>Algoritmos </a:t>
            </a:r>
            <a:endParaRPr/>
          </a:p>
        </p:txBody>
      </p:sp>
      <p:sp>
        <p:nvSpPr>
          <p:cNvPr id="112" name="Google Shape;112;p8"/>
          <p:cNvSpPr txBox="1"/>
          <p:nvPr>
            <p:ph idx="1" type="body"/>
          </p:nvPr>
        </p:nvSpPr>
        <p:spPr>
          <a:xfrm>
            <a:off x="1475656" y="1600200"/>
            <a:ext cx="7211144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21218A"/>
              </a:buClr>
              <a:buSzPts val="1400"/>
              <a:buChar char="❑"/>
            </a:pPr>
            <a:r>
              <a:rPr lang="es-CL">
                <a:solidFill>
                  <a:srgbClr val="21218A"/>
                </a:solidFill>
              </a:rPr>
              <a:t>En la receta de sushi…</a:t>
            </a:r>
            <a:endParaRPr/>
          </a:p>
          <a:p>
            <a:pPr indent="-2540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>
              <a:solidFill>
                <a:srgbClr val="21218A"/>
              </a:solidFill>
            </a:endParaRPr>
          </a:p>
          <a:p>
            <a:pPr indent="-228600" lvl="2" marL="1143000" rtl="0" algn="l">
              <a:spcBef>
                <a:spcPts val="560"/>
              </a:spcBef>
              <a:spcAft>
                <a:spcPts val="0"/>
              </a:spcAft>
              <a:buClr>
                <a:srgbClr val="FF6600"/>
              </a:buClr>
              <a:buSzPts val="2800"/>
              <a:buFont typeface="Arial"/>
              <a:buChar char="•"/>
            </a:pPr>
            <a:r>
              <a:rPr lang="es-CL" sz="2800">
                <a:solidFill>
                  <a:srgbClr val="FF6600"/>
                </a:solidFill>
              </a:rPr>
              <a:t>Entrada</a:t>
            </a:r>
            <a:r>
              <a:rPr lang="es-CL" sz="2800">
                <a:solidFill>
                  <a:srgbClr val="197D25"/>
                </a:solidFill>
              </a:rPr>
              <a:t>: ingredientes, datos (para cuántas personas?)</a:t>
            </a:r>
            <a:endParaRPr/>
          </a:p>
          <a:p>
            <a:pPr indent="-228600" lvl="2" marL="1143000" rtl="0" algn="l">
              <a:spcBef>
                <a:spcPts val="560"/>
              </a:spcBef>
              <a:spcAft>
                <a:spcPts val="0"/>
              </a:spcAft>
              <a:buClr>
                <a:srgbClr val="FF6600"/>
              </a:buClr>
              <a:buSzPts val="2800"/>
              <a:buFont typeface="Arial"/>
              <a:buChar char="•"/>
            </a:pPr>
            <a:r>
              <a:rPr lang="es-CL" sz="2800">
                <a:solidFill>
                  <a:srgbClr val="FF6600"/>
                </a:solidFill>
              </a:rPr>
              <a:t>Proceso:</a:t>
            </a:r>
            <a:r>
              <a:rPr lang="es-CL" sz="2800">
                <a:solidFill>
                  <a:srgbClr val="197D25"/>
                </a:solidFill>
              </a:rPr>
              <a:t> pasos para manipular los ingredientes</a:t>
            </a:r>
            <a:endParaRPr/>
          </a:p>
          <a:p>
            <a:pPr indent="-228600" lvl="2" marL="1143000" rtl="0" algn="l">
              <a:spcBef>
                <a:spcPts val="560"/>
              </a:spcBef>
              <a:spcAft>
                <a:spcPts val="0"/>
              </a:spcAft>
              <a:buClr>
                <a:srgbClr val="FF6600"/>
              </a:buClr>
              <a:buSzPts val="2800"/>
              <a:buFont typeface="Arial"/>
              <a:buChar char="•"/>
            </a:pPr>
            <a:r>
              <a:rPr lang="es-CL" sz="2800">
                <a:solidFill>
                  <a:srgbClr val="FF6600"/>
                </a:solidFill>
              </a:rPr>
              <a:t>Salida</a:t>
            </a:r>
            <a:r>
              <a:rPr lang="es-CL" sz="2800">
                <a:solidFill>
                  <a:srgbClr val="197D25"/>
                </a:solidFill>
              </a:rPr>
              <a:t>: el roll terminado</a:t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rgbClr val="21218A"/>
                </a:solidFill>
              </a:rPr>
              <a:t>Algoritmo …características</a:t>
            </a:r>
            <a:endParaRPr/>
          </a:p>
        </p:txBody>
      </p:sp>
      <p:sp>
        <p:nvSpPr>
          <p:cNvPr id="118" name="Google Shape;118;p9"/>
          <p:cNvSpPr txBox="1"/>
          <p:nvPr>
            <p:ph idx="1" type="body"/>
          </p:nvPr>
        </p:nvSpPr>
        <p:spPr>
          <a:xfrm>
            <a:off x="971600" y="1700808"/>
            <a:ext cx="7920880" cy="4869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1" marL="742950" rtl="0" algn="just">
              <a:spcBef>
                <a:spcPts val="0"/>
              </a:spcBef>
              <a:spcAft>
                <a:spcPts val="0"/>
              </a:spcAft>
              <a:buClr>
                <a:srgbClr val="21218A"/>
              </a:buClr>
              <a:buSzPts val="1680"/>
              <a:buChar char="✔"/>
            </a:pPr>
            <a:r>
              <a:rPr lang="es-CL" sz="2400">
                <a:solidFill>
                  <a:srgbClr val="21218A"/>
                </a:solidFill>
              </a:rPr>
              <a:t>Tiene cero o más </a:t>
            </a:r>
            <a:r>
              <a:rPr b="1" i="1" lang="es-CL" sz="2400">
                <a:solidFill>
                  <a:srgbClr val="FF6600"/>
                </a:solidFill>
                <a:latin typeface="Book Antiqua"/>
                <a:ea typeface="Book Antiqua"/>
                <a:cs typeface="Book Antiqua"/>
                <a:sym typeface="Book Antiqua"/>
              </a:rPr>
              <a:t>datos de entrada</a:t>
            </a:r>
            <a:r>
              <a:rPr lang="es-CL" sz="2400">
                <a:solidFill>
                  <a:srgbClr val="21218A"/>
                </a:solidFill>
              </a:rPr>
              <a:t>.</a:t>
            </a:r>
            <a:endParaRPr/>
          </a:p>
          <a:p>
            <a:pPr indent="-285750" lvl="1" marL="742950" rtl="0" algn="just">
              <a:spcBef>
                <a:spcPts val="480"/>
              </a:spcBef>
              <a:spcAft>
                <a:spcPts val="0"/>
              </a:spcAft>
              <a:buClr>
                <a:srgbClr val="21218A"/>
              </a:buClr>
              <a:buSzPts val="1680"/>
              <a:buChar char="✔"/>
            </a:pPr>
            <a:r>
              <a:rPr lang="es-CL" sz="2400">
                <a:solidFill>
                  <a:srgbClr val="21218A"/>
                </a:solidFill>
              </a:rPr>
              <a:t>Entrega uno o más </a:t>
            </a:r>
            <a:r>
              <a:rPr b="1" i="1" lang="es-CL" sz="2400">
                <a:solidFill>
                  <a:srgbClr val="FF6600"/>
                </a:solidFill>
                <a:latin typeface="Book Antiqua"/>
                <a:ea typeface="Book Antiqua"/>
                <a:cs typeface="Book Antiqua"/>
                <a:sym typeface="Book Antiqua"/>
              </a:rPr>
              <a:t>datos de salida</a:t>
            </a:r>
            <a:r>
              <a:rPr i="1" lang="es-CL" sz="2400">
                <a:solidFill>
                  <a:srgbClr val="21218A"/>
                </a:solidFill>
              </a:rPr>
              <a:t> </a:t>
            </a:r>
            <a:r>
              <a:rPr lang="es-CL" sz="2400">
                <a:solidFill>
                  <a:srgbClr val="21218A"/>
                </a:solidFill>
              </a:rPr>
              <a:t>como resultado.</a:t>
            </a:r>
            <a:endParaRPr/>
          </a:p>
          <a:p>
            <a:pPr indent="-285750" lvl="1" marL="742950" rtl="0" algn="just">
              <a:spcBef>
                <a:spcPts val="480"/>
              </a:spcBef>
              <a:spcAft>
                <a:spcPts val="0"/>
              </a:spcAft>
              <a:buClr>
                <a:srgbClr val="21218A"/>
              </a:buClr>
              <a:buSzPts val="1680"/>
              <a:buChar char="✔"/>
            </a:pPr>
            <a:r>
              <a:rPr lang="es-CL" sz="2400">
                <a:solidFill>
                  <a:srgbClr val="21218A"/>
                </a:solidFill>
              </a:rPr>
              <a:t>Sus pasos son </a:t>
            </a:r>
            <a:r>
              <a:rPr b="1" i="1" lang="es-CL" sz="2400">
                <a:solidFill>
                  <a:srgbClr val="FF6600"/>
                </a:solidFill>
                <a:latin typeface="Book Antiqua"/>
                <a:ea typeface="Book Antiqua"/>
                <a:cs typeface="Book Antiqua"/>
                <a:sym typeface="Book Antiqua"/>
              </a:rPr>
              <a:t>definidos con exactitud</a:t>
            </a:r>
            <a:r>
              <a:rPr lang="es-CL" sz="2400">
                <a:solidFill>
                  <a:srgbClr val="21218A"/>
                </a:solidFill>
              </a:rPr>
              <a:t>, sin  ambigüedad.</a:t>
            </a:r>
            <a:endParaRPr/>
          </a:p>
          <a:p>
            <a:pPr indent="-285750" lvl="1" marL="742950" rtl="0" algn="just">
              <a:spcBef>
                <a:spcPts val="480"/>
              </a:spcBef>
              <a:spcAft>
                <a:spcPts val="0"/>
              </a:spcAft>
              <a:buClr>
                <a:srgbClr val="21218A"/>
              </a:buClr>
              <a:buSzPts val="1680"/>
              <a:buChar char="✔"/>
            </a:pPr>
            <a:r>
              <a:rPr lang="es-CL" sz="2400">
                <a:solidFill>
                  <a:srgbClr val="21218A"/>
                </a:solidFill>
              </a:rPr>
              <a:t>Es </a:t>
            </a:r>
            <a:r>
              <a:rPr b="1" i="1" lang="es-CL" sz="2400">
                <a:solidFill>
                  <a:srgbClr val="FF6600"/>
                </a:solidFill>
                <a:latin typeface="Book Antiqua"/>
                <a:ea typeface="Book Antiqua"/>
                <a:cs typeface="Book Antiqua"/>
                <a:sym typeface="Book Antiqua"/>
              </a:rPr>
              <a:t>finito</a:t>
            </a:r>
            <a:r>
              <a:rPr lang="es-CL" sz="2400">
                <a:solidFill>
                  <a:srgbClr val="21218A"/>
                </a:solidFill>
              </a:rPr>
              <a:t>, es decir, finaliza tras la ejecución de un número finito de pasos, cada uno de los cuales es ejecutable en tiempo finito.</a:t>
            </a:r>
            <a:endParaRPr/>
          </a:p>
          <a:p>
            <a:pPr indent="-285750" lvl="1" marL="742950" rtl="0" algn="just">
              <a:spcBef>
                <a:spcPts val="480"/>
              </a:spcBef>
              <a:spcAft>
                <a:spcPts val="0"/>
              </a:spcAft>
              <a:buClr>
                <a:srgbClr val="21218A"/>
              </a:buClr>
              <a:buSzPts val="1680"/>
              <a:buChar char="✔"/>
            </a:pPr>
            <a:r>
              <a:rPr lang="es-CL" sz="2400">
                <a:solidFill>
                  <a:srgbClr val="21218A"/>
                </a:solidFill>
              </a:rPr>
              <a:t>Apunta a la </a:t>
            </a:r>
            <a:r>
              <a:rPr b="1" i="1" lang="es-CL" sz="2400">
                <a:solidFill>
                  <a:srgbClr val="FF6600"/>
                </a:solidFill>
                <a:latin typeface="Book Antiqua"/>
                <a:ea typeface="Book Antiqua"/>
                <a:cs typeface="Book Antiqua"/>
                <a:sym typeface="Book Antiqua"/>
              </a:rPr>
              <a:t>eficiencia</a:t>
            </a:r>
            <a:r>
              <a:rPr lang="es-CL" sz="2400">
                <a:solidFill>
                  <a:srgbClr val="21218A"/>
                </a:solidFill>
              </a:rPr>
              <a:t>, esto es, que alcancen su objetivo lo más rápidamente posible y con el menor consumo de recursos.</a:t>
            </a:r>
            <a:endParaRPr/>
          </a:p>
          <a:p>
            <a:pPr indent="-179069" lvl="1" marL="742950" rtl="0" algn="just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</a:pPr>
            <a:r>
              <a:t/>
            </a:r>
            <a:endParaRPr sz="2400">
              <a:solidFill>
                <a:srgbClr val="21218A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rgbClr val="21218A"/>
                </a:solidFill>
              </a:rPr>
              <a:t>Algoritmos - Definición</a:t>
            </a:r>
            <a:endParaRPr/>
          </a:p>
        </p:txBody>
      </p:sp>
      <p:sp>
        <p:nvSpPr>
          <p:cNvPr id="124" name="Google Shape;124;p10"/>
          <p:cNvSpPr txBox="1"/>
          <p:nvPr>
            <p:ph idx="1" type="body"/>
          </p:nvPr>
        </p:nvSpPr>
        <p:spPr>
          <a:xfrm>
            <a:off x="1403648" y="2060848"/>
            <a:ext cx="7560840" cy="38058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21218A"/>
              </a:buClr>
              <a:buSzPts val="1400"/>
              <a:buChar char="❑"/>
            </a:pPr>
            <a:r>
              <a:rPr lang="es-CL">
                <a:solidFill>
                  <a:srgbClr val="21218A"/>
                </a:solidFill>
              </a:rPr>
              <a:t>Ejemplo: calcular la media de tres números ingresados desde teclado:</a:t>
            </a:r>
            <a:endParaRPr/>
          </a:p>
          <a:p>
            <a:pPr indent="-457200" lvl="1" marL="914400" rtl="0" algn="l">
              <a:spcBef>
                <a:spcPts val="400"/>
              </a:spcBef>
              <a:spcAft>
                <a:spcPts val="0"/>
              </a:spcAft>
              <a:buClr>
                <a:srgbClr val="21218A"/>
              </a:buClr>
              <a:buSzPts val="1400"/>
              <a:buFont typeface="Arial"/>
              <a:buAutoNum type="arabicPeriod"/>
            </a:pPr>
            <a:r>
              <a:rPr lang="es-CL">
                <a:solidFill>
                  <a:srgbClr val="21218A"/>
                </a:solidFill>
              </a:rPr>
              <a:t>Solicitar el valor del primer número.</a:t>
            </a:r>
            <a:endParaRPr/>
          </a:p>
          <a:p>
            <a:pPr indent="-457200" lvl="1" marL="914400" rtl="0" algn="l">
              <a:spcBef>
                <a:spcPts val="400"/>
              </a:spcBef>
              <a:spcAft>
                <a:spcPts val="0"/>
              </a:spcAft>
              <a:buClr>
                <a:srgbClr val="21218A"/>
              </a:buClr>
              <a:buSzPts val="1400"/>
              <a:buFont typeface="Arial"/>
              <a:buAutoNum type="arabicPeriod"/>
            </a:pPr>
            <a:r>
              <a:rPr lang="es-CL">
                <a:solidFill>
                  <a:srgbClr val="21218A"/>
                </a:solidFill>
              </a:rPr>
              <a:t>Solicitar el valor del segundo número.</a:t>
            </a:r>
            <a:endParaRPr/>
          </a:p>
          <a:p>
            <a:pPr indent="-457200" lvl="1" marL="914400" rtl="0" algn="l">
              <a:spcBef>
                <a:spcPts val="400"/>
              </a:spcBef>
              <a:spcAft>
                <a:spcPts val="0"/>
              </a:spcAft>
              <a:buClr>
                <a:srgbClr val="21218A"/>
              </a:buClr>
              <a:buSzPts val="1400"/>
              <a:buFont typeface="Arial"/>
              <a:buAutoNum type="arabicPeriod"/>
            </a:pPr>
            <a:r>
              <a:rPr lang="es-CL">
                <a:solidFill>
                  <a:srgbClr val="21218A"/>
                </a:solidFill>
              </a:rPr>
              <a:t>Solicitar el valor del tercer número.</a:t>
            </a:r>
            <a:endParaRPr/>
          </a:p>
          <a:p>
            <a:pPr indent="-457200" lvl="1" marL="914400" rtl="0" algn="l">
              <a:spcBef>
                <a:spcPts val="400"/>
              </a:spcBef>
              <a:spcAft>
                <a:spcPts val="0"/>
              </a:spcAft>
              <a:buClr>
                <a:srgbClr val="21218A"/>
              </a:buClr>
              <a:buSzPts val="1400"/>
              <a:buFont typeface="Arial"/>
              <a:buAutoNum type="arabicPeriod"/>
            </a:pPr>
            <a:r>
              <a:rPr lang="es-CL">
                <a:solidFill>
                  <a:srgbClr val="21218A"/>
                </a:solidFill>
              </a:rPr>
              <a:t>Sumar los tres números y dividir el resultado por tres.</a:t>
            </a:r>
            <a:endParaRPr/>
          </a:p>
          <a:p>
            <a:pPr indent="-457200" lvl="1" marL="914400" rtl="0" algn="l">
              <a:spcBef>
                <a:spcPts val="400"/>
              </a:spcBef>
              <a:spcAft>
                <a:spcPts val="0"/>
              </a:spcAft>
              <a:buClr>
                <a:srgbClr val="21218A"/>
              </a:buClr>
              <a:buSzPts val="1400"/>
              <a:buFont typeface="Arial"/>
              <a:buAutoNum type="arabicPeriod"/>
            </a:pPr>
            <a:r>
              <a:rPr lang="es-CL">
                <a:solidFill>
                  <a:srgbClr val="21218A"/>
                </a:solidFill>
              </a:rPr>
              <a:t>Mostrar el resultado.</a:t>
            </a:r>
            <a:endParaRPr/>
          </a:p>
          <a:p>
            <a:pPr indent="-2540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/>
          </a:p>
          <a:p>
            <a:pPr indent="-2540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1"/>
          <p:cNvSpPr txBox="1"/>
          <p:nvPr>
            <p:ph type="title"/>
          </p:nvPr>
        </p:nvSpPr>
        <p:spPr>
          <a:xfrm>
            <a:off x="1763688" y="1628800"/>
            <a:ext cx="7056784" cy="17281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000">
                <a:solidFill>
                  <a:srgbClr val="21218A"/>
                </a:solidFill>
              </a:rPr>
              <a:t>Técnicas de representación de Algoritmos</a:t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2"/>
          <p:cNvSpPr txBox="1"/>
          <p:nvPr>
            <p:ph idx="1" type="body"/>
          </p:nvPr>
        </p:nvSpPr>
        <p:spPr>
          <a:xfrm>
            <a:off x="1691680" y="1052736"/>
            <a:ext cx="6696744" cy="532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1400"/>
              <a:buChar char="❑"/>
            </a:pPr>
            <a:r>
              <a:rPr lang="es-CL" sz="2800">
                <a:solidFill>
                  <a:srgbClr val="00B050"/>
                </a:solidFill>
              </a:rPr>
              <a:t>Pseudo-código</a:t>
            </a:r>
            <a:endParaRPr sz="3200">
              <a:solidFill>
                <a:srgbClr val="00B050"/>
              </a:solidFill>
            </a:endParaRPr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rgbClr val="21218A"/>
              </a:buClr>
              <a:buSzPts val="1400"/>
              <a:buChar char="✔"/>
            </a:pPr>
            <a:r>
              <a:rPr lang="es-CL" sz="2000">
                <a:solidFill>
                  <a:srgbClr val="21218A"/>
                </a:solidFill>
              </a:rPr>
              <a:t>Lenguaje de especificación de algoritmos.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rgbClr val="21218A"/>
              </a:buClr>
              <a:buSzPts val="1400"/>
              <a:buChar char="✔"/>
            </a:pPr>
            <a:r>
              <a:rPr lang="es-CL" sz="2000">
                <a:solidFill>
                  <a:srgbClr val="21218A"/>
                </a:solidFill>
              </a:rPr>
              <a:t>Representación narrativa de los pasos que debe seguir un algoritmo para dar solución a un problema determinado. 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rgbClr val="21218A"/>
              </a:buClr>
              <a:buSzPts val="1400"/>
              <a:buChar char="✔"/>
            </a:pPr>
            <a:r>
              <a:rPr lang="es-CL" sz="2000">
                <a:solidFill>
                  <a:srgbClr val="21218A"/>
                </a:solidFill>
              </a:rPr>
              <a:t>Utiliza palabras que indican el proceso a realizar.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None/>
            </a:pPr>
            <a:r>
              <a:t/>
            </a:r>
            <a:endParaRPr sz="2400"/>
          </a:p>
        </p:txBody>
      </p:sp>
      <p:sp>
        <p:nvSpPr>
          <p:cNvPr id="136" name="Google Shape;136;p12"/>
          <p:cNvSpPr/>
          <p:nvPr/>
        </p:nvSpPr>
        <p:spPr>
          <a:xfrm>
            <a:off x="2555776" y="3573016"/>
            <a:ext cx="4572000" cy="2554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8A"/>
              </a:buClr>
              <a:buSzPts val="1600"/>
              <a:buFont typeface="Arial"/>
              <a:buNone/>
            </a:pPr>
            <a:r>
              <a:rPr b="1" lang="es-CL" sz="1600">
                <a:solidFill>
                  <a:srgbClr val="21218A"/>
                </a:solidFill>
                <a:latin typeface="Arial"/>
                <a:ea typeface="Arial"/>
                <a:cs typeface="Arial"/>
                <a:sym typeface="Arial"/>
              </a:rPr>
              <a:t>Inicio</a:t>
            </a:r>
            <a:endParaRPr/>
          </a:p>
          <a:p>
            <a:pPr indent="-381000" lvl="0" marL="438150" marR="0" rtl="0" algn="l">
              <a:spcBef>
                <a:spcPts val="800"/>
              </a:spcBef>
              <a:spcAft>
                <a:spcPts val="0"/>
              </a:spcAft>
              <a:buClr>
                <a:srgbClr val="21218A"/>
              </a:buClr>
              <a:buSzPts val="1600"/>
              <a:buFont typeface="Arial"/>
              <a:buNone/>
            </a:pPr>
            <a:r>
              <a:rPr b="1" lang="es-CL" sz="1600">
                <a:solidFill>
                  <a:srgbClr val="21218A"/>
                </a:solidFill>
                <a:latin typeface="Arial"/>
                <a:ea typeface="Arial"/>
                <a:cs typeface="Arial"/>
                <a:sym typeface="Arial"/>
              </a:rPr>
              <a:t>  X🡨2</a:t>
            </a:r>
            <a:endParaRPr b="1" sz="1600">
              <a:solidFill>
                <a:srgbClr val="21218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38150" marR="0" rtl="0" algn="l">
              <a:spcBef>
                <a:spcPts val="800"/>
              </a:spcBef>
              <a:spcAft>
                <a:spcPts val="0"/>
              </a:spcAft>
              <a:buClr>
                <a:srgbClr val="21218A"/>
              </a:buClr>
              <a:buSzPts val="1600"/>
              <a:buFont typeface="Arial"/>
              <a:buNone/>
            </a:pPr>
            <a:r>
              <a:rPr b="1" lang="es-CL" sz="1600">
                <a:solidFill>
                  <a:srgbClr val="21218A"/>
                </a:solidFill>
                <a:latin typeface="Arial"/>
                <a:ea typeface="Arial"/>
                <a:cs typeface="Arial"/>
                <a:sym typeface="Arial"/>
              </a:rPr>
              <a:t>   Escribe</a:t>
            </a:r>
            <a:r>
              <a:rPr b="1" lang="es-CL" sz="1600">
                <a:solidFill>
                  <a:srgbClr val="CC9900"/>
                </a:solidFill>
                <a:latin typeface="Arial"/>
                <a:ea typeface="Arial"/>
                <a:cs typeface="Arial"/>
                <a:sym typeface="Arial"/>
              </a:rPr>
              <a:t> (“Ingrese valor de  Y:”)</a:t>
            </a:r>
            <a:endParaRPr b="1" sz="1600">
              <a:solidFill>
                <a:srgbClr val="CC99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38150" marR="0" rtl="0" algn="l">
              <a:spcBef>
                <a:spcPts val="800"/>
              </a:spcBef>
              <a:spcAft>
                <a:spcPts val="0"/>
              </a:spcAft>
              <a:buClr>
                <a:srgbClr val="21218A"/>
              </a:buClr>
              <a:buSzPts val="1600"/>
              <a:buFont typeface="Arial"/>
              <a:buNone/>
            </a:pPr>
            <a:r>
              <a:rPr b="1" lang="es-CL" sz="1600">
                <a:solidFill>
                  <a:srgbClr val="21218A"/>
                </a:solidFill>
                <a:latin typeface="Arial"/>
                <a:ea typeface="Arial"/>
                <a:cs typeface="Arial"/>
                <a:sym typeface="Arial"/>
              </a:rPr>
              <a:t>   Lee (Y)</a:t>
            </a:r>
            <a:endParaRPr b="1" sz="1600">
              <a:solidFill>
                <a:srgbClr val="21218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38150" marR="0" rtl="0" algn="l">
              <a:spcBef>
                <a:spcPts val="800"/>
              </a:spcBef>
              <a:spcAft>
                <a:spcPts val="0"/>
              </a:spcAft>
              <a:buClr>
                <a:srgbClr val="C00000"/>
              </a:buClr>
              <a:buSzPts val="1600"/>
              <a:buFont typeface="Arial"/>
              <a:buNone/>
            </a:pPr>
            <a:r>
              <a:rPr b="1" lang="es-CL" sz="16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   Z </a:t>
            </a:r>
            <a:r>
              <a:rPr b="1" lang="es-CL" sz="1600">
                <a:solidFill>
                  <a:srgbClr val="CC9900"/>
                </a:solidFill>
                <a:latin typeface="Arial"/>
                <a:ea typeface="Arial"/>
                <a:cs typeface="Arial"/>
                <a:sym typeface="Arial"/>
              </a:rPr>
              <a:t>🡨</a:t>
            </a:r>
            <a:r>
              <a:rPr b="1" lang="es-CL" sz="16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s-CL" sz="1600">
                <a:solidFill>
                  <a:srgbClr val="CC9900"/>
                </a:solidFill>
                <a:latin typeface="Arial"/>
                <a:ea typeface="Arial"/>
                <a:cs typeface="Arial"/>
                <a:sym typeface="Arial"/>
              </a:rPr>
              <a:t>X + Y</a:t>
            </a:r>
            <a:endParaRPr b="1" sz="1600">
              <a:solidFill>
                <a:srgbClr val="21218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38150" marR="0" rtl="0" algn="l">
              <a:spcBef>
                <a:spcPts val="800"/>
              </a:spcBef>
              <a:spcAft>
                <a:spcPts val="0"/>
              </a:spcAft>
              <a:buClr>
                <a:srgbClr val="21218A"/>
              </a:buClr>
              <a:buSzPts val="1600"/>
              <a:buFont typeface="Arial"/>
              <a:buNone/>
            </a:pPr>
            <a:r>
              <a:rPr b="1" lang="es-CL" sz="1600">
                <a:solidFill>
                  <a:srgbClr val="21218A"/>
                </a:solidFill>
                <a:latin typeface="Arial"/>
                <a:ea typeface="Arial"/>
                <a:cs typeface="Arial"/>
                <a:sym typeface="Arial"/>
              </a:rPr>
              <a:t>   Escribe(</a:t>
            </a:r>
            <a:r>
              <a:rPr b="1" lang="es-CL" sz="1600">
                <a:solidFill>
                  <a:srgbClr val="CC9900"/>
                </a:solidFill>
                <a:latin typeface="Arial"/>
                <a:ea typeface="Arial"/>
                <a:cs typeface="Arial"/>
                <a:sym typeface="Arial"/>
              </a:rPr>
              <a:t>“El resultado es: “, </a:t>
            </a:r>
            <a:r>
              <a:rPr b="1" lang="es-CL" sz="1600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rPr>
              <a:t>Z</a:t>
            </a:r>
            <a:r>
              <a:rPr b="1" lang="es-CL" sz="1600">
                <a:solidFill>
                  <a:srgbClr val="21218A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1" sz="1600">
              <a:solidFill>
                <a:srgbClr val="21218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38150" marR="0" rtl="0" algn="l">
              <a:spcBef>
                <a:spcPts val="800"/>
              </a:spcBef>
              <a:spcAft>
                <a:spcPts val="0"/>
              </a:spcAft>
              <a:buClr>
                <a:srgbClr val="21218A"/>
              </a:buClr>
              <a:buSzPts val="1600"/>
              <a:buFont typeface="Arial"/>
              <a:buNone/>
            </a:pPr>
            <a:r>
              <a:rPr b="1" lang="es-CL" sz="1600">
                <a:solidFill>
                  <a:srgbClr val="21218A"/>
                </a:solidFill>
                <a:latin typeface="Arial"/>
                <a:ea typeface="Arial"/>
                <a:cs typeface="Arial"/>
                <a:sym typeface="Arial"/>
              </a:rPr>
              <a:t>Fin</a:t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3"/>
          <p:cNvSpPr txBox="1"/>
          <p:nvPr>
            <p:ph idx="1" type="body"/>
          </p:nvPr>
        </p:nvSpPr>
        <p:spPr>
          <a:xfrm>
            <a:off x="1619672" y="697558"/>
            <a:ext cx="5904656" cy="23714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1200"/>
              <a:buChar char="❑"/>
            </a:pPr>
            <a:r>
              <a:rPr lang="es-CL" sz="2400">
                <a:solidFill>
                  <a:srgbClr val="00B050"/>
                </a:solidFill>
              </a:rPr>
              <a:t>Diagrama de Flujo 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rgbClr val="21218A"/>
              </a:buClr>
              <a:buSzPts val="1400"/>
              <a:buChar char="✔"/>
            </a:pPr>
            <a:r>
              <a:rPr lang="es-CL" sz="2000">
                <a:solidFill>
                  <a:srgbClr val="21218A"/>
                </a:solidFill>
              </a:rPr>
              <a:t>Representación gráfica de un algoritmo.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rgbClr val="21218A"/>
              </a:buClr>
              <a:buSzPts val="1400"/>
              <a:buChar char="✔"/>
            </a:pPr>
            <a:r>
              <a:rPr lang="es-CL" sz="2000">
                <a:solidFill>
                  <a:srgbClr val="21218A"/>
                </a:solidFill>
              </a:rPr>
              <a:t>Varios símbolos (procesos en el computador) se relacionan entre sí mediante líneas que indican el orden en que se deben ejecutar los procesos. 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None/>
            </a:pPr>
            <a:r>
              <a:t/>
            </a:r>
            <a:endParaRPr sz="2400"/>
          </a:p>
        </p:txBody>
      </p:sp>
      <p:pic>
        <p:nvPicPr>
          <p:cNvPr id="143" name="Google Shape;14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0" y="3068960"/>
            <a:ext cx="4467225" cy="3676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4"/>
          <p:cNvSpPr txBox="1"/>
          <p:nvPr>
            <p:ph idx="1" type="body"/>
          </p:nvPr>
        </p:nvSpPr>
        <p:spPr>
          <a:xfrm>
            <a:off x="1403648" y="1052736"/>
            <a:ext cx="4701207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1200"/>
              <a:buChar char="❑"/>
            </a:pPr>
            <a:r>
              <a:rPr lang="es-CL" sz="2400">
                <a:solidFill>
                  <a:srgbClr val="00B050"/>
                </a:solidFill>
              </a:rPr>
              <a:t>Diagramas de Nassi-Schneiderman ó Estructurados</a:t>
            </a:r>
            <a:endParaRPr sz="2400">
              <a:solidFill>
                <a:srgbClr val="00B050"/>
              </a:solidFill>
            </a:endParaRPr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rgbClr val="21218A"/>
              </a:buClr>
              <a:buSzPts val="1400"/>
              <a:buChar char="✔"/>
            </a:pPr>
            <a:r>
              <a:rPr lang="es-CL" sz="2000">
                <a:solidFill>
                  <a:srgbClr val="21218A"/>
                </a:solidFill>
              </a:rPr>
              <a:t>Se leen de arriba hacia abajo, igual que un programa estructurado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rgbClr val="21218A"/>
              </a:buClr>
              <a:buSzPts val="1400"/>
              <a:buChar char="✔"/>
            </a:pPr>
            <a:r>
              <a:rPr lang="es-CL" sz="2000">
                <a:solidFill>
                  <a:srgbClr val="21218A"/>
                </a:solidFill>
              </a:rPr>
              <a:t>Favorecen la partición de un programa en módulos pequeños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rgbClr val="21218A"/>
              </a:buClr>
              <a:buSzPts val="1400"/>
              <a:buChar char="✔"/>
            </a:pPr>
            <a:r>
              <a:rPr lang="es-CL" sz="2000">
                <a:solidFill>
                  <a:srgbClr val="21218A"/>
                </a:solidFill>
              </a:rPr>
              <a:t>El ámbito de cada bloque o estructura está perfectamente definido</a:t>
            </a:r>
            <a:endParaRPr/>
          </a:p>
          <a:p>
            <a:pPr indent="0" lvl="1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</a:pPr>
            <a:r>
              <a:t/>
            </a:r>
            <a:endParaRPr sz="2400"/>
          </a:p>
          <a:p>
            <a:pPr indent="-2667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2400"/>
          </a:p>
        </p:txBody>
      </p:sp>
      <p:graphicFrame>
        <p:nvGraphicFramePr>
          <p:cNvPr id="149" name="Google Shape;149;p14"/>
          <p:cNvGraphicFramePr/>
          <p:nvPr/>
        </p:nvGraphicFramePr>
        <p:xfrm>
          <a:off x="6012160" y="1597005"/>
          <a:ext cx="2881312" cy="3830638"/>
        </p:xfrm>
        <a:graphic>
          <a:graphicData uri="http://schemas.openxmlformats.org/presentationml/2006/ole">
            <mc:AlternateContent>
              <mc:Choice Requires="v">
                <p:oleObj r:id="rId4" imgH="3830638" imgW="2881312" progId="Paint.Picture" spid="_x0000_s1">
                  <p:embed/>
                </p:oleObj>
              </mc:Choice>
              <mc:Fallback>
                <p:oleObj r:id="rId5" imgH="3830638" imgW="2881312" progId="Paint.Picture">
                  <p:embed/>
                  <p:pic>
                    <p:nvPicPr>
                      <p:cNvPr id="149" name="Google Shape;149;p14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6012160" y="1597005"/>
                        <a:ext cx="2881312" cy="3830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5"/>
          <p:cNvSpPr txBox="1"/>
          <p:nvPr>
            <p:ph type="title"/>
          </p:nvPr>
        </p:nvSpPr>
        <p:spPr>
          <a:xfrm>
            <a:off x="950913" y="260648"/>
            <a:ext cx="7210425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rgbClr val="21218A"/>
                </a:solidFill>
              </a:rPr>
              <a:t>Técnicas de representación de Algoritmos</a:t>
            </a:r>
            <a:endParaRPr>
              <a:solidFill>
                <a:srgbClr val="21218A"/>
              </a:solidFill>
            </a:endParaRPr>
          </a:p>
        </p:txBody>
      </p:sp>
      <p:sp>
        <p:nvSpPr>
          <p:cNvPr id="155" name="Google Shape;155;p15"/>
          <p:cNvSpPr txBox="1"/>
          <p:nvPr>
            <p:ph idx="1" type="body"/>
          </p:nvPr>
        </p:nvSpPr>
        <p:spPr>
          <a:xfrm>
            <a:off x="1763688" y="1484784"/>
            <a:ext cx="5997351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1200"/>
              <a:buChar char="❑"/>
            </a:pPr>
            <a:r>
              <a:rPr lang="es-CL" sz="2400">
                <a:solidFill>
                  <a:srgbClr val="00B050"/>
                </a:solidFill>
              </a:rPr>
              <a:t>Programa: 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rgbClr val="21218A"/>
              </a:buClr>
              <a:buSzPts val="1400"/>
              <a:buChar char="✔"/>
            </a:pPr>
            <a:r>
              <a:rPr lang="es-CL" sz="2000">
                <a:solidFill>
                  <a:srgbClr val="21218A"/>
                </a:solidFill>
              </a:rPr>
              <a:t>Algoritmo escrito en un lenguaje de programación</a:t>
            </a:r>
            <a:r>
              <a:rPr lang="es-CL" sz="2400">
                <a:solidFill>
                  <a:srgbClr val="21218A"/>
                </a:solidFill>
              </a:rPr>
              <a:t>.</a:t>
            </a:r>
            <a:endParaRPr/>
          </a:p>
          <a:p>
            <a:pPr indent="-179069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</a:pPr>
            <a:r>
              <a:t/>
            </a:r>
            <a:endParaRPr sz="2400"/>
          </a:p>
          <a:p>
            <a:pPr indent="-2667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2400"/>
          </a:p>
        </p:txBody>
      </p:sp>
      <p:pic>
        <p:nvPicPr>
          <p:cNvPr id="156" name="Google Shape;15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14475" y="2924944"/>
            <a:ext cx="4797533" cy="37444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6"/>
          <p:cNvSpPr txBox="1"/>
          <p:nvPr>
            <p:ph type="title"/>
          </p:nvPr>
        </p:nvSpPr>
        <p:spPr>
          <a:xfrm>
            <a:off x="1403648" y="274638"/>
            <a:ext cx="7283152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rgbClr val="21218A"/>
                </a:solidFill>
              </a:rPr>
              <a:t>Simbología para diagramas de flujo</a:t>
            </a:r>
            <a:endParaRPr/>
          </a:p>
        </p:txBody>
      </p:sp>
      <p:pic>
        <p:nvPicPr>
          <p:cNvPr id="162" name="Google Shape;16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07704" y="1417638"/>
            <a:ext cx="6480720" cy="50173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7"/>
          <p:cNvSpPr txBox="1"/>
          <p:nvPr>
            <p:ph idx="1" type="body"/>
          </p:nvPr>
        </p:nvSpPr>
        <p:spPr>
          <a:xfrm>
            <a:off x="1907704" y="836712"/>
            <a:ext cx="6984776" cy="10786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33400" lvl="0" marL="533400" rtl="0" algn="l"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1400"/>
              <a:buNone/>
            </a:pPr>
            <a:r>
              <a:rPr lang="es-CL">
                <a:solidFill>
                  <a:srgbClr val="FF6600"/>
                </a:solidFill>
              </a:rPr>
              <a:t>Ejemplo:</a:t>
            </a:r>
            <a:endParaRPr/>
          </a:p>
          <a:p>
            <a:pPr indent="-381000" lvl="1" marL="838200" rtl="0" algn="l">
              <a:spcBef>
                <a:spcPts val="480"/>
              </a:spcBef>
              <a:spcAft>
                <a:spcPts val="0"/>
              </a:spcAft>
              <a:buClr>
                <a:srgbClr val="21218A"/>
              </a:buClr>
              <a:buSzPts val="1680"/>
              <a:buFont typeface="Arial"/>
              <a:buNone/>
            </a:pPr>
            <a:r>
              <a:rPr b="1" lang="es-CL" sz="2400">
                <a:solidFill>
                  <a:srgbClr val="21218A"/>
                </a:solidFill>
              </a:rPr>
              <a:t>Calcular el sucesor del número 5.</a:t>
            </a:r>
            <a:endParaRPr b="1" sz="2400">
              <a:solidFill>
                <a:srgbClr val="21218A"/>
              </a:solidFill>
            </a:endParaRPr>
          </a:p>
          <a:p>
            <a:pPr indent="-2540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/>
          </a:p>
          <a:p>
            <a:pPr indent="-2540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/>
          </a:p>
        </p:txBody>
      </p:sp>
      <p:grpSp>
        <p:nvGrpSpPr>
          <p:cNvPr id="168" name="Google Shape;168;p17"/>
          <p:cNvGrpSpPr/>
          <p:nvPr/>
        </p:nvGrpSpPr>
        <p:grpSpPr>
          <a:xfrm>
            <a:off x="4463988" y="2412869"/>
            <a:ext cx="1224136" cy="3559880"/>
            <a:chOff x="4463988" y="2412869"/>
            <a:chExt cx="1224136" cy="3559880"/>
          </a:xfrm>
        </p:grpSpPr>
        <p:cxnSp>
          <p:nvCxnSpPr>
            <p:cNvPr id="169" name="Google Shape;169;p17"/>
            <p:cNvCxnSpPr/>
            <p:nvPr/>
          </p:nvCxnSpPr>
          <p:spPr>
            <a:xfrm>
              <a:off x="5328084" y="4869160"/>
              <a:ext cx="360040" cy="0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  <a:effectLst>
              <a:outerShdw blurRad="40000" rotWithShape="0" dir="5400000" dist="20000">
                <a:srgbClr val="000000">
                  <a:alpha val="37647"/>
                </a:srgbClr>
              </a:outerShdw>
            </a:effectLst>
          </p:spPr>
        </p:cxnSp>
        <p:grpSp>
          <p:nvGrpSpPr>
            <p:cNvPr id="170" name="Google Shape;170;p17"/>
            <p:cNvGrpSpPr/>
            <p:nvPr/>
          </p:nvGrpSpPr>
          <p:grpSpPr>
            <a:xfrm>
              <a:off x="4463988" y="2412869"/>
              <a:ext cx="1224136" cy="3559880"/>
              <a:chOff x="3563888" y="2736905"/>
              <a:chExt cx="1224136" cy="3559880"/>
            </a:xfrm>
          </p:grpSpPr>
          <p:sp>
            <p:nvSpPr>
              <p:cNvPr id="171" name="Google Shape;171;p17"/>
              <p:cNvSpPr/>
              <p:nvPr/>
            </p:nvSpPr>
            <p:spPr>
              <a:xfrm>
                <a:off x="3563888" y="2736905"/>
                <a:ext cx="1224136" cy="476071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Arial"/>
                  <a:buNone/>
                </a:pPr>
                <a:r>
                  <a:rPr b="1" i="0" lang="es-CL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INICIO</a:t>
                </a:r>
                <a:endParaRPr/>
              </a:p>
            </p:txBody>
          </p:sp>
          <p:sp>
            <p:nvSpPr>
              <p:cNvPr id="172" name="Google Shape;172;p17"/>
              <p:cNvSpPr/>
              <p:nvPr/>
            </p:nvSpPr>
            <p:spPr>
              <a:xfrm>
                <a:off x="3635896" y="3645024"/>
                <a:ext cx="1080120" cy="338554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Arial"/>
                  <a:buNone/>
                </a:pPr>
                <a:r>
                  <a:rPr b="0" i="0" lang="es-CL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N=5</a:t>
                </a:r>
                <a:endParaRPr b="0" i="0" sz="2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3" name="Google Shape;173;p17"/>
              <p:cNvSpPr/>
              <p:nvPr/>
            </p:nvSpPr>
            <p:spPr>
              <a:xfrm>
                <a:off x="3635896" y="4365104"/>
                <a:ext cx="1080120" cy="338554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Arial"/>
                  <a:buNone/>
                </a:pPr>
                <a:r>
                  <a:rPr b="0" i="0" lang="es-CL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S=N+1</a:t>
                </a:r>
                <a:endParaRPr/>
              </a:p>
            </p:txBody>
          </p:sp>
          <p:sp>
            <p:nvSpPr>
              <p:cNvPr id="174" name="Google Shape;174;p17"/>
              <p:cNvSpPr/>
              <p:nvPr/>
            </p:nvSpPr>
            <p:spPr>
              <a:xfrm>
                <a:off x="3635896" y="5085184"/>
                <a:ext cx="1080120" cy="338554"/>
              </a:xfrm>
              <a:prstGeom prst="flowChartInputOutpu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Arial"/>
                  <a:buNone/>
                </a:pPr>
                <a:r>
                  <a:rPr b="0" i="0" lang="es-CL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S</a:t>
                </a:r>
                <a:endParaRPr/>
              </a:p>
            </p:txBody>
          </p:sp>
          <p:sp>
            <p:nvSpPr>
              <p:cNvPr id="175" name="Google Shape;175;p17"/>
              <p:cNvSpPr/>
              <p:nvPr/>
            </p:nvSpPr>
            <p:spPr>
              <a:xfrm>
                <a:off x="3563888" y="5820714"/>
                <a:ext cx="1224136" cy="476071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Arial"/>
                  <a:buNone/>
                </a:pPr>
                <a:r>
                  <a:rPr b="1" i="0" lang="es-CL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FIN</a:t>
                </a:r>
                <a:endParaRPr/>
              </a:p>
            </p:txBody>
          </p:sp>
          <p:cxnSp>
            <p:nvCxnSpPr>
              <p:cNvPr id="176" name="Google Shape;176;p17"/>
              <p:cNvCxnSpPr>
                <a:stCxn id="171" idx="4"/>
                <a:endCxn id="172" idx="0"/>
              </p:cNvCxnSpPr>
              <p:nvPr/>
            </p:nvCxnSpPr>
            <p:spPr>
              <a:xfrm>
                <a:off x="4175956" y="3212976"/>
                <a:ext cx="0" cy="43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stealth"/>
              </a:ln>
            </p:spPr>
          </p:cxnSp>
          <p:cxnSp>
            <p:nvCxnSpPr>
              <p:cNvPr id="177" name="Google Shape;177;p17"/>
              <p:cNvCxnSpPr>
                <a:stCxn id="172" idx="2"/>
                <a:endCxn id="173" idx="0"/>
              </p:cNvCxnSpPr>
              <p:nvPr/>
            </p:nvCxnSpPr>
            <p:spPr>
              <a:xfrm>
                <a:off x="4175956" y="3983578"/>
                <a:ext cx="0" cy="381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stealth"/>
              </a:ln>
            </p:spPr>
          </p:cxnSp>
          <p:cxnSp>
            <p:nvCxnSpPr>
              <p:cNvPr id="178" name="Google Shape;178;p17"/>
              <p:cNvCxnSpPr>
                <a:stCxn id="173" idx="2"/>
                <a:endCxn id="174" idx="1"/>
              </p:cNvCxnSpPr>
              <p:nvPr/>
            </p:nvCxnSpPr>
            <p:spPr>
              <a:xfrm>
                <a:off x="4175956" y="4703658"/>
                <a:ext cx="0" cy="381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stealth"/>
              </a:ln>
            </p:spPr>
          </p:cxnSp>
          <p:cxnSp>
            <p:nvCxnSpPr>
              <p:cNvPr id="179" name="Google Shape;179;p17"/>
              <p:cNvCxnSpPr>
                <a:stCxn id="174" idx="4"/>
                <a:endCxn id="175" idx="0"/>
              </p:cNvCxnSpPr>
              <p:nvPr/>
            </p:nvCxnSpPr>
            <p:spPr>
              <a:xfrm>
                <a:off x="4175956" y="5423738"/>
                <a:ext cx="0" cy="396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stealth"/>
              </a:ln>
            </p:spPr>
          </p:cxnSp>
        </p:grpSp>
      </p:grp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8"/>
          <p:cNvSpPr txBox="1"/>
          <p:nvPr>
            <p:ph type="title"/>
          </p:nvPr>
        </p:nvSpPr>
        <p:spPr>
          <a:xfrm>
            <a:off x="1547813" y="274638"/>
            <a:ext cx="7138987" cy="9221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200">
                <a:solidFill>
                  <a:srgbClr val="21218A"/>
                </a:solidFill>
              </a:rPr>
              <a:t>Constantes y variables</a:t>
            </a:r>
            <a:endParaRPr sz="3200">
              <a:solidFill>
                <a:srgbClr val="21218A"/>
              </a:solidFill>
            </a:endParaRPr>
          </a:p>
        </p:txBody>
      </p:sp>
      <p:sp>
        <p:nvSpPr>
          <p:cNvPr id="186" name="Google Shape;186;p18"/>
          <p:cNvSpPr txBox="1"/>
          <p:nvPr>
            <p:ph idx="1" type="body"/>
          </p:nvPr>
        </p:nvSpPr>
        <p:spPr>
          <a:xfrm>
            <a:off x="1403648" y="1124745"/>
            <a:ext cx="7488832" cy="20859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33400" lvl="0" marL="533400" rtl="0" algn="just">
              <a:spcBef>
                <a:spcPts val="0"/>
              </a:spcBef>
              <a:spcAft>
                <a:spcPts val="0"/>
              </a:spcAft>
              <a:buClr>
                <a:srgbClr val="21218A"/>
              </a:buClr>
              <a:buSzPts val="1400"/>
              <a:buChar char="❑"/>
            </a:pPr>
            <a:r>
              <a:rPr lang="es-CL">
                <a:solidFill>
                  <a:srgbClr val="21218A"/>
                </a:solidFill>
              </a:rPr>
              <a:t>Constantes: </a:t>
            </a:r>
            <a:r>
              <a:rPr lang="es-CL" sz="2000"/>
              <a:t>espacio de memoria reservado donde se puede almacenar un dato, representado y usado a través de una etiqueta (un nombre). Este dato </a:t>
            </a:r>
            <a:r>
              <a:rPr b="1" i="1" lang="es-CL" sz="2000">
                <a:solidFill>
                  <a:srgbClr val="FF6600"/>
                </a:solidFill>
              </a:rPr>
              <a:t>no cambia </a:t>
            </a:r>
            <a:r>
              <a:rPr lang="es-CL" sz="2000"/>
              <a:t>durante la ejecución del programa.</a:t>
            </a:r>
            <a:endParaRPr/>
          </a:p>
          <a:p>
            <a:pPr indent="0" lvl="0" marL="0" rtl="0" algn="just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r>
              <a:rPr lang="es-CL" sz="2000">
                <a:solidFill>
                  <a:srgbClr val="000000"/>
                </a:solidFill>
              </a:rPr>
              <a:t>En el ejemplo anterior N es una constante. Su valor no cambia durante la ejecución del programa. </a:t>
            </a:r>
            <a:endParaRPr/>
          </a:p>
          <a:p>
            <a:pPr indent="-469900" lvl="0" marL="5334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t/>
            </a:r>
            <a:endParaRPr sz="2000"/>
          </a:p>
        </p:txBody>
      </p:sp>
      <p:grpSp>
        <p:nvGrpSpPr>
          <p:cNvPr id="187" name="Google Shape;187;p18"/>
          <p:cNvGrpSpPr/>
          <p:nvPr/>
        </p:nvGrpSpPr>
        <p:grpSpPr>
          <a:xfrm>
            <a:off x="6785698" y="3210651"/>
            <a:ext cx="1242686" cy="2729594"/>
            <a:chOff x="3563888" y="3511751"/>
            <a:chExt cx="1242686" cy="2729594"/>
          </a:xfrm>
        </p:grpSpPr>
        <p:sp>
          <p:nvSpPr>
            <p:cNvPr id="188" name="Google Shape;188;p18"/>
            <p:cNvSpPr/>
            <p:nvPr/>
          </p:nvSpPr>
          <p:spPr>
            <a:xfrm>
              <a:off x="3563888" y="3511751"/>
              <a:ext cx="1224136" cy="476071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1" i="0" lang="es-CL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INICIO</a:t>
              </a:r>
              <a:endParaRPr/>
            </a:p>
          </p:txBody>
        </p:sp>
        <p:sp>
          <p:nvSpPr>
            <p:cNvPr id="189" name="Google Shape;189;p18"/>
            <p:cNvSpPr/>
            <p:nvPr/>
          </p:nvSpPr>
          <p:spPr>
            <a:xfrm>
              <a:off x="3635896" y="4365104"/>
              <a:ext cx="1080120" cy="338554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s-CL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S=5+1</a:t>
              </a:r>
              <a:endParaRPr/>
            </a:p>
          </p:txBody>
        </p:sp>
        <p:sp>
          <p:nvSpPr>
            <p:cNvPr id="190" name="Google Shape;190;p18"/>
            <p:cNvSpPr/>
            <p:nvPr/>
          </p:nvSpPr>
          <p:spPr>
            <a:xfrm>
              <a:off x="3582438" y="5765274"/>
              <a:ext cx="1224136" cy="476071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1" i="0" lang="es-CL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FIN</a:t>
              </a:r>
              <a:endParaRPr/>
            </a:p>
          </p:txBody>
        </p:sp>
        <p:cxnSp>
          <p:nvCxnSpPr>
            <p:cNvPr id="191" name="Google Shape;191;p18"/>
            <p:cNvCxnSpPr>
              <a:endCxn id="189" idx="0"/>
            </p:cNvCxnSpPr>
            <p:nvPr/>
          </p:nvCxnSpPr>
          <p:spPr>
            <a:xfrm>
              <a:off x="4175956" y="3983504"/>
              <a:ext cx="0" cy="3816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192" name="Google Shape;192;p18"/>
            <p:cNvCxnSpPr>
              <a:stCxn id="189" idx="2"/>
            </p:cNvCxnSpPr>
            <p:nvPr/>
          </p:nvCxnSpPr>
          <p:spPr>
            <a:xfrm>
              <a:off x="4175956" y="4703658"/>
              <a:ext cx="0" cy="3816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193" name="Google Shape;193;p18"/>
            <p:cNvCxnSpPr/>
            <p:nvPr/>
          </p:nvCxnSpPr>
          <p:spPr>
            <a:xfrm>
              <a:off x="4175956" y="5422287"/>
              <a:ext cx="0" cy="37223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</p:cxnSp>
      </p:grpSp>
      <p:sp>
        <p:nvSpPr>
          <p:cNvPr id="194" name="Google Shape;194;p18"/>
          <p:cNvSpPr/>
          <p:nvPr/>
        </p:nvSpPr>
        <p:spPr>
          <a:xfrm>
            <a:off x="3811782" y="3634120"/>
            <a:ext cx="3352506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-CL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Otra solución podría ser:</a:t>
            </a:r>
            <a:endParaRPr/>
          </a:p>
        </p:txBody>
      </p:sp>
      <p:sp>
        <p:nvSpPr>
          <p:cNvPr id="195" name="Google Shape;195;p18"/>
          <p:cNvSpPr/>
          <p:nvPr/>
        </p:nvSpPr>
        <p:spPr>
          <a:xfrm>
            <a:off x="1911454" y="4233281"/>
            <a:ext cx="4676769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s-CL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 ventaja de usar constantes es la facilidad de cambiar su valor, asignando el nuevo sólo una vez, donde la constante fue definida, y no en cada parte que esta constante se utiliza en el programa.</a:t>
            </a:r>
            <a:endParaRPr b="0" i="1"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6" name="Google Shape;196;p18"/>
          <p:cNvCxnSpPr/>
          <p:nvPr/>
        </p:nvCxnSpPr>
        <p:spPr>
          <a:xfrm>
            <a:off x="7649794" y="4890645"/>
            <a:ext cx="360040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197" name="Google Shape;197;p18"/>
          <p:cNvSpPr/>
          <p:nvPr/>
        </p:nvSpPr>
        <p:spPr>
          <a:xfrm>
            <a:off x="6857706" y="4782633"/>
            <a:ext cx="1080120" cy="338554"/>
          </a:xfrm>
          <a:prstGeom prst="flowChartInputOutpu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s-CL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9"/>
          <p:cNvSpPr txBox="1"/>
          <p:nvPr/>
        </p:nvSpPr>
        <p:spPr>
          <a:xfrm>
            <a:off x="1414170" y="404664"/>
            <a:ext cx="7704856" cy="18722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80060" lvl="1" marL="933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40"/>
              <a:buFont typeface="Noto Sans Symbols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33400" lvl="0" marL="533400" marR="0" rtl="0" algn="l">
              <a:spcBef>
                <a:spcPts val="560"/>
              </a:spcBef>
              <a:spcAft>
                <a:spcPts val="0"/>
              </a:spcAft>
              <a:buClr>
                <a:srgbClr val="21218A"/>
              </a:buClr>
              <a:buSzPts val="1400"/>
              <a:buFont typeface="Noto Sans Symbols"/>
              <a:buChar char="❑"/>
            </a:pPr>
            <a:r>
              <a:rPr b="0" lang="es-CL" sz="2800">
                <a:solidFill>
                  <a:srgbClr val="21218A"/>
                </a:solidFill>
                <a:latin typeface="Arial"/>
                <a:ea typeface="Arial"/>
                <a:cs typeface="Arial"/>
                <a:sym typeface="Arial"/>
              </a:rPr>
              <a:t>Variables:</a:t>
            </a:r>
            <a:r>
              <a:rPr b="0" lang="es-CL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lang="es-CL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espacio de memoria reservado donde se puede almacenar un dato, representado y usado a través de una etiqueta (un nombre ). Este dato </a:t>
            </a:r>
            <a:r>
              <a:rPr b="1" i="1" lang="es-CL" sz="2000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rPr>
              <a:t>puede cambiar</a:t>
            </a:r>
            <a:r>
              <a:rPr b="0" lang="es-CL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durante la ejecución del programa.</a:t>
            </a:r>
            <a:endParaRPr/>
          </a:p>
          <a:p>
            <a:pPr indent="-469900" lvl="0" marL="533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None/>
            </a:pPr>
            <a:r>
              <a:t/>
            </a:r>
            <a:endParaRPr b="0"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19"/>
          <p:cNvSpPr txBox="1"/>
          <p:nvPr/>
        </p:nvSpPr>
        <p:spPr>
          <a:xfrm>
            <a:off x="1979712" y="2137299"/>
            <a:ext cx="6840760" cy="621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80060" lvl="1" marL="933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40"/>
              <a:buFont typeface="Noto Sans Symbols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None/>
            </a:pPr>
            <a:r>
              <a:rPr b="0" lang="es-CL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 el ejemplo S es una variable.</a:t>
            </a:r>
            <a:endParaRPr b="0"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19"/>
          <p:cNvSpPr txBox="1"/>
          <p:nvPr/>
        </p:nvSpPr>
        <p:spPr>
          <a:xfrm rot="-202445">
            <a:off x="1763688" y="3284984"/>
            <a:ext cx="6840760" cy="3024336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br" dir="135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1600"/>
              <a:buFont typeface="Noto Sans Symbols"/>
              <a:buNone/>
            </a:pPr>
            <a:r>
              <a:rPr b="1" lang="es-CL" sz="3200">
                <a:solidFill>
                  <a:srgbClr val="FFC000"/>
                </a:solidFill>
                <a:latin typeface="Algerian"/>
                <a:ea typeface="Algerian"/>
                <a:cs typeface="Algerian"/>
                <a:sym typeface="Algerian"/>
              </a:rPr>
              <a:t>OJO</a:t>
            </a:r>
            <a:endParaRPr/>
          </a:p>
          <a:p>
            <a:pPr indent="-533400" lvl="0" marL="533400" marR="0" rtl="0" algn="just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❑"/>
            </a:pPr>
            <a:r>
              <a:rPr b="0" lang="es-CL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nombre que se asigna a una variable o constante debe ser </a:t>
            </a:r>
            <a:r>
              <a:rPr b="1" i="1" lang="es-CL" sz="2000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rPr>
              <a:t>nemónico</a:t>
            </a:r>
            <a:r>
              <a:rPr b="0" lang="es-CL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es decir, debe estar relacionado con el dato que almacena, de tal forma que sea muy fácil de relacionar y recordar.</a:t>
            </a:r>
            <a:endParaRPr/>
          </a:p>
          <a:p>
            <a:pPr indent="-533400" lvl="0" marL="533400" marR="0" rtl="0" algn="just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❑"/>
            </a:pPr>
            <a:r>
              <a:rPr b="0" lang="es-CL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 nombrar una variable o constante, no puede usarse </a:t>
            </a:r>
            <a:r>
              <a:rPr b="1" i="1" lang="es-CL" sz="2000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rPr>
              <a:t>palabras reservadas</a:t>
            </a:r>
            <a:r>
              <a:rPr b="0" lang="es-CL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por el lenguaje, como son: inicio, fin, Si, Si no, mientras…</a:t>
            </a:r>
            <a:endParaRPr b="0"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0"/>
          <p:cNvSpPr txBox="1"/>
          <p:nvPr>
            <p:ph type="title"/>
          </p:nvPr>
        </p:nvSpPr>
        <p:spPr>
          <a:xfrm>
            <a:off x="1619672" y="116632"/>
            <a:ext cx="7067128" cy="7780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rgbClr val="21218A"/>
                </a:solidFill>
              </a:rPr>
              <a:t>Variables  y  Constantes</a:t>
            </a:r>
            <a:endParaRPr/>
          </a:p>
        </p:txBody>
      </p:sp>
      <p:sp>
        <p:nvSpPr>
          <p:cNvPr id="210" name="Google Shape;210;p20"/>
          <p:cNvSpPr txBox="1"/>
          <p:nvPr>
            <p:ph idx="1" type="body"/>
          </p:nvPr>
        </p:nvSpPr>
        <p:spPr>
          <a:xfrm>
            <a:off x="1835695" y="965106"/>
            <a:ext cx="3312369" cy="4840158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kx="1200000" rotWithShape="0" algn="br" sy="23000">
              <a:srgbClr val="000000">
                <a:alpha val="2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CL"/>
              <a:t>Código en Pyhton</a:t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Clr>
                <a:srgbClr val="21218A"/>
              </a:buClr>
              <a:buSzPts val="1400"/>
              <a:buNone/>
            </a:pPr>
            <a:r>
              <a:rPr lang="es-CL">
                <a:solidFill>
                  <a:srgbClr val="21218A"/>
                </a:solidFill>
                <a:latin typeface="Consolas"/>
                <a:ea typeface="Consolas"/>
                <a:cs typeface="Consolas"/>
                <a:sym typeface="Consolas"/>
              </a:rPr>
              <a:t>A=3</a:t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Clr>
                <a:srgbClr val="21218A"/>
              </a:buClr>
              <a:buSzPts val="1400"/>
              <a:buNone/>
            </a:pPr>
            <a:r>
              <a:rPr lang="es-CL">
                <a:solidFill>
                  <a:srgbClr val="21218A"/>
                </a:solidFill>
                <a:latin typeface="Consolas"/>
                <a:ea typeface="Consolas"/>
                <a:cs typeface="Consolas"/>
                <a:sym typeface="Consolas"/>
              </a:rPr>
              <a:t>B=6</a:t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Clr>
                <a:srgbClr val="21218A"/>
              </a:buClr>
              <a:buSzPts val="1400"/>
              <a:buNone/>
            </a:pPr>
            <a:r>
              <a:rPr lang="es-CL">
                <a:solidFill>
                  <a:srgbClr val="21218A"/>
                </a:solidFill>
                <a:latin typeface="Consolas"/>
                <a:ea typeface="Consolas"/>
                <a:cs typeface="Consolas"/>
                <a:sym typeface="Consolas"/>
              </a:rPr>
              <a:t>C=20</a:t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Clr>
                <a:srgbClr val="21218A"/>
              </a:buClr>
              <a:buSzPts val="1400"/>
              <a:buNone/>
            </a:pPr>
            <a:r>
              <a:rPr lang="es-CL">
                <a:solidFill>
                  <a:srgbClr val="21218A"/>
                </a:solidFill>
                <a:latin typeface="Consolas"/>
                <a:ea typeface="Consolas"/>
                <a:cs typeface="Consolas"/>
                <a:sym typeface="Consolas"/>
              </a:rPr>
              <a:t>B=A</a:t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Clr>
                <a:srgbClr val="21218A"/>
              </a:buClr>
              <a:buSzPts val="1400"/>
              <a:buNone/>
            </a:pPr>
            <a:r>
              <a:rPr lang="es-CL">
                <a:solidFill>
                  <a:srgbClr val="21218A"/>
                </a:solidFill>
                <a:latin typeface="Consolas"/>
                <a:ea typeface="Consolas"/>
                <a:cs typeface="Consolas"/>
                <a:sym typeface="Consolas"/>
              </a:rPr>
              <a:t>C=B</a:t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Clr>
                <a:srgbClr val="21218A"/>
              </a:buClr>
              <a:buSzPts val="1400"/>
              <a:buNone/>
            </a:pPr>
            <a:r>
              <a:rPr lang="es-CL">
                <a:solidFill>
                  <a:srgbClr val="21218A"/>
                </a:solidFill>
                <a:latin typeface="Consolas"/>
                <a:ea typeface="Consolas"/>
                <a:cs typeface="Consolas"/>
                <a:sym typeface="Consolas"/>
              </a:rPr>
              <a:t>print(A)</a:t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Clr>
                <a:srgbClr val="21218A"/>
              </a:buClr>
              <a:buSzPts val="1400"/>
              <a:buNone/>
            </a:pPr>
            <a:r>
              <a:rPr lang="es-CL">
                <a:solidFill>
                  <a:srgbClr val="21218A"/>
                </a:solidFill>
                <a:latin typeface="Consolas"/>
                <a:ea typeface="Consolas"/>
                <a:cs typeface="Consolas"/>
                <a:sym typeface="Consolas"/>
              </a:rPr>
              <a:t>print(B)</a:t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Clr>
                <a:srgbClr val="21218A"/>
              </a:buClr>
              <a:buSzPts val="1400"/>
              <a:buNone/>
            </a:pPr>
            <a:r>
              <a:rPr lang="es-CL">
                <a:solidFill>
                  <a:srgbClr val="21218A"/>
                </a:solidFill>
                <a:latin typeface="Consolas"/>
                <a:ea typeface="Consolas"/>
                <a:cs typeface="Consolas"/>
                <a:sym typeface="Consolas"/>
              </a:rPr>
              <a:t>print(C)</a:t>
            </a:r>
            <a:endParaRPr>
              <a:solidFill>
                <a:srgbClr val="21218A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>
              <a:solidFill>
                <a:srgbClr val="21218A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>
              <a:solidFill>
                <a:srgbClr val="21218A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2540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>
              <a:solidFill>
                <a:srgbClr val="21218A"/>
              </a:solidFill>
            </a:endParaRPr>
          </a:p>
        </p:txBody>
      </p:sp>
      <p:sp>
        <p:nvSpPr>
          <p:cNvPr id="211" name="Google Shape;211;p20"/>
          <p:cNvSpPr txBox="1"/>
          <p:nvPr/>
        </p:nvSpPr>
        <p:spPr>
          <a:xfrm>
            <a:off x="5724128" y="1268760"/>
            <a:ext cx="1800200" cy="2677656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-CL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Salida: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-CL" sz="2800">
                <a:solidFill>
                  <a:srgbClr val="21218A"/>
                </a:solidFill>
                <a:latin typeface="Arial"/>
                <a:ea typeface="Arial"/>
                <a:cs typeface="Arial"/>
                <a:sym typeface="Arial"/>
              </a:rPr>
              <a:t>&gt;&gt;&gt;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-CL" sz="2800">
                <a:solidFill>
                  <a:srgbClr val="21218A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-CL" sz="2800">
                <a:solidFill>
                  <a:srgbClr val="21218A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-CL" sz="2800">
                <a:solidFill>
                  <a:srgbClr val="21218A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-CL" sz="2800">
                <a:solidFill>
                  <a:srgbClr val="21218A"/>
                </a:solidFill>
                <a:latin typeface="Arial"/>
                <a:ea typeface="Arial"/>
                <a:cs typeface="Arial"/>
                <a:sym typeface="Arial"/>
              </a:rPr>
              <a:t>&gt;&gt;&gt;</a:t>
            </a:r>
            <a:endParaRPr b="0" sz="2800">
              <a:solidFill>
                <a:srgbClr val="21218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12" name="Google Shape;212;p20"/>
          <p:cNvGraphicFramePr/>
          <p:nvPr/>
        </p:nvGraphicFramePr>
        <p:xfrm>
          <a:off x="5724128" y="465313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{FE9E5767-6F11-47BE-A44D-5E62487CCF7F}</a:tableStyleId>
              </a:tblPr>
              <a:tblGrid>
                <a:gridCol w="1000275"/>
                <a:gridCol w="1000275"/>
                <a:gridCol w="10002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 u="none" cap="none" strike="noStrike"/>
                        <a:t>A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/>
                        <a:t>B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/>
                        <a:t>C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/>
                        <a:t>3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/>
                        <a:t>6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/>
                        <a:t>20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/>
                        <a:t>3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/>
                        <a:t>3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213" name="Google Shape;213;p20"/>
          <p:cNvSpPr txBox="1"/>
          <p:nvPr/>
        </p:nvSpPr>
        <p:spPr>
          <a:xfrm>
            <a:off x="5601040" y="4106559"/>
            <a:ext cx="156324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rPr>
              <a:t>Ruteo…</a:t>
            </a:r>
            <a:endParaRPr b="1" sz="2800">
              <a:solidFill>
                <a:srgbClr val="FF66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1"/>
          <p:cNvSpPr txBox="1"/>
          <p:nvPr>
            <p:ph type="title"/>
          </p:nvPr>
        </p:nvSpPr>
        <p:spPr>
          <a:xfrm>
            <a:off x="0" y="21561"/>
            <a:ext cx="7717480" cy="81515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200">
                <a:solidFill>
                  <a:srgbClr val="21218A"/>
                </a:solidFill>
              </a:rPr>
              <a:t>Contadores y Acumuladores</a:t>
            </a:r>
            <a:endParaRPr sz="3200">
              <a:solidFill>
                <a:srgbClr val="21218A"/>
              </a:solidFill>
            </a:endParaRPr>
          </a:p>
        </p:txBody>
      </p:sp>
      <p:sp>
        <p:nvSpPr>
          <p:cNvPr id="220" name="Google Shape;220;p21"/>
          <p:cNvSpPr txBox="1"/>
          <p:nvPr>
            <p:ph idx="1" type="body"/>
          </p:nvPr>
        </p:nvSpPr>
        <p:spPr>
          <a:xfrm>
            <a:off x="1411877" y="1315278"/>
            <a:ext cx="4371675" cy="29847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4625" lvl="0" marL="174625" rtl="0" algn="just">
              <a:spcBef>
                <a:spcPts val="0"/>
              </a:spcBef>
              <a:spcAft>
                <a:spcPts val="0"/>
              </a:spcAft>
              <a:buClr>
                <a:srgbClr val="21218A"/>
              </a:buClr>
              <a:buSzPts val="1200"/>
              <a:buChar char="❑"/>
            </a:pPr>
            <a:r>
              <a:rPr lang="es-CL" sz="2400">
                <a:solidFill>
                  <a:srgbClr val="21218A"/>
                </a:solidFill>
              </a:rPr>
              <a:t>Contador: </a:t>
            </a:r>
            <a:r>
              <a:rPr lang="es-CL" sz="1800"/>
              <a:t>Es una variable que se utiliza para contar la ocurrencia de un proceso. Cada vez que el proceso ocurre se incrementa en uno.</a:t>
            </a:r>
            <a:endParaRPr/>
          </a:p>
          <a:p>
            <a:pPr indent="-174625" lvl="0" marL="174625" rtl="0" algn="just">
              <a:spcBef>
                <a:spcPts val="480"/>
              </a:spcBef>
              <a:spcAft>
                <a:spcPts val="0"/>
              </a:spcAft>
              <a:buClr>
                <a:srgbClr val="21218A"/>
              </a:buClr>
              <a:buSzPts val="1200"/>
              <a:buChar char="❑"/>
            </a:pPr>
            <a:r>
              <a:rPr lang="es-CL" sz="2400">
                <a:solidFill>
                  <a:srgbClr val="21218A"/>
                </a:solidFill>
              </a:rPr>
              <a:t>Acumulador: </a:t>
            </a:r>
            <a:r>
              <a:rPr lang="es-CL" sz="1800"/>
              <a:t>O también conocido como sumador, es una variable que tiene por finalidad ir sumando valores provenientes de procesos sucesivos.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</a:pPr>
            <a:r>
              <a:t/>
            </a:r>
            <a:endParaRPr sz="1800"/>
          </a:p>
        </p:txBody>
      </p:sp>
      <p:sp>
        <p:nvSpPr>
          <p:cNvPr id="221" name="Google Shape;221;p21"/>
          <p:cNvSpPr/>
          <p:nvPr/>
        </p:nvSpPr>
        <p:spPr>
          <a:xfrm rot="-793535">
            <a:off x="1726191" y="4330378"/>
            <a:ext cx="3545955" cy="144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CL" sz="24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OJO</a:t>
            </a:r>
            <a:endParaRPr/>
          </a:p>
          <a:p>
            <a:pPr indent="0" lvl="0" marL="0" marR="0" rtl="0" algn="just">
              <a:spcBef>
                <a:spcPts val="400"/>
              </a:spcBef>
              <a:spcAft>
                <a:spcPts val="0"/>
              </a:spcAft>
              <a:buNone/>
            </a:pPr>
            <a:r>
              <a:rPr b="0" i="1" lang="es-CL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Tanto los contadores como los acumuladores deben ser inicializados.</a:t>
            </a:r>
            <a:endParaRPr b="0" i="1"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2" name="Google Shape;222;p21"/>
          <p:cNvGrpSpPr/>
          <p:nvPr/>
        </p:nvGrpSpPr>
        <p:grpSpPr>
          <a:xfrm>
            <a:off x="5940152" y="404663"/>
            <a:ext cx="2736304" cy="6408713"/>
            <a:chOff x="5868144" y="404664"/>
            <a:chExt cx="2736304" cy="6408713"/>
          </a:xfrm>
        </p:grpSpPr>
        <p:grpSp>
          <p:nvGrpSpPr>
            <p:cNvPr id="223" name="Google Shape;223;p21"/>
            <p:cNvGrpSpPr/>
            <p:nvPr/>
          </p:nvGrpSpPr>
          <p:grpSpPr>
            <a:xfrm>
              <a:off x="5868144" y="404664"/>
              <a:ext cx="2736304" cy="6408713"/>
              <a:chOff x="6084168" y="55720"/>
              <a:chExt cx="2736304" cy="6934159"/>
            </a:xfrm>
          </p:grpSpPr>
          <p:sp>
            <p:nvSpPr>
              <p:cNvPr id="224" name="Google Shape;224;p21"/>
              <p:cNvSpPr/>
              <p:nvPr/>
            </p:nvSpPr>
            <p:spPr>
              <a:xfrm>
                <a:off x="6854093" y="55720"/>
                <a:ext cx="1203563" cy="327838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 Narrow"/>
                  <a:buNone/>
                </a:pPr>
                <a:r>
                  <a:rPr b="1" i="0" lang="es-CL" sz="1100" u="none" cap="none" strike="noStrike">
                    <a:solidFill>
                      <a:schemeClr val="dk1"/>
                    </a:solidFill>
                    <a:latin typeface="Arial Narrow"/>
                    <a:ea typeface="Arial Narrow"/>
                    <a:cs typeface="Arial Narrow"/>
                    <a:sym typeface="Arial Narrow"/>
                  </a:rPr>
                  <a:t>INICIO</a:t>
                </a:r>
                <a:endParaRPr/>
              </a:p>
            </p:txBody>
          </p:sp>
          <p:sp>
            <p:nvSpPr>
              <p:cNvPr id="225" name="Google Shape;225;p21"/>
              <p:cNvSpPr/>
              <p:nvPr/>
            </p:nvSpPr>
            <p:spPr>
              <a:xfrm>
                <a:off x="6084168" y="5841380"/>
                <a:ext cx="2736304" cy="599420"/>
              </a:xfrm>
              <a:prstGeom prst="flowChartInputOutpu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s-CL" sz="1200">
                    <a:solidFill>
                      <a:schemeClr val="dk1"/>
                    </a:solidFill>
                    <a:latin typeface="Arial Narrow"/>
                    <a:ea typeface="Arial Narrow"/>
                    <a:cs typeface="Arial Narrow"/>
                    <a:sym typeface="Arial Narrow"/>
                  </a:rPr>
                  <a:t>“Cantidad de nº: ”, cont</a:t>
                </a:r>
                <a:endParaRPr b="1" sz="1200">
                  <a:solidFill>
                    <a:schemeClr val="dk1"/>
                  </a:solidFill>
                  <a:latin typeface="Arial Narrow"/>
                  <a:ea typeface="Arial Narrow"/>
                  <a:cs typeface="Arial Narrow"/>
                  <a:sym typeface="Arial Narrow"/>
                </a:endParaRPr>
              </a:p>
              <a:p>
                <a:pPr indent="0" lvl="0" marL="0" marR="0" rtl="0" algn="ctr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1" lang="es-CL" sz="1200">
                    <a:solidFill>
                      <a:schemeClr val="dk1"/>
                    </a:solidFill>
                    <a:latin typeface="Arial Narrow"/>
                    <a:ea typeface="Arial Narrow"/>
                    <a:cs typeface="Arial Narrow"/>
                    <a:sym typeface="Arial Narrow"/>
                  </a:rPr>
                  <a:t>“Suma de nº: ”, acum</a:t>
                </a:r>
                <a:endParaRPr b="1" i="0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6" name="Google Shape;226;p21"/>
              <p:cNvSpPr/>
              <p:nvPr/>
            </p:nvSpPr>
            <p:spPr>
              <a:xfrm>
                <a:off x="6970653" y="6622006"/>
                <a:ext cx="962851" cy="367873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b="1" i="0" lang="es-CL" sz="11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FIN</a:t>
                </a:r>
                <a:endParaRPr b="1" i="0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27" name="Google Shape;227;p21"/>
              <p:cNvCxnSpPr>
                <a:stCxn id="224" idx="4"/>
                <a:endCxn id="228" idx="0"/>
              </p:cNvCxnSpPr>
              <p:nvPr/>
            </p:nvCxnSpPr>
            <p:spPr>
              <a:xfrm flipH="1">
                <a:off x="7451974" y="383558"/>
                <a:ext cx="3900" cy="21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stealth"/>
              </a:ln>
            </p:spPr>
          </p:cxnSp>
          <p:cxnSp>
            <p:nvCxnSpPr>
              <p:cNvPr id="229" name="Google Shape;229;p21"/>
              <p:cNvCxnSpPr>
                <a:stCxn id="230" idx="4"/>
                <a:endCxn id="231" idx="1"/>
              </p:cNvCxnSpPr>
              <p:nvPr/>
            </p:nvCxnSpPr>
            <p:spPr>
              <a:xfrm flipH="1">
                <a:off x="7452020" y="1482029"/>
                <a:ext cx="300" cy="139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stealth"/>
              </a:ln>
            </p:spPr>
          </p:cxnSp>
          <p:cxnSp>
            <p:nvCxnSpPr>
              <p:cNvPr id="232" name="Google Shape;232;p21"/>
              <p:cNvCxnSpPr>
                <a:stCxn id="225" idx="4"/>
                <a:endCxn id="226" idx="0"/>
              </p:cNvCxnSpPr>
              <p:nvPr/>
            </p:nvCxnSpPr>
            <p:spPr>
              <a:xfrm flipH="1">
                <a:off x="7452020" y="6440800"/>
                <a:ext cx="300" cy="181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stealth"/>
              </a:ln>
            </p:spPr>
          </p:cxnSp>
          <p:sp>
            <p:nvSpPr>
              <p:cNvPr id="230" name="Google Shape;230;p21"/>
              <p:cNvSpPr/>
              <p:nvPr/>
            </p:nvSpPr>
            <p:spPr>
              <a:xfrm>
                <a:off x="6588224" y="1182319"/>
                <a:ext cx="1728192" cy="299710"/>
              </a:xfrm>
              <a:prstGeom prst="flowChartInputOutpu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Arial Narrow"/>
                  <a:buNone/>
                </a:pPr>
                <a:r>
                  <a:rPr b="1" lang="es-CL" sz="1200">
                    <a:solidFill>
                      <a:schemeClr val="dk1"/>
                    </a:solidFill>
                    <a:latin typeface="Arial Narrow"/>
                    <a:ea typeface="Arial Narrow"/>
                    <a:cs typeface="Arial Narrow"/>
                    <a:sym typeface="Arial Narrow"/>
                  </a:rPr>
                  <a:t>“ingresa nº: ”</a:t>
                </a:r>
                <a:endParaRPr b="1" sz="1200">
                  <a:solidFill>
                    <a:schemeClr val="dk1"/>
                  </a:solidFill>
                  <a:latin typeface="Arial Narrow"/>
                  <a:ea typeface="Arial Narrow"/>
                  <a:cs typeface="Arial Narrow"/>
                  <a:sym typeface="Arial Narrow"/>
                </a:endParaRPr>
              </a:p>
            </p:txBody>
          </p:sp>
          <p:sp>
            <p:nvSpPr>
              <p:cNvPr id="231" name="Google Shape;231;p21"/>
              <p:cNvSpPr/>
              <p:nvPr/>
            </p:nvSpPr>
            <p:spPr>
              <a:xfrm>
                <a:off x="6529352" y="1621687"/>
                <a:ext cx="1845461" cy="333011"/>
              </a:xfrm>
              <a:prstGeom prst="flowChartInputOutpu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None/>
                </a:pPr>
                <a:r>
                  <a:rPr b="0" lang="es-CL" sz="1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x</a:t>
                </a:r>
                <a:endParaRPr b="0" i="0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33" name="Google Shape;233;p21"/>
              <p:cNvCxnSpPr>
                <a:stCxn id="234" idx="2"/>
                <a:endCxn id="235" idx="1"/>
              </p:cNvCxnSpPr>
              <p:nvPr/>
            </p:nvCxnSpPr>
            <p:spPr>
              <a:xfrm>
                <a:off x="7452080" y="4080619"/>
                <a:ext cx="300" cy="172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stealth"/>
              </a:ln>
            </p:spPr>
          </p:cxnSp>
          <p:cxnSp>
            <p:nvCxnSpPr>
              <p:cNvPr id="236" name="Google Shape;236;p21"/>
              <p:cNvCxnSpPr>
                <a:stCxn id="237" idx="4"/>
                <a:endCxn id="238" idx="1"/>
              </p:cNvCxnSpPr>
              <p:nvPr/>
            </p:nvCxnSpPr>
            <p:spPr>
              <a:xfrm flipH="1">
                <a:off x="7452020" y="2997514"/>
                <a:ext cx="300" cy="167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stealth"/>
              </a:ln>
            </p:spPr>
          </p:cxnSp>
          <p:sp>
            <p:nvSpPr>
              <p:cNvPr id="237" name="Google Shape;237;p21"/>
              <p:cNvSpPr/>
              <p:nvPr/>
            </p:nvSpPr>
            <p:spPr>
              <a:xfrm>
                <a:off x="6588224" y="2697804"/>
                <a:ext cx="1728192" cy="299710"/>
              </a:xfrm>
              <a:prstGeom prst="flowChartInputOutpu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Arial Narrow"/>
                  <a:buNone/>
                </a:pPr>
                <a:r>
                  <a:rPr b="1" lang="es-CL" sz="1200">
                    <a:solidFill>
                      <a:schemeClr val="dk1"/>
                    </a:solidFill>
                    <a:latin typeface="Arial Narrow"/>
                    <a:ea typeface="Arial Narrow"/>
                    <a:cs typeface="Arial Narrow"/>
                    <a:sym typeface="Arial Narrow"/>
                  </a:rPr>
                  <a:t>“ingresa nº: ”</a:t>
                </a:r>
                <a:endParaRPr/>
              </a:p>
            </p:txBody>
          </p:sp>
          <p:cxnSp>
            <p:nvCxnSpPr>
              <p:cNvPr id="239" name="Google Shape;239;p21"/>
              <p:cNvCxnSpPr>
                <a:stCxn id="238" idx="4"/>
                <a:endCxn id="234" idx="0"/>
              </p:cNvCxnSpPr>
              <p:nvPr/>
            </p:nvCxnSpPr>
            <p:spPr>
              <a:xfrm>
                <a:off x="7452080" y="3497946"/>
                <a:ext cx="0" cy="120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stealth"/>
              </a:ln>
            </p:spPr>
          </p:cxnSp>
          <p:sp>
            <p:nvSpPr>
              <p:cNvPr id="238" name="Google Shape;238;p21"/>
              <p:cNvSpPr/>
              <p:nvPr/>
            </p:nvSpPr>
            <p:spPr>
              <a:xfrm>
                <a:off x="6529350" y="3164935"/>
                <a:ext cx="1845461" cy="333011"/>
              </a:xfrm>
              <a:prstGeom prst="flowChartInputOutpu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None/>
                </a:pPr>
                <a:r>
                  <a:rPr b="0" i="0" lang="es-CL" sz="14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y</a:t>
                </a:r>
                <a:endParaRPr/>
              </a:p>
            </p:txBody>
          </p:sp>
          <p:sp>
            <p:nvSpPr>
              <p:cNvPr id="228" name="Google Shape;228;p21"/>
              <p:cNvSpPr/>
              <p:nvPr/>
            </p:nvSpPr>
            <p:spPr>
              <a:xfrm>
                <a:off x="6770063" y="594944"/>
                <a:ext cx="1364037" cy="411423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Arial"/>
                  <a:buNone/>
                </a:pPr>
                <a:r>
                  <a:rPr b="0" lang="es-CL" sz="12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cont=0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Arial"/>
                  <a:buNone/>
                </a:pPr>
                <a:r>
                  <a:rPr b="0" i="0" lang="es-CL" sz="12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acum=0</a:t>
                </a:r>
                <a:endParaRPr b="0" i="0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40" name="Google Shape;240;p21"/>
              <p:cNvCxnSpPr>
                <a:stCxn id="228" idx="2"/>
                <a:endCxn id="230" idx="1"/>
              </p:cNvCxnSpPr>
              <p:nvPr/>
            </p:nvCxnSpPr>
            <p:spPr>
              <a:xfrm>
                <a:off x="7452082" y="1006367"/>
                <a:ext cx="300" cy="176100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  <p:cxnSp>
            <p:nvCxnSpPr>
              <p:cNvPr id="241" name="Google Shape;241;p21"/>
              <p:cNvCxnSpPr>
                <a:stCxn id="228" idx="2"/>
                <a:endCxn id="230" idx="1"/>
              </p:cNvCxnSpPr>
              <p:nvPr/>
            </p:nvCxnSpPr>
            <p:spPr>
              <a:xfrm>
                <a:off x="7452082" y="1006367"/>
                <a:ext cx="300" cy="176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stealth"/>
              </a:ln>
            </p:spPr>
          </p:cxnSp>
          <p:cxnSp>
            <p:nvCxnSpPr>
              <p:cNvPr id="242" name="Google Shape;242;p21"/>
              <p:cNvCxnSpPr>
                <a:stCxn id="231" idx="4"/>
                <a:endCxn id="243" idx="0"/>
              </p:cNvCxnSpPr>
              <p:nvPr/>
            </p:nvCxnSpPr>
            <p:spPr>
              <a:xfrm>
                <a:off x="7452083" y="1954698"/>
                <a:ext cx="0" cy="116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stealth"/>
              </a:ln>
            </p:spPr>
          </p:cxnSp>
          <p:sp>
            <p:nvSpPr>
              <p:cNvPr id="243" name="Google Shape;243;p21"/>
              <p:cNvSpPr/>
              <p:nvPr/>
            </p:nvSpPr>
            <p:spPr>
              <a:xfrm>
                <a:off x="6770063" y="2070887"/>
                <a:ext cx="1364037" cy="411423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Arial"/>
                  <a:buNone/>
                </a:pPr>
                <a:r>
                  <a:rPr b="0" lang="es-CL" sz="12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cont=cont+1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Arial"/>
                  <a:buNone/>
                </a:pPr>
                <a:r>
                  <a:rPr b="0" i="0" lang="es-CL" sz="12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acum=acum+x</a:t>
                </a:r>
                <a:endParaRPr b="0" i="0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44" name="Google Shape;244;p21"/>
              <p:cNvCxnSpPr>
                <a:stCxn id="243" idx="2"/>
                <a:endCxn id="237" idx="1"/>
              </p:cNvCxnSpPr>
              <p:nvPr/>
            </p:nvCxnSpPr>
            <p:spPr>
              <a:xfrm>
                <a:off x="7452082" y="2482310"/>
                <a:ext cx="300" cy="215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stealth"/>
              </a:ln>
            </p:spPr>
          </p:cxnSp>
          <p:sp>
            <p:nvSpPr>
              <p:cNvPr id="234" name="Google Shape;234;p21"/>
              <p:cNvSpPr/>
              <p:nvPr/>
            </p:nvSpPr>
            <p:spPr>
              <a:xfrm>
                <a:off x="6770061" y="3618954"/>
                <a:ext cx="1364037" cy="461665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Arial"/>
                  <a:buNone/>
                </a:pPr>
                <a:r>
                  <a:rPr b="0" lang="es-CL" sz="12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cont=cont+1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Arial"/>
                  <a:buNone/>
                </a:pPr>
                <a:r>
                  <a:rPr b="0" i="0" lang="es-CL" sz="12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acum=acum+y</a:t>
                </a:r>
                <a:endParaRPr b="0" i="0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45" name="Google Shape;245;p21"/>
              <p:cNvCxnSpPr>
                <a:stCxn id="235" idx="4"/>
                <a:endCxn id="246" idx="1"/>
              </p:cNvCxnSpPr>
              <p:nvPr/>
            </p:nvCxnSpPr>
            <p:spPr>
              <a:xfrm flipH="1">
                <a:off x="7452020" y="4552610"/>
                <a:ext cx="300" cy="156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stealth"/>
              </a:ln>
            </p:spPr>
          </p:cxnSp>
          <p:sp>
            <p:nvSpPr>
              <p:cNvPr id="235" name="Google Shape;235;p21"/>
              <p:cNvSpPr/>
              <p:nvPr/>
            </p:nvSpPr>
            <p:spPr>
              <a:xfrm>
                <a:off x="6588224" y="4252900"/>
                <a:ext cx="1728192" cy="299710"/>
              </a:xfrm>
              <a:prstGeom prst="flowChartInputOutpu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Arial Narrow"/>
                  <a:buNone/>
                </a:pPr>
                <a:r>
                  <a:rPr b="1" lang="es-CL" sz="1200">
                    <a:solidFill>
                      <a:schemeClr val="dk1"/>
                    </a:solidFill>
                    <a:latin typeface="Arial Narrow"/>
                    <a:ea typeface="Arial Narrow"/>
                    <a:cs typeface="Arial Narrow"/>
                    <a:sym typeface="Arial Narrow"/>
                  </a:rPr>
                  <a:t>“ingresa nº: ”</a:t>
                </a:r>
                <a:endParaRPr/>
              </a:p>
            </p:txBody>
          </p:sp>
          <p:cxnSp>
            <p:nvCxnSpPr>
              <p:cNvPr id="247" name="Google Shape;247;p21"/>
              <p:cNvCxnSpPr>
                <a:stCxn id="246" idx="4"/>
                <a:endCxn id="248" idx="0"/>
              </p:cNvCxnSpPr>
              <p:nvPr/>
            </p:nvCxnSpPr>
            <p:spPr>
              <a:xfrm>
                <a:off x="7452080" y="5041929"/>
                <a:ext cx="0" cy="108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stealth"/>
              </a:ln>
            </p:spPr>
          </p:cxnSp>
          <p:sp>
            <p:nvSpPr>
              <p:cNvPr id="246" name="Google Shape;246;p21"/>
              <p:cNvSpPr/>
              <p:nvPr/>
            </p:nvSpPr>
            <p:spPr>
              <a:xfrm>
                <a:off x="6529350" y="4708918"/>
                <a:ext cx="1845461" cy="333011"/>
              </a:xfrm>
              <a:prstGeom prst="flowChartInputOutpu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None/>
                </a:pPr>
                <a:r>
                  <a:rPr b="0" i="0" lang="es-CL" sz="14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y</a:t>
                </a:r>
                <a:endParaRPr/>
              </a:p>
            </p:txBody>
          </p:sp>
          <p:sp>
            <p:nvSpPr>
              <p:cNvPr id="248" name="Google Shape;248;p21"/>
              <p:cNvSpPr/>
              <p:nvPr/>
            </p:nvSpPr>
            <p:spPr>
              <a:xfrm>
                <a:off x="6770061" y="5150480"/>
                <a:ext cx="1364037" cy="461665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Arial"/>
                  <a:buNone/>
                </a:pPr>
                <a:r>
                  <a:rPr b="0" lang="es-CL" sz="12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cont=cont+1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Arial"/>
                  <a:buNone/>
                </a:pPr>
                <a:r>
                  <a:rPr b="0" i="0" lang="es-CL" sz="12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acum=acum+y</a:t>
                </a:r>
                <a:endParaRPr b="0" i="0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49" name="Google Shape;249;p21"/>
              <p:cNvCxnSpPr>
                <a:stCxn id="248" idx="2"/>
                <a:endCxn id="225" idx="1"/>
              </p:cNvCxnSpPr>
              <p:nvPr/>
            </p:nvCxnSpPr>
            <p:spPr>
              <a:xfrm>
                <a:off x="7452080" y="5612145"/>
                <a:ext cx="300" cy="229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stealth"/>
              </a:ln>
            </p:spPr>
          </p:cxnSp>
        </p:grpSp>
        <p:cxnSp>
          <p:nvCxnSpPr>
            <p:cNvPr id="250" name="Google Shape;250;p21"/>
            <p:cNvCxnSpPr/>
            <p:nvPr/>
          </p:nvCxnSpPr>
          <p:spPr>
            <a:xfrm rot="10800000">
              <a:off x="7717480" y="1988840"/>
              <a:ext cx="382912" cy="0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  <a:effectLst>
              <a:outerShdw blurRad="40000" rotWithShape="0" dir="5400000" dist="20000">
                <a:srgbClr val="000000">
                  <a:alpha val="37647"/>
                </a:srgbClr>
              </a:outerShdw>
            </a:effectLst>
          </p:spPr>
        </p:cxnSp>
        <p:cxnSp>
          <p:nvCxnSpPr>
            <p:cNvPr id="251" name="Google Shape;251;p21"/>
            <p:cNvCxnSpPr/>
            <p:nvPr/>
          </p:nvCxnSpPr>
          <p:spPr>
            <a:xfrm rot="10800000">
              <a:off x="7740352" y="3429000"/>
              <a:ext cx="382912" cy="0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  <a:effectLst>
              <a:outerShdw blurRad="40000" rotWithShape="0" dir="5400000" dist="20000">
                <a:srgbClr val="000000">
                  <a:alpha val="37647"/>
                </a:srgbClr>
              </a:outerShdw>
            </a:effectLst>
          </p:spPr>
        </p:cxnSp>
        <p:cxnSp>
          <p:nvCxnSpPr>
            <p:cNvPr id="252" name="Google Shape;252;p21"/>
            <p:cNvCxnSpPr/>
            <p:nvPr/>
          </p:nvCxnSpPr>
          <p:spPr>
            <a:xfrm rot="10800000">
              <a:off x="7740352" y="4869160"/>
              <a:ext cx="382912" cy="0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  <a:effectLst>
              <a:outerShdw blurRad="40000" rotWithShape="0" dir="5400000" dist="20000">
                <a:srgbClr val="000000">
                  <a:alpha val="37647"/>
                </a:srgbClr>
              </a:outerShdw>
            </a:effectLst>
          </p:spPr>
        </p:cxnSp>
        <p:cxnSp>
          <p:nvCxnSpPr>
            <p:cNvPr id="253" name="Google Shape;253;p21"/>
            <p:cNvCxnSpPr/>
            <p:nvPr/>
          </p:nvCxnSpPr>
          <p:spPr>
            <a:xfrm>
              <a:off x="7763224" y="1556792"/>
              <a:ext cx="360040" cy="0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  <a:effectLst>
              <a:outerShdw blurRad="40000" rotWithShape="0" dir="5400000" dist="20000">
                <a:srgbClr val="000000">
                  <a:alpha val="37647"/>
                </a:srgbClr>
              </a:outerShdw>
            </a:effectLst>
          </p:spPr>
        </p:cxnSp>
        <p:cxnSp>
          <p:nvCxnSpPr>
            <p:cNvPr id="254" name="Google Shape;254;p21"/>
            <p:cNvCxnSpPr/>
            <p:nvPr/>
          </p:nvCxnSpPr>
          <p:spPr>
            <a:xfrm>
              <a:off x="7738054" y="4437112"/>
              <a:ext cx="360040" cy="0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  <a:effectLst>
              <a:outerShdw blurRad="40000" rotWithShape="0" dir="5400000" dist="20000">
                <a:srgbClr val="000000">
                  <a:alpha val="37647"/>
                </a:srgbClr>
              </a:outerShdw>
            </a:effectLst>
          </p:spPr>
        </p:cxnSp>
        <p:cxnSp>
          <p:nvCxnSpPr>
            <p:cNvPr id="255" name="Google Shape;255;p21"/>
            <p:cNvCxnSpPr/>
            <p:nvPr/>
          </p:nvCxnSpPr>
          <p:spPr>
            <a:xfrm>
              <a:off x="7738054" y="2996952"/>
              <a:ext cx="360040" cy="0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  <a:effectLst>
              <a:outerShdw blurRad="40000" rotWithShape="0" dir="5400000" dist="20000">
                <a:srgbClr val="000000">
                  <a:alpha val="37647"/>
                </a:srgbClr>
              </a:outerShdw>
            </a:effectLst>
          </p:spPr>
        </p:cxnSp>
        <p:cxnSp>
          <p:nvCxnSpPr>
            <p:cNvPr id="256" name="Google Shape;256;p21"/>
            <p:cNvCxnSpPr/>
            <p:nvPr/>
          </p:nvCxnSpPr>
          <p:spPr>
            <a:xfrm>
              <a:off x="8244408" y="5949280"/>
              <a:ext cx="360040" cy="0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  <a:effectLst>
              <a:outerShdw blurRad="40000" rotWithShape="0" dir="5400000" dist="20000">
                <a:srgbClr val="000000">
                  <a:alpha val="37647"/>
                </a:srgbClr>
              </a:outerShdw>
            </a:effectLst>
          </p:spPr>
        </p:cxnSp>
      </p:grpSp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2"/>
          <p:cNvSpPr txBox="1"/>
          <p:nvPr>
            <p:ph type="title"/>
          </p:nvPr>
        </p:nvSpPr>
        <p:spPr>
          <a:xfrm>
            <a:off x="457200" y="274638"/>
            <a:ext cx="8229600" cy="6340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200">
                <a:solidFill>
                  <a:srgbClr val="002060"/>
                </a:solidFill>
              </a:rPr>
              <a:t>Tipos de datos</a:t>
            </a:r>
            <a:endParaRPr sz="3200">
              <a:solidFill>
                <a:srgbClr val="002060"/>
              </a:solidFill>
            </a:endParaRPr>
          </a:p>
        </p:txBody>
      </p:sp>
      <p:sp>
        <p:nvSpPr>
          <p:cNvPr id="262" name="Google Shape;262;p22"/>
          <p:cNvSpPr txBox="1"/>
          <p:nvPr>
            <p:ph idx="1" type="body"/>
          </p:nvPr>
        </p:nvSpPr>
        <p:spPr>
          <a:xfrm>
            <a:off x="1554164" y="1188990"/>
            <a:ext cx="7128792" cy="15919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❑"/>
            </a:pPr>
            <a:r>
              <a:rPr lang="es-CL"/>
              <a:t>Números enteros: int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Char char="❑"/>
            </a:pPr>
            <a:r>
              <a:rPr lang="es-CL"/>
              <a:t>Números reales: float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Char char="❑"/>
            </a:pPr>
            <a:r>
              <a:rPr lang="es-CL"/>
              <a:t>Texto: str</a:t>
            </a:r>
            <a:endParaRPr/>
          </a:p>
        </p:txBody>
      </p:sp>
      <p:pic>
        <p:nvPicPr>
          <p:cNvPr id="263" name="Google Shape;26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88024" y="3846162"/>
            <a:ext cx="2935669" cy="283936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2"/>
          <p:cNvSpPr txBox="1"/>
          <p:nvPr/>
        </p:nvSpPr>
        <p:spPr>
          <a:xfrm>
            <a:off x="1438406" y="3322942"/>
            <a:ext cx="432522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2060"/>
                </a:solidFill>
                <a:latin typeface="Consolas"/>
                <a:ea typeface="Consolas"/>
                <a:cs typeface="Consolas"/>
                <a:sym typeface="Consolas"/>
              </a:rPr>
              <a:t>Probar en la consola:</a:t>
            </a:r>
            <a:endParaRPr b="1" sz="2800">
              <a:solidFill>
                <a:srgbClr val="00206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3"/>
          <p:cNvSpPr txBox="1"/>
          <p:nvPr>
            <p:ph type="title"/>
          </p:nvPr>
        </p:nvSpPr>
        <p:spPr>
          <a:xfrm>
            <a:off x="1475656" y="274638"/>
            <a:ext cx="7211144" cy="8501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000">
                <a:solidFill>
                  <a:srgbClr val="002060"/>
                </a:solidFill>
              </a:rPr>
              <a:t>Ejercicios</a:t>
            </a:r>
            <a:endParaRPr sz="4000">
              <a:solidFill>
                <a:srgbClr val="002060"/>
              </a:solidFill>
            </a:endParaRPr>
          </a:p>
        </p:txBody>
      </p:sp>
      <p:sp>
        <p:nvSpPr>
          <p:cNvPr id="270" name="Google Shape;270;p23"/>
          <p:cNvSpPr txBox="1"/>
          <p:nvPr>
            <p:ph idx="1" type="body"/>
          </p:nvPr>
        </p:nvSpPr>
        <p:spPr>
          <a:xfrm>
            <a:off x="1403648" y="1600200"/>
            <a:ext cx="7560840" cy="3628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CL"/>
              <a:t>Escriba un programa que:</a:t>
            </a:r>
            <a:endParaRPr/>
          </a:p>
          <a:p>
            <a:pPr indent="-2540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/>
          </a:p>
          <a:p>
            <a:pPr indent="-342900" lvl="0" marL="1436688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s-CL"/>
              <a:t>Calcule el cuadrado de un número.</a:t>
            </a:r>
            <a:endParaRPr/>
          </a:p>
          <a:p>
            <a:pPr indent="-342900" lvl="0" marL="1436688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s-CL"/>
              <a:t>Calcule la suma de dos números reales </a:t>
            </a:r>
            <a:endParaRPr/>
          </a:p>
          <a:p>
            <a:pPr indent="-342900" lvl="0" marL="1436688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s-CL"/>
              <a:t>Escriba tres veces una palabra ingresada.</a:t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4"/>
          <p:cNvSpPr txBox="1"/>
          <p:nvPr/>
        </p:nvSpPr>
        <p:spPr>
          <a:xfrm>
            <a:off x="1547664" y="1628800"/>
            <a:ext cx="7056784" cy="17281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4000">
                <a:solidFill>
                  <a:srgbClr val="21218A"/>
                </a:solidFill>
                <a:latin typeface="Arial"/>
                <a:ea typeface="Arial"/>
                <a:cs typeface="Arial"/>
                <a:sym typeface="Arial"/>
              </a:rPr>
              <a:t>Estructuras de Control</a:t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5"/>
          <p:cNvSpPr txBox="1"/>
          <p:nvPr>
            <p:ph type="title"/>
          </p:nvPr>
        </p:nvSpPr>
        <p:spPr>
          <a:xfrm>
            <a:off x="1547664" y="307856"/>
            <a:ext cx="7138987" cy="6006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rgbClr val="21218A"/>
                </a:solidFill>
              </a:rPr>
              <a:t>BLOQUES DE CONSTRUCCION</a:t>
            </a:r>
            <a:endParaRPr>
              <a:solidFill>
                <a:srgbClr val="21218A"/>
              </a:solidFill>
            </a:endParaRPr>
          </a:p>
        </p:txBody>
      </p:sp>
      <p:sp>
        <p:nvSpPr>
          <p:cNvPr id="282" name="Google Shape;282;p25"/>
          <p:cNvSpPr txBox="1"/>
          <p:nvPr>
            <p:ph idx="1" type="body"/>
          </p:nvPr>
        </p:nvSpPr>
        <p:spPr>
          <a:xfrm>
            <a:off x="1691680" y="1124669"/>
            <a:ext cx="6994971" cy="9451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33400" lvl="0" marL="5334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</a:pPr>
            <a:r>
              <a:rPr b="1" lang="es-CL">
                <a:solidFill>
                  <a:schemeClr val="accent2"/>
                </a:solidFill>
              </a:rPr>
              <a:t>CONCATENACION :</a:t>
            </a:r>
            <a:r>
              <a:rPr lang="es-CL"/>
              <a:t> Sentencias de asignación una al lado de la otra. </a:t>
            </a:r>
            <a:endParaRPr/>
          </a:p>
          <a:p>
            <a:pPr indent="-533400" lvl="0" marL="5334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283" name="Google Shape;283;p25"/>
          <p:cNvSpPr/>
          <p:nvPr/>
        </p:nvSpPr>
        <p:spPr>
          <a:xfrm>
            <a:off x="6587996" y="2392811"/>
            <a:ext cx="2357050" cy="3154710"/>
          </a:xfrm>
          <a:prstGeom prst="rect">
            <a:avLst/>
          </a:prstGeom>
          <a:noFill/>
          <a:ln cap="sq" cmpd="sng" w="12700">
            <a:solidFill>
              <a:srgbClr val="70CC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Python</a:t>
            </a:r>
            <a:r>
              <a:rPr b="1" lang="es-CL" sz="2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1" sz="2800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s-CL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x= input(“n°?”)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s-CL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x= int(x)</a:t>
            </a:r>
            <a:endParaRPr b="0"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s-CL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y= input(“n°?”)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s-CL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y= int(y)</a:t>
            </a:r>
            <a:endParaRPr b="0"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s-CL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Z = 2*(x+y)</a:t>
            </a:r>
            <a:endParaRPr b="0"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s-CL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print (″Z= ″, Z)</a:t>
            </a:r>
            <a:endParaRPr b="0"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CC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84" name="Google Shape;284;p25"/>
          <p:cNvGrpSpPr/>
          <p:nvPr/>
        </p:nvGrpSpPr>
        <p:grpSpPr>
          <a:xfrm>
            <a:off x="3491880" y="2221783"/>
            <a:ext cx="1944216" cy="4519585"/>
            <a:chOff x="3491880" y="2221783"/>
            <a:chExt cx="1944216" cy="4519585"/>
          </a:xfrm>
        </p:grpSpPr>
        <p:grpSp>
          <p:nvGrpSpPr>
            <p:cNvPr id="285" name="Google Shape;285;p25"/>
            <p:cNvGrpSpPr/>
            <p:nvPr/>
          </p:nvGrpSpPr>
          <p:grpSpPr>
            <a:xfrm>
              <a:off x="3491880" y="2221783"/>
              <a:ext cx="1944216" cy="4519585"/>
              <a:chOff x="3250922" y="1160140"/>
              <a:chExt cx="2451612" cy="5233571"/>
            </a:xfrm>
          </p:grpSpPr>
          <p:sp>
            <p:nvSpPr>
              <p:cNvPr id="286" name="Google Shape;286;p25"/>
              <p:cNvSpPr/>
              <p:nvPr/>
            </p:nvSpPr>
            <p:spPr>
              <a:xfrm>
                <a:off x="3795723" y="1160140"/>
                <a:ext cx="1362008" cy="477911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b="1" i="0" lang="es-CL" sz="11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INICIO</a:t>
                </a:r>
                <a:endParaRPr/>
              </a:p>
            </p:txBody>
          </p:sp>
          <p:sp>
            <p:nvSpPr>
              <p:cNvPr id="287" name="Google Shape;287;p25"/>
              <p:cNvSpPr/>
              <p:nvPr/>
            </p:nvSpPr>
            <p:spPr>
              <a:xfrm>
                <a:off x="3250922" y="5234602"/>
                <a:ext cx="2451612" cy="356398"/>
              </a:xfrm>
              <a:prstGeom prst="flowChartInputOutpu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s-CL" sz="1400">
                    <a:solidFill>
                      <a:schemeClr val="dk1"/>
                    </a:solidFill>
                    <a:latin typeface="Arial Narrow"/>
                    <a:ea typeface="Arial Narrow"/>
                    <a:cs typeface="Arial Narrow"/>
                    <a:sym typeface="Arial Narrow"/>
                  </a:rPr>
                  <a:t>“Z= ”, z</a:t>
                </a:r>
                <a:endParaRPr b="1" i="0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8" name="Google Shape;288;p25"/>
              <p:cNvSpPr/>
              <p:nvPr/>
            </p:nvSpPr>
            <p:spPr>
              <a:xfrm>
                <a:off x="3795723" y="5915800"/>
                <a:ext cx="1362007" cy="477911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b="1" i="0" lang="es-CL" sz="11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FIN</a:t>
                </a:r>
                <a:endParaRPr b="1" i="0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89" name="Google Shape;289;p25"/>
              <p:cNvCxnSpPr>
                <a:stCxn id="286" idx="4"/>
                <a:endCxn id="290" idx="1"/>
              </p:cNvCxnSpPr>
              <p:nvPr/>
            </p:nvCxnSpPr>
            <p:spPr>
              <a:xfrm>
                <a:off x="4476727" y="1638051"/>
                <a:ext cx="0" cy="280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stealth"/>
              </a:ln>
            </p:spPr>
          </p:cxnSp>
          <p:cxnSp>
            <p:nvCxnSpPr>
              <p:cNvPr id="291" name="Google Shape;291;p25"/>
              <p:cNvCxnSpPr/>
              <p:nvPr/>
            </p:nvCxnSpPr>
            <p:spPr>
              <a:xfrm>
                <a:off x="4476727" y="2318530"/>
                <a:ext cx="0" cy="31271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stealth"/>
              </a:ln>
            </p:spPr>
          </p:cxnSp>
          <p:cxnSp>
            <p:nvCxnSpPr>
              <p:cNvPr id="292" name="Google Shape;292;p25"/>
              <p:cNvCxnSpPr>
                <a:stCxn id="293" idx="4"/>
                <a:endCxn id="294" idx="1"/>
              </p:cNvCxnSpPr>
              <p:nvPr/>
            </p:nvCxnSpPr>
            <p:spPr>
              <a:xfrm>
                <a:off x="4476726" y="2974031"/>
                <a:ext cx="0" cy="288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stealth"/>
              </a:ln>
            </p:spPr>
          </p:cxnSp>
          <p:cxnSp>
            <p:nvCxnSpPr>
              <p:cNvPr id="295" name="Google Shape;295;p25"/>
              <p:cNvCxnSpPr>
                <a:stCxn id="287" idx="4"/>
                <a:endCxn id="288" idx="0"/>
              </p:cNvCxnSpPr>
              <p:nvPr/>
            </p:nvCxnSpPr>
            <p:spPr>
              <a:xfrm>
                <a:off x="4476728" y="5591000"/>
                <a:ext cx="0" cy="324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stealth"/>
              </a:ln>
            </p:spPr>
          </p:cxnSp>
          <p:sp>
            <p:nvSpPr>
              <p:cNvPr id="290" name="Google Shape;290;p25"/>
              <p:cNvSpPr/>
              <p:nvPr/>
            </p:nvSpPr>
            <p:spPr>
              <a:xfrm>
                <a:off x="3250922" y="1918692"/>
                <a:ext cx="2451612" cy="356398"/>
              </a:xfrm>
              <a:prstGeom prst="flowChartInputOutpu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 Narrow"/>
                  <a:buNone/>
                </a:pPr>
                <a:r>
                  <a:rPr b="1" lang="es-CL" sz="1400">
                    <a:solidFill>
                      <a:schemeClr val="dk1"/>
                    </a:solidFill>
                    <a:latin typeface="Arial Narrow"/>
                    <a:ea typeface="Arial Narrow"/>
                    <a:cs typeface="Arial Narrow"/>
                    <a:sym typeface="Arial Narrow"/>
                  </a:rPr>
                  <a:t>“Ingresa nº:”</a:t>
                </a:r>
                <a:endParaRPr b="1" sz="1400">
                  <a:solidFill>
                    <a:schemeClr val="dk1"/>
                  </a:solidFill>
                  <a:latin typeface="Arial Narrow"/>
                  <a:ea typeface="Arial Narrow"/>
                  <a:cs typeface="Arial Narrow"/>
                  <a:sym typeface="Arial Narrow"/>
                </a:endParaRPr>
              </a:p>
            </p:txBody>
          </p:sp>
          <p:sp>
            <p:nvSpPr>
              <p:cNvPr id="293" name="Google Shape;293;p25"/>
              <p:cNvSpPr/>
              <p:nvPr/>
            </p:nvSpPr>
            <p:spPr>
              <a:xfrm>
                <a:off x="3432521" y="2617633"/>
                <a:ext cx="2088409" cy="356398"/>
              </a:xfrm>
              <a:prstGeom prst="flowChartInputOutpu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None/>
                </a:pPr>
                <a:r>
                  <a:rPr b="0" lang="es-CL" sz="1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x</a:t>
                </a:r>
                <a:endParaRPr b="0" i="0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6" name="Google Shape;296;p25"/>
              <p:cNvSpPr/>
              <p:nvPr/>
            </p:nvSpPr>
            <p:spPr>
              <a:xfrm>
                <a:off x="3531226" y="4563178"/>
                <a:ext cx="1891001" cy="356398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None/>
                </a:pPr>
                <a:r>
                  <a:rPr b="0" lang="es-CL" sz="1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Z</a:t>
                </a:r>
                <a:r>
                  <a:rPr b="0" i="0" lang="es-CL" sz="14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=2*(x+y)</a:t>
                </a:r>
                <a:endParaRPr/>
              </a:p>
            </p:txBody>
          </p:sp>
          <p:cxnSp>
            <p:nvCxnSpPr>
              <p:cNvPr id="297" name="Google Shape;297;p25"/>
              <p:cNvCxnSpPr>
                <a:stCxn id="296" idx="2"/>
                <a:endCxn id="287" idx="1"/>
              </p:cNvCxnSpPr>
              <p:nvPr/>
            </p:nvCxnSpPr>
            <p:spPr>
              <a:xfrm>
                <a:off x="4476727" y="4919576"/>
                <a:ext cx="0" cy="315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stealth"/>
              </a:ln>
            </p:spPr>
          </p:cxnSp>
        </p:grpSp>
        <p:cxnSp>
          <p:nvCxnSpPr>
            <p:cNvPr id="298" name="Google Shape;298;p25"/>
            <p:cNvCxnSpPr>
              <a:stCxn id="294" idx="4"/>
            </p:cNvCxnSpPr>
            <p:nvPr/>
          </p:nvCxnSpPr>
          <p:spPr>
            <a:xfrm>
              <a:off x="4463988" y="4344638"/>
              <a:ext cx="0" cy="3075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sp>
          <p:nvSpPr>
            <p:cNvPr id="294" name="Google Shape;294;p25"/>
            <p:cNvSpPr/>
            <p:nvPr/>
          </p:nvSpPr>
          <p:spPr>
            <a:xfrm>
              <a:off x="3491880" y="4036861"/>
              <a:ext cx="1944216" cy="307777"/>
            </a:xfrm>
            <a:prstGeom prst="flowChartInputOutpu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 Narrow"/>
                <a:buNone/>
              </a:pPr>
              <a:r>
                <a:rPr b="1" lang="es-CL" sz="1400">
                  <a:solidFill>
                    <a:schemeClr val="dk1"/>
                  </a:solidFill>
                  <a:latin typeface="Arial Narrow"/>
                  <a:ea typeface="Arial Narrow"/>
                  <a:cs typeface="Arial Narrow"/>
                  <a:sym typeface="Arial Narrow"/>
                </a:rPr>
                <a:t>“Ingresa nº:”</a:t>
              </a:r>
              <a:endParaRPr/>
            </a:p>
          </p:txBody>
        </p:sp>
        <p:cxnSp>
          <p:nvCxnSpPr>
            <p:cNvPr id="299" name="Google Shape;299;p25"/>
            <p:cNvCxnSpPr>
              <a:stCxn id="300" idx="4"/>
              <a:endCxn id="296" idx="0"/>
            </p:cNvCxnSpPr>
            <p:nvPr/>
          </p:nvCxnSpPr>
          <p:spPr>
            <a:xfrm>
              <a:off x="4454850" y="4933350"/>
              <a:ext cx="9000" cy="2271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sp>
          <p:nvSpPr>
            <p:cNvPr id="300" name="Google Shape;300;p25"/>
            <p:cNvSpPr/>
            <p:nvPr/>
          </p:nvSpPr>
          <p:spPr>
            <a:xfrm>
              <a:off x="3626758" y="4625573"/>
              <a:ext cx="1656183" cy="307777"/>
            </a:xfrm>
            <a:prstGeom prst="flowChartInputOutpu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0" i="0" lang="es-CL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endParaRPr/>
            </a:p>
          </p:txBody>
        </p:sp>
      </p:grpSp>
      <p:cxnSp>
        <p:nvCxnSpPr>
          <p:cNvPr id="301" name="Google Shape;301;p25"/>
          <p:cNvCxnSpPr/>
          <p:nvPr/>
        </p:nvCxnSpPr>
        <p:spPr>
          <a:xfrm>
            <a:off x="5004047" y="3068960"/>
            <a:ext cx="360040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cxnSp>
        <p:nvCxnSpPr>
          <p:cNvPr id="302" name="Google Shape;302;p25"/>
          <p:cNvCxnSpPr/>
          <p:nvPr/>
        </p:nvCxnSpPr>
        <p:spPr>
          <a:xfrm>
            <a:off x="5004047" y="4221088"/>
            <a:ext cx="360040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cxnSp>
        <p:nvCxnSpPr>
          <p:cNvPr id="303" name="Google Shape;303;p25"/>
          <p:cNvCxnSpPr/>
          <p:nvPr/>
        </p:nvCxnSpPr>
        <p:spPr>
          <a:xfrm>
            <a:off x="5004047" y="5949280"/>
            <a:ext cx="360040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cxnSp>
        <p:nvCxnSpPr>
          <p:cNvPr id="304" name="Google Shape;304;p25"/>
          <p:cNvCxnSpPr/>
          <p:nvPr/>
        </p:nvCxnSpPr>
        <p:spPr>
          <a:xfrm flipH="1">
            <a:off x="4955070" y="3634025"/>
            <a:ext cx="379165" cy="1135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cxnSp>
        <p:nvCxnSpPr>
          <p:cNvPr id="305" name="Google Shape;305;p25"/>
          <p:cNvCxnSpPr/>
          <p:nvPr/>
        </p:nvCxnSpPr>
        <p:spPr>
          <a:xfrm flipH="1">
            <a:off x="4902356" y="4778079"/>
            <a:ext cx="379165" cy="1135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6"/>
          <p:cNvSpPr txBox="1"/>
          <p:nvPr>
            <p:ph idx="1" type="body"/>
          </p:nvPr>
        </p:nvSpPr>
        <p:spPr>
          <a:xfrm>
            <a:off x="1835696" y="905141"/>
            <a:ext cx="6670923" cy="55481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33400" lvl="0" marL="533400" rtl="0" algn="l"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1400"/>
              <a:buFont typeface="Noto Sans Symbols"/>
              <a:buNone/>
            </a:pPr>
            <a:r>
              <a:rPr lang="es-CL">
                <a:solidFill>
                  <a:srgbClr val="FF6600"/>
                </a:solidFill>
              </a:rPr>
              <a:t>Ejemplo:</a:t>
            </a:r>
            <a:endParaRPr/>
          </a:p>
          <a:p>
            <a:pPr indent="-381000" lvl="1" marL="838200" rtl="0" algn="l">
              <a:spcBef>
                <a:spcPts val="480"/>
              </a:spcBef>
              <a:spcAft>
                <a:spcPts val="0"/>
              </a:spcAft>
              <a:buClr>
                <a:srgbClr val="21218A"/>
              </a:buClr>
              <a:buSzPts val="1680"/>
              <a:buFont typeface="Arial"/>
              <a:buNone/>
            </a:pPr>
            <a:r>
              <a:rPr b="1" lang="es-CL" sz="2400">
                <a:solidFill>
                  <a:srgbClr val="21218A"/>
                </a:solidFill>
              </a:rPr>
              <a:t>1) Suma dos números ingresados por el usuario</a:t>
            </a:r>
            <a:endParaRPr/>
          </a:p>
          <a:p>
            <a:pPr indent="-381000" lvl="1" marL="838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Arial"/>
              <a:buNone/>
            </a:pPr>
            <a:r>
              <a:t/>
            </a:r>
            <a:endParaRPr sz="2400"/>
          </a:p>
          <a:p>
            <a:pPr indent="-381000" lvl="1" marL="838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✔"/>
            </a:pPr>
            <a:r>
              <a:rPr lang="es-CL"/>
              <a:t>Entrada: n, j</a:t>
            </a:r>
            <a:endParaRPr/>
          </a:p>
          <a:p>
            <a:pPr indent="-381000" lvl="1" marL="838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✔"/>
            </a:pPr>
            <a:r>
              <a:rPr lang="es-CL"/>
              <a:t>Proceso: z 🡨 n + j</a:t>
            </a:r>
            <a:endParaRPr/>
          </a:p>
          <a:p>
            <a:pPr indent="-381000" lvl="1" marL="838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✔"/>
            </a:pPr>
            <a:r>
              <a:rPr lang="es-CL"/>
              <a:t>Salida: z</a:t>
            </a:r>
            <a:endParaRPr/>
          </a:p>
          <a:p>
            <a:pPr indent="-533400" lvl="0" marL="5334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t/>
            </a:r>
            <a:endParaRPr sz="2000">
              <a:solidFill>
                <a:schemeClr val="accent2"/>
              </a:solidFill>
            </a:endParaRPr>
          </a:p>
          <a:p>
            <a:pPr indent="-533400" lvl="0" marL="53340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000"/>
              <a:buNone/>
            </a:pPr>
            <a:r>
              <a:rPr lang="es-CL" sz="2000">
                <a:solidFill>
                  <a:schemeClr val="accent2"/>
                </a:solidFill>
              </a:rPr>
              <a:t>Pseudo-código:</a:t>
            </a:r>
            <a:endParaRPr/>
          </a:p>
          <a:p>
            <a:pPr indent="-381000" lvl="0" marL="43815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</a:pPr>
            <a:r>
              <a:rPr lang="es-CL" sz="1800"/>
              <a:t>      </a:t>
            </a:r>
            <a:r>
              <a:rPr lang="es-CL" sz="1400"/>
              <a:t>Inicio</a:t>
            </a:r>
            <a:endParaRPr/>
          </a:p>
          <a:p>
            <a:pPr indent="-381000" lvl="0" marL="43815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</a:pPr>
            <a:r>
              <a:rPr lang="es-CL" sz="1400"/>
              <a:t>	    Pedir ingreso del primer número y guardarlo en variable  </a:t>
            </a:r>
            <a:r>
              <a:rPr b="1" lang="es-CL" sz="1400">
                <a:solidFill>
                  <a:srgbClr val="C00000"/>
                </a:solidFill>
              </a:rPr>
              <a:t>n</a:t>
            </a:r>
            <a:endParaRPr/>
          </a:p>
          <a:p>
            <a:pPr indent="-381000" lvl="1" marL="838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60"/>
              <a:buNone/>
            </a:pPr>
            <a:r>
              <a:rPr lang="es-CL" sz="1800"/>
              <a:t>   </a:t>
            </a:r>
            <a:r>
              <a:rPr lang="es-CL" sz="1400"/>
              <a:t>Pedir ingreso del segundo número y guardarlo en variable</a:t>
            </a:r>
            <a:r>
              <a:rPr b="1" lang="es-CL" sz="1400">
                <a:solidFill>
                  <a:srgbClr val="C00000"/>
                </a:solidFill>
              </a:rPr>
              <a:t> j</a:t>
            </a:r>
            <a:endParaRPr/>
          </a:p>
          <a:p>
            <a:pPr indent="-381000" lvl="0" marL="43815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</a:pPr>
            <a:r>
              <a:rPr lang="es-CL" sz="1400"/>
              <a:t> 	    Sumar el contenido de </a:t>
            </a:r>
            <a:r>
              <a:rPr b="1" lang="es-CL" sz="1400">
                <a:solidFill>
                  <a:srgbClr val="C00000"/>
                </a:solidFill>
              </a:rPr>
              <a:t>n</a:t>
            </a:r>
            <a:r>
              <a:rPr lang="es-CL" sz="1400"/>
              <a:t> y </a:t>
            </a:r>
            <a:r>
              <a:rPr b="1" lang="es-CL" sz="1400">
                <a:solidFill>
                  <a:srgbClr val="C00000"/>
                </a:solidFill>
              </a:rPr>
              <a:t>j</a:t>
            </a:r>
            <a:r>
              <a:rPr lang="es-CL" sz="1400"/>
              <a:t> asignándolo a la variable </a:t>
            </a:r>
            <a:r>
              <a:rPr b="1" lang="es-CL" sz="1400">
                <a:solidFill>
                  <a:srgbClr val="C00000"/>
                </a:solidFill>
              </a:rPr>
              <a:t>z</a:t>
            </a:r>
            <a:endParaRPr/>
          </a:p>
          <a:p>
            <a:pPr indent="-381000" lvl="0" marL="43815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</a:pPr>
            <a:r>
              <a:rPr lang="es-CL" sz="1400"/>
              <a:t>	    Mostrar en pantalla el valor almacenado en </a:t>
            </a:r>
            <a:r>
              <a:rPr b="1" lang="es-CL" sz="1400">
                <a:solidFill>
                  <a:srgbClr val="C00000"/>
                </a:solidFill>
              </a:rPr>
              <a:t>z</a:t>
            </a:r>
            <a:r>
              <a:rPr lang="es-CL" sz="1400"/>
              <a:t>         </a:t>
            </a:r>
            <a:endParaRPr/>
          </a:p>
          <a:p>
            <a:pPr indent="-381000" lvl="0" marL="43815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</a:pPr>
            <a:r>
              <a:rPr lang="es-CL" sz="1400"/>
              <a:t>      Fin</a:t>
            </a:r>
            <a:endParaRPr/>
          </a:p>
          <a:p>
            <a:pPr indent="0" lvl="1" marL="457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/>
          </a:p>
        </p:txBody>
      </p:sp>
      <p:grpSp>
        <p:nvGrpSpPr>
          <p:cNvPr id="312" name="Google Shape;312;p26"/>
          <p:cNvGrpSpPr/>
          <p:nvPr/>
        </p:nvGrpSpPr>
        <p:grpSpPr>
          <a:xfrm>
            <a:off x="4723904" y="1844824"/>
            <a:ext cx="3497262" cy="1184275"/>
            <a:chOff x="3031" y="1752"/>
            <a:chExt cx="2203" cy="746"/>
          </a:xfrm>
        </p:grpSpPr>
        <p:sp>
          <p:nvSpPr>
            <p:cNvPr id="313" name="Google Shape;313;p26"/>
            <p:cNvSpPr/>
            <p:nvPr/>
          </p:nvSpPr>
          <p:spPr>
            <a:xfrm>
              <a:off x="3833" y="1842"/>
              <a:ext cx="817" cy="408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rgbClr val="70CC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2800">
                <a:solidFill>
                  <a:srgbClr val="CC99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14" name="Google Shape;314;p26"/>
            <p:cNvCxnSpPr/>
            <p:nvPr/>
          </p:nvCxnSpPr>
          <p:spPr>
            <a:xfrm>
              <a:off x="3379" y="2069"/>
              <a:ext cx="409" cy="0"/>
            </a:xfrm>
            <a:prstGeom prst="straightConnector1">
              <a:avLst/>
            </a:prstGeom>
            <a:noFill/>
            <a:ln cap="flat" cmpd="sng" w="38100">
              <a:solidFill>
                <a:srgbClr val="70CC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315" name="Google Shape;315;p26"/>
            <p:cNvSpPr txBox="1"/>
            <p:nvPr/>
          </p:nvSpPr>
          <p:spPr>
            <a:xfrm>
              <a:off x="3107" y="2115"/>
              <a:ext cx="65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CL" sz="1800">
                  <a:solidFill>
                    <a:schemeClr val="accent2"/>
                  </a:solidFill>
                  <a:latin typeface="Arial"/>
                  <a:ea typeface="Arial"/>
                  <a:cs typeface="Arial"/>
                  <a:sym typeface="Arial"/>
                </a:rPr>
                <a:t>Entrada</a:t>
              </a:r>
              <a:endParaRPr b="1" sz="1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" name="Google Shape;316;p26"/>
            <p:cNvSpPr txBox="1"/>
            <p:nvPr/>
          </p:nvSpPr>
          <p:spPr>
            <a:xfrm>
              <a:off x="4694" y="2115"/>
              <a:ext cx="5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CL" sz="1800">
                  <a:solidFill>
                    <a:schemeClr val="accent2"/>
                  </a:solidFill>
                  <a:latin typeface="Arial"/>
                  <a:ea typeface="Arial"/>
                  <a:cs typeface="Arial"/>
                  <a:sym typeface="Arial"/>
                </a:rPr>
                <a:t>Salida</a:t>
              </a:r>
              <a:endParaRPr b="1" sz="1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" name="Google Shape;317;p26"/>
            <p:cNvSpPr txBox="1"/>
            <p:nvPr/>
          </p:nvSpPr>
          <p:spPr>
            <a:xfrm>
              <a:off x="3909" y="2267"/>
              <a:ext cx="684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CL" sz="1800">
                  <a:solidFill>
                    <a:schemeClr val="accent2"/>
                  </a:solidFill>
                  <a:latin typeface="Arial"/>
                  <a:ea typeface="Arial"/>
                  <a:cs typeface="Arial"/>
                  <a:sym typeface="Arial"/>
                </a:rPr>
                <a:t>Proceso</a:t>
              </a:r>
              <a:endParaRPr b="1" sz="1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" name="Google Shape;318;p26"/>
            <p:cNvSpPr/>
            <p:nvPr/>
          </p:nvSpPr>
          <p:spPr>
            <a:xfrm>
              <a:off x="3424" y="1933"/>
              <a:ext cx="1315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1" marL="457200" marR="0" rtl="0" algn="ctr"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1400"/>
                <a:buFont typeface="Noto Sans Symbols"/>
                <a:buNone/>
              </a:pPr>
              <a:r>
                <a:rPr b="1" i="0" lang="es-CL" sz="2000" u="none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z </a:t>
              </a:r>
              <a:r>
                <a:rPr b="1" i="0" lang="es-CL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🡨</a:t>
              </a:r>
              <a:r>
                <a:rPr b="1" i="0" lang="es-CL" sz="2000" u="none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 n </a:t>
              </a:r>
              <a:r>
                <a:rPr b="1" i="0" lang="es-CL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+</a:t>
              </a:r>
              <a:r>
                <a:rPr b="1" i="0" lang="es-CL" sz="2000" u="none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 j</a:t>
              </a:r>
              <a:endParaRPr b="1" i="0" sz="20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" name="Google Shape;319;p26"/>
            <p:cNvSpPr/>
            <p:nvPr/>
          </p:nvSpPr>
          <p:spPr>
            <a:xfrm>
              <a:off x="3031" y="1752"/>
              <a:ext cx="733" cy="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1" marL="457200" marR="0" rtl="0" algn="ctr"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1960"/>
                <a:buFont typeface="Noto Sans Symbols"/>
                <a:buNone/>
              </a:pPr>
              <a:r>
                <a:rPr b="1" i="0" lang="es-CL" sz="2800" u="none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n</a:t>
              </a:r>
              <a:r>
                <a:rPr b="1" i="0" lang="es-CL" sz="2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, </a:t>
              </a:r>
              <a:r>
                <a:rPr b="1" i="0" lang="es-CL" sz="2800" u="none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j</a:t>
              </a:r>
              <a:endParaRPr/>
            </a:p>
          </p:txBody>
        </p:sp>
        <p:cxnSp>
          <p:nvCxnSpPr>
            <p:cNvPr id="320" name="Google Shape;320;p26"/>
            <p:cNvCxnSpPr/>
            <p:nvPr/>
          </p:nvCxnSpPr>
          <p:spPr>
            <a:xfrm>
              <a:off x="4694" y="2069"/>
              <a:ext cx="409" cy="0"/>
            </a:xfrm>
            <a:prstGeom prst="straightConnector1">
              <a:avLst/>
            </a:prstGeom>
            <a:noFill/>
            <a:ln cap="flat" cmpd="sng" w="38100">
              <a:solidFill>
                <a:srgbClr val="70CC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321" name="Google Shape;321;p26"/>
            <p:cNvSpPr/>
            <p:nvPr/>
          </p:nvSpPr>
          <p:spPr>
            <a:xfrm>
              <a:off x="4568" y="1752"/>
              <a:ext cx="520" cy="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1" marL="457200" marR="0" rtl="0" algn="ctr"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1960"/>
                <a:buFont typeface="Noto Sans Symbols"/>
                <a:buNone/>
              </a:pPr>
              <a:r>
                <a:rPr b="1" i="0" lang="es-CL" sz="2800" u="none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z</a:t>
              </a:r>
              <a:endParaRPr/>
            </a:p>
          </p:txBody>
        </p:sp>
      </p:grpSp>
    </p:spTree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rgbClr val="21218A"/>
                </a:solidFill>
              </a:rPr>
              <a:t>Representación en diagrama de flujo</a:t>
            </a:r>
            <a:endParaRPr/>
          </a:p>
        </p:txBody>
      </p:sp>
      <p:sp>
        <p:nvSpPr>
          <p:cNvPr id="327" name="Google Shape;327;p27"/>
          <p:cNvSpPr/>
          <p:nvPr/>
        </p:nvSpPr>
        <p:spPr>
          <a:xfrm>
            <a:off x="3995936" y="1224737"/>
            <a:ext cx="1224136" cy="476071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es-CL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INICIO</a:t>
            </a:r>
            <a:endParaRPr/>
          </a:p>
        </p:txBody>
      </p:sp>
      <p:sp>
        <p:nvSpPr>
          <p:cNvPr id="328" name="Google Shape;328;p27"/>
          <p:cNvSpPr/>
          <p:nvPr/>
        </p:nvSpPr>
        <p:spPr>
          <a:xfrm>
            <a:off x="3707904" y="4149080"/>
            <a:ext cx="1800200" cy="338554"/>
          </a:xfrm>
          <a:prstGeom prst="flowChartInputOutpu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lang="es-CL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z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27"/>
          <p:cNvSpPr/>
          <p:nvPr/>
        </p:nvSpPr>
        <p:spPr>
          <a:xfrm>
            <a:off x="3995936" y="4797152"/>
            <a:ext cx="1224136" cy="476071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es-CL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</a:t>
            </a:r>
            <a:endParaRPr/>
          </a:p>
        </p:txBody>
      </p:sp>
      <p:cxnSp>
        <p:nvCxnSpPr>
          <p:cNvPr id="330" name="Google Shape;330;p27"/>
          <p:cNvCxnSpPr>
            <a:stCxn id="327" idx="4"/>
            <a:endCxn id="331" idx="1"/>
          </p:cNvCxnSpPr>
          <p:nvPr/>
        </p:nvCxnSpPr>
        <p:spPr>
          <a:xfrm>
            <a:off x="4608004" y="1700808"/>
            <a:ext cx="0" cy="410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32" name="Google Shape;332;p27"/>
          <p:cNvCxnSpPr/>
          <p:nvPr/>
        </p:nvCxnSpPr>
        <p:spPr>
          <a:xfrm>
            <a:off x="4608004" y="2464863"/>
            <a:ext cx="0" cy="31606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33" name="Google Shape;333;p27"/>
          <p:cNvCxnSpPr>
            <a:stCxn id="334" idx="4"/>
            <a:endCxn id="335" idx="0"/>
          </p:cNvCxnSpPr>
          <p:nvPr/>
        </p:nvCxnSpPr>
        <p:spPr>
          <a:xfrm>
            <a:off x="4608004" y="3119482"/>
            <a:ext cx="0" cy="309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36" name="Google Shape;336;p27"/>
          <p:cNvCxnSpPr>
            <a:stCxn id="328" idx="4"/>
            <a:endCxn id="329" idx="0"/>
          </p:cNvCxnSpPr>
          <p:nvPr/>
        </p:nvCxnSpPr>
        <p:spPr>
          <a:xfrm>
            <a:off x="4608004" y="4487634"/>
            <a:ext cx="0" cy="309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331" name="Google Shape;331;p27"/>
          <p:cNvSpPr/>
          <p:nvPr/>
        </p:nvSpPr>
        <p:spPr>
          <a:xfrm>
            <a:off x="3707904" y="2110920"/>
            <a:ext cx="1800200" cy="338554"/>
          </a:xfrm>
          <a:prstGeom prst="flowChartInputOutpu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s-CL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/>
          </a:p>
        </p:txBody>
      </p:sp>
      <p:sp>
        <p:nvSpPr>
          <p:cNvPr id="334" name="Google Shape;334;p27"/>
          <p:cNvSpPr/>
          <p:nvPr/>
        </p:nvSpPr>
        <p:spPr>
          <a:xfrm>
            <a:off x="3707904" y="2780928"/>
            <a:ext cx="1800200" cy="338554"/>
          </a:xfrm>
          <a:prstGeom prst="flowChartInputOutpu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s-CL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</a:t>
            </a:r>
            <a:endParaRPr/>
          </a:p>
        </p:txBody>
      </p:sp>
      <p:sp>
        <p:nvSpPr>
          <p:cNvPr id="335" name="Google Shape;335;p27"/>
          <p:cNvSpPr/>
          <p:nvPr/>
        </p:nvSpPr>
        <p:spPr>
          <a:xfrm>
            <a:off x="3995936" y="3429000"/>
            <a:ext cx="1224136" cy="338554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lang="es-CL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z</a:t>
            </a:r>
            <a:r>
              <a:rPr b="0" i="0" lang="es-CL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=n+j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7" name="Google Shape;337;p27"/>
          <p:cNvCxnSpPr>
            <a:stCxn id="335" idx="2"/>
            <a:endCxn id="328" idx="1"/>
          </p:cNvCxnSpPr>
          <p:nvPr/>
        </p:nvCxnSpPr>
        <p:spPr>
          <a:xfrm>
            <a:off x="4608004" y="3767554"/>
            <a:ext cx="0" cy="381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38" name="Google Shape;338;p27"/>
          <p:cNvCxnSpPr/>
          <p:nvPr/>
        </p:nvCxnSpPr>
        <p:spPr>
          <a:xfrm flipH="1">
            <a:off x="5128939" y="2971029"/>
            <a:ext cx="379165" cy="1135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cxnSp>
        <p:nvCxnSpPr>
          <p:cNvPr id="339" name="Google Shape;339;p27"/>
          <p:cNvCxnSpPr/>
          <p:nvPr/>
        </p:nvCxnSpPr>
        <p:spPr>
          <a:xfrm flipH="1">
            <a:off x="5128939" y="2280197"/>
            <a:ext cx="379165" cy="1135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cxnSp>
        <p:nvCxnSpPr>
          <p:cNvPr id="340" name="Google Shape;340;p27"/>
          <p:cNvCxnSpPr/>
          <p:nvPr/>
        </p:nvCxnSpPr>
        <p:spPr>
          <a:xfrm>
            <a:off x="5148064" y="4325971"/>
            <a:ext cx="360040" cy="1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</p:spTree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8"/>
          <p:cNvSpPr txBox="1"/>
          <p:nvPr>
            <p:ph idx="1" type="body"/>
          </p:nvPr>
        </p:nvSpPr>
        <p:spPr>
          <a:xfrm>
            <a:off x="1463179" y="764704"/>
            <a:ext cx="7667625" cy="566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33400" lvl="0" marL="533400" rtl="0" algn="l"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1400"/>
              <a:buFont typeface="Noto Sans Symbols"/>
              <a:buNone/>
            </a:pPr>
            <a:r>
              <a:rPr lang="es-CL">
                <a:solidFill>
                  <a:srgbClr val="FF6600"/>
                </a:solidFill>
              </a:rPr>
              <a:t>Ejemplo:</a:t>
            </a:r>
            <a:endParaRPr/>
          </a:p>
          <a:p>
            <a:pPr indent="-381000" lvl="1" marL="838200" rtl="0" algn="l">
              <a:spcBef>
                <a:spcPts val="480"/>
              </a:spcBef>
              <a:spcAft>
                <a:spcPts val="0"/>
              </a:spcAft>
              <a:buClr>
                <a:srgbClr val="21218A"/>
              </a:buClr>
              <a:buSzPts val="1680"/>
              <a:buFont typeface="Arial"/>
              <a:buNone/>
            </a:pPr>
            <a:r>
              <a:rPr b="1" lang="es-CL" sz="2400">
                <a:solidFill>
                  <a:srgbClr val="21218A"/>
                </a:solidFill>
              </a:rPr>
              <a:t>2) Calcular el perímetro de una circunferencia</a:t>
            </a:r>
            <a:endParaRPr/>
          </a:p>
          <a:p>
            <a:pPr indent="-381000" lvl="1" marL="838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Arial"/>
              <a:buNone/>
            </a:pPr>
            <a:r>
              <a:t/>
            </a:r>
            <a:endParaRPr sz="2400"/>
          </a:p>
          <a:p>
            <a:pPr indent="-381000" lvl="1" marL="838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✔"/>
            </a:pPr>
            <a:r>
              <a:rPr lang="es-CL"/>
              <a:t>Entrada: r, Pi🡨3,1416</a:t>
            </a:r>
            <a:endParaRPr/>
          </a:p>
          <a:p>
            <a:pPr indent="-381000" lvl="1" marL="838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✔"/>
            </a:pPr>
            <a:r>
              <a:rPr lang="es-CL"/>
              <a:t>Proceso: 2 * Pi * r</a:t>
            </a:r>
            <a:endParaRPr/>
          </a:p>
          <a:p>
            <a:pPr indent="-381000" lvl="1" marL="838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✔"/>
            </a:pPr>
            <a:r>
              <a:rPr lang="es-CL"/>
              <a:t>Salida: P</a:t>
            </a:r>
            <a:endParaRPr/>
          </a:p>
          <a:p>
            <a:pPr indent="-533400" lvl="0" marL="533400" rtl="0" algn="l">
              <a:spcBef>
                <a:spcPts val="480"/>
              </a:spcBef>
              <a:spcAft>
                <a:spcPts val="0"/>
              </a:spcAft>
              <a:buClr>
                <a:srgbClr val="FF6600"/>
              </a:buClr>
              <a:buSzPts val="1200"/>
              <a:buFont typeface="Noto Sans Symbols"/>
              <a:buNone/>
            </a:pPr>
            <a:r>
              <a:rPr lang="es-CL" sz="2400">
                <a:solidFill>
                  <a:srgbClr val="FF6600"/>
                </a:solidFill>
              </a:rPr>
              <a:t>    </a:t>
            </a:r>
            <a:endParaRPr/>
          </a:p>
          <a:p>
            <a:pPr indent="-533400" lvl="0" marL="533400" rtl="0" algn="l">
              <a:spcBef>
                <a:spcPts val="480"/>
              </a:spcBef>
              <a:spcAft>
                <a:spcPts val="0"/>
              </a:spcAft>
              <a:buClr>
                <a:srgbClr val="FF6600"/>
              </a:buClr>
              <a:buSzPts val="1200"/>
              <a:buFont typeface="Noto Sans Symbols"/>
              <a:buNone/>
            </a:pPr>
            <a:r>
              <a:rPr lang="es-CL" sz="2400">
                <a:solidFill>
                  <a:srgbClr val="FF6600"/>
                </a:solidFill>
              </a:rPr>
              <a:t>	</a:t>
            </a:r>
            <a:r>
              <a:rPr lang="es-CL" sz="2400">
                <a:solidFill>
                  <a:schemeClr val="accent2"/>
                </a:solidFill>
              </a:rPr>
              <a:t>Pseudo-código:</a:t>
            </a:r>
            <a:endParaRPr/>
          </a:p>
          <a:p>
            <a:pPr indent="-381000" lvl="1" marL="838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</a:pPr>
            <a:r>
              <a:rPr lang="es-CL"/>
              <a:t>      Inicio</a:t>
            </a:r>
            <a:endParaRPr/>
          </a:p>
          <a:p>
            <a:pPr indent="-381000" lvl="1" marL="838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</a:pPr>
            <a:r>
              <a:rPr lang="es-CL"/>
              <a:t>		   Asignar 3,1416 a constante Pi</a:t>
            </a:r>
            <a:endParaRPr/>
          </a:p>
          <a:p>
            <a:pPr indent="-381000" lvl="1" marL="838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</a:pPr>
            <a:r>
              <a:rPr lang="es-CL"/>
              <a:t>	    Pedir radio y guardarlo en variable  r</a:t>
            </a:r>
            <a:endParaRPr/>
          </a:p>
          <a:p>
            <a:pPr indent="-381000" lvl="1" marL="838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</a:pPr>
            <a:r>
              <a:rPr lang="es-CL"/>
              <a:t> 	    Ejecutar la operación 2 * Pi * r y guardar este valor en P</a:t>
            </a:r>
            <a:endParaRPr/>
          </a:p>
          <a:p>
            <a:pPr indent="-381000" lvl="1" marL="838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</a:pPr>
            <a:r>
              <a:rPr lang="es-CL"/>
              <a:t>		   Mostrar en pantalla el valor almacenado en P         </a:t>
            </a:r>
            <a:endParaRPr/>
          </a:p>
          <a:p>
            <a:pPr indent="-381000" lvl="1" marL="838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</a:pPr>
            <a:r>
              <a:rPr lang="es-CL"/>
              <a:t>      Fin</a:t>
            </a:r>
            <a:endParaRPr/>
          </a:p>
        </p:txBody>
      </p:sp>
      <p:grpSp>
        <p:nvGrpSpPr>
          <p:cNvPr id="347" name="Google Shape;347;p28"/>
          <p:cNvGrpSpPr/>
          <p:nvPr/>
        </p:nvGrpSpPr>
        <p:grpSpPr>
          <a:xfrm>
            <a:off x="4932040" y="2492896"/>
            <a:ext cx="3376612" cy="1184275"/>
            <a:chOff x="3107" y="1752"/>
            <a:chExt cx="2127" cy="746"/>
          </a:xfrm>
        </p:grpSpPr>
        <p:sp>
          <p:nvSpPr>
            <p:cNvPr id="348" name="Google Shape;348;p28"/>
            <p:cNvSpPr/>
            <p:nvPr/>
          </p:nvSpPr>
          <p:spPr>
            <a:xfrm>
              <a:off x="3833" y="1842"/>
              <a:ext cx="817" cy="408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rgbClr val="70CC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2800">
                <a:solidFill>
                  <a:srgbClr val="CC99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49" name="Google Shape;349;p28"/>
            <p:cNvCxnSpPr/>
            <p:nvPr/>
          </p:nvCxnSpPr>
          <p:spPr>
            <a:xfrm>
              <a:off x="3379" y="2069"/>
              <a:ext cx="409" cy="0"/>
            </a:xfrm>
            <a:prstGeom prst="straightConnector1">
              <a:avLst/>
            </a:prstGeom>
            <a:noFill/>
            <a:ln cap="flat" cmpd="sng" w="38100">
              <a:solidFill>
                <a:srgbClr val="70CC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350" name="Google Shape;350;p28"/>
            <p:cNvSpPr txBox="1"/>
            <p:nvPr/>
          </p:nvSpPr>
          <p:spPr>
            <a:xfrm>
              <a:off x="3107" y="2115"/>
              <a:ext cx="65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CL" sz="1800">
                  <a:solidFill>
                    <a:schemeClr val="accent2"/>
                  </a:solidFill>
                  <a:latin typeface="Arial"/>
                  <a:ea typeface="Arial"/>
                  <a:cs typeface="Arial"/>
                  <a:sym typeface="Arial"/>
                </a:rPr>
                <a:t>Entrada</a:t>
              </a:r>
              <a:endParaRPr b="1" sz="1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" name="Google Shape;351;p28"/>
            <p:cNvSpPr txBox="1"/>
            <p:nvPr/>
          </p:nvSpPr>
          <p:spPr>
            <a:xfrm>
              <a:off x="4694" y="2115"/>
              <a:ext cx="5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CL" sz="1800">
                  <a:solidFill>
                    <a:schemeClr val="accent2"/>
                  </a:solidFill>
                  <a:latin typeface="Arial"/>
                  <a:ea typeface="Arial"/>
                  <a:cs typeface="Arial"/>
                  <a:sym typeface="Arial"/>
                </a:rPr>
                <a:t>Salida</a:t>
              </a:r>
              <a:endParaRPr b="1" sz="1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" name="Google Shape;352;p28"/>
            <p:cNvSpPr txBox="1"/>
            <p:nvPr/>
          </p:nvSpPr>
          <p:spPr>
            <a:xfrm>
              <a:off x="3909" y="2267"/>
              <a:ext cx="684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CL" sz="1800">
                  <a:solidFill>
                    <a:schemeClr val="accent2"/>
                  </a:solidFill>
                  <a:latin typeface="Arial"/>
                  <a:ea typeface="Arial"/>
                  <a:cs typeface="Arial"/>
                  <a:sym typeface="Arial"/>
                </a:rPr>
                <a:t>Proceso</a:t>
              </a:r>
              <a:endParaRPr b="1" sz="1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" name="Google Shape;353;p28"/>
            <p:cNvSpPr/>
            <p:nvPr/>
          </p:nvSpPr>
          <p:spPr>
            <a:xfrm>
              <a:off x="3424" y="1933"/>
              <a:ext cx="1315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1" marL="45720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Noto Sans Symbols"/>
                <a:buNone/>
              </a:pPr>
              <a:r>
                <a:rPr b="1" i="0" lang="es-CL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 * Pi * r</a:t>
              </a:r>
              <a:endParaRPr/>
            </a:p>
          </p:txBody>
        </p:sp>
        <p:sp>
          <p:nvSpPr>
            <p:cNvPr id="354" name="Google Shape;354;p28"/>
            <p:cNvSpPr/>
            <p:nvPr/>
          </p:nvSpPr>
          <p:spPr>
            <a:xfrm>
              <a:off x="3152" y="1752"/>
              <a:ext cx="491" cy="3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1" marL="45720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60"/>
                <a:buFont typeface="Noto Sans Symbols"/>
                <a:buNone/>
              </a:pPr>
              <a:r>
                <a:rPr b="1" i="0" lang="es-CL" sz="2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</a:t>
              </a:r>
              <a:endParaRPr/>
            </a:p>
          </p:txBody>
        </p:sp>
        <p:cxnSp>
          <p:nvCxnSpPr>
            <p:cNvPr id="355" name="Google Shape;355;p28"/>
            <p:cNvCxnSpPr/>
            <p:nvPr/>
          </p:nvCxnSpPr>
          <p:spPr>
            <a:xfrm>
              <a:off x="4694" y="2069"/>
              <a:ext cx="409" cy="0"/>
            </a:xfrm>
            <a:prstGeom prst="straightConnector1">
              <a:avLst/>
            </a:prstGeom>
            <a:noFill/>
            <a:ln cap="flat" cmpd="sng" w="38100">
              <a:solidFill>
                <a:srgbClr val="70CC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356" name="Google Shape;356;p28"/>
            <p:cNvSpPr/>
            <p:nvPr/>
          </p:nvSpPr>
          <p:spPr>
            <a:xfrm>
              <a:off x="4552" y="1752"/>
              <a:ext cx="553" cy="3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1" marL="45720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60"/>
                <a:buFont typeface="Noto Sans Symbols"/>
                <a:buNone/>
              </a:pPr>
              <a:r>
                <a:rPr b="1" i="0" lang="es-CL" sz="2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endParaRPr/>
            </a:p>
          </p:txBody>
        </p:sp>
      </p:grpSp>
    </p:spTree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29"/>
          <p:cNvSpPr txBox="1"/>
          <p:nvPr>
            <p:ph type="title"/>
          </p:nvPr>
        </p:nvSpPr>
        <p:spPr>
          <a:xfrm>
            <a:off x="1403648" y="274638"/>
            <a:ext cx="7283152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rgbClr val="21218A"/>
                </a:solidFill>
              </a:rPr>
              <a:t>Representación en diagrama de flujo</a:t>
            </a:r>
            <a:endParaRPr/>
          </a:p>
        </p:txBody>
      </p:sp>
      <p:grpSp>
        <p:nvGrpSpPr>
          <p:cNvPr id="362" name="Google Shape;362;p29"/>
          <p:cNvGrpSpPr/>
          <p:nvPr/>
        </p:nvGrpSpPr>
        <p:grpSpPr>
          <a:xfrm>
            <a:off x="3851920" y="1417638"/>
            <a:ext cx="1512168" cy="4048486"/>
            <a:chOff x="3851920" y="1417638"/>
            <a:chExt cx="1512168" cy="4048486"/>
          </a:xfrm>
        </p:grpSpPr>
        <p:sp>
          <p:nvSpPr>
            <p:cNvPr id="363" name="Google Shape;363;p29"/>
            <p:cNvSpPr/>
            <p:nvPr/>
          </p:nvSpPr>
          <p:spPr>
            <a:xfrm>
              <a:off x="3995936" y="1417638"/>
              <a:ext cx="1224136" cy="476071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1" i="0" lang="es-CL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INICIO</a:t>
              </a:r>
              <a:endParaRPr/>
            </a:p>
          </p:txBody>
        </p:sp>
        <p:sp>
          <p:nvSpPr>
            <p:cNvPr id="364" name="Google Shape;364;p29"/>
            <p:cNvSpPr/>
            <p:nvPr/>
          </p:nvSpPr>
          <p:spPr>
            <a:xfrm>
              <a:off x="3851920" y="4341981"/>
              <a:ext cx="1512168" cy="338554"/>
            </a:xfrm>
            <a:prstGeom prst="flowChartInputOutpu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s-CL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endParaRPr/>
            </a:p>
          </p:txBody>
        </p:sp>
        <p:sp>
          <p:nvSpPr>
            <p:cNvPr id="365" name="Google Shape;365;p29"/>
            <p:cNvSpPr/>
            <p:nvPr/>
          </p:nvSpPr>
          <p:spPr>
            <a:xfrm>
              <a:off x="3995936" y="4990053"/>
              <a:ext cx="1224136" cy="476071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1" i="0" lang="es-CL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FIN</a:t>
              </a:r>
              <a:endParaRPr/>
            </a:p>
          </p:txBody>
        </p:sp>
        <p:cxnSp>
          <p:nvCxnSpPr>
            <p:cNvPr id="366" name="Google Shape;366;p29"/>
            <p:cNvCxnSpPr>
              <a:stCxn id="363" idx="4"/>
            </p:cNvCxnSpPr>
            <p:nvPr/>
          </p:nvCxnSpPr>
          <p:spPr>
            <a:xfrm>
              <a:off x="4608004" y="1893709"/>
              <a:ext cx="0" cy="4101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367" name="Google Shape;367;p29"/>
            <p:cNvCxnSpPr/>
            <p:nvPr/>
          </p:nvCxnSpPr>
          <p:spPr>
            <a:xfrm>
              <a:off x="4608004" y="2657764"/>
              <a:ext cx="0" cy="31606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368" name="Google Shape;368;p29"/>
            <p:cNvCxnSpPr>
              <a:stCxn id="369" idx="4"/>
              <a:endCxn id="370" idx="0"/>
            </p:cNvCxnSpPr>
            <p:nvPr/>
          </p:nvCxnSpPr>
          <p:spPr>
            <a:xfrm>
              <a:off x="4608004" y="3312383"/>
              <a:ext cx="0" cy="3096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371" name="Google Shape;371;p29"/>
            <p:cNvCxnSpPr>
              <a:stCxn id="364" idx="4"/>
              <a:endCxn id="365" idx="0"/>
            </p:cNvCxnSpPr>
            <p:nvPr/>
          </p:nvCxnSpPr>
          <p:spPr>
            <a:xfrm>
              <a:off x="4608004" y="4680535"/>
              <a:ext cx="0" cy="3096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sp>
          <p:nvSpPr>
            <p:cNvPr id="369" name="Google Shape;369;p29"/>
            <p:cNvSpPr/>
            <p:nvPr/>
          </p:nvSpPr>
          <p:spPr>
            <a:xfrm>
              <a:off x="3851920" y="2973829"/>
              <a:ext cx="1512168" cy="338554"/>
            </a:xfrm>
            <a:prstGeom prst="flowChartInputOutpu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s-CL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</a:t>
              </a:r>
              <a:endParaRPr/>
            </a:p>
          </p:txBody>
        </p:sp>
        <p:sp>
          <p:nvSpPr>
            <p:cNvPr id="370" name="Google Shape;370;p29"/>
            <p:cNvSpPr/>
            <p:nvPr/>
          </p:nvSpPr>
          <p:spPr>
            <a:xfrm>
              <a:off x="3995936" y="3621901"/>
              <a:ext cx="1224136" cy="338554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s-CL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P=2*Pi*r</a:t>
              </a:r>
              <a:endParaRPr/>
            </a:p>
          </p:txBody>
        </p:sp>
        <p:cxnSp>
          <p:nvCxnSpPr>
            <p:cNvPr id="372" name="Google Shape;372;p29"/>
            <p:cNvCxnSpPr>
              <a:stCxn id="370" idx="2"/>
              <a:endCxn id="364" idx="1"/>
            </p:cNvCxnSpPr>
            <p:nvPr/>
          </p:nvCxnSpPr>
          <p:spPr>
            <a:xfrm>
              <a:off x="4608004" y="3960455"/>
              <a:ext cx="0" cy="3816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sp>
          <p:nvSpPr>
            <p:cNvPr id="373" name="Google Shape;373;p29"/>
            <p:cNvSpPr/>
            <p:nvPr/>
          </p:nvSpPr>
          <p:spPr>
            <a:xfrm>
              <a:off x="3851920" y="2303821"/>
              <a:ext cx="1512168" cy="338554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s-CL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Pi=3,14</a:t>
              </a:r>
              <a:endParaRPr/>
            </a:p>
          </p:txBody>
        </p:sp>
        <p:cxnSp>
          <p:nvCxnSpPr>
            <p:cNvPr id="374" name="Google Shape;374;p29"/>
            <p:cNvCxnSpPr/>
            <p:nvPr/>
          </p:nvCxnSpPr>
          <p:spPr>
            <a:xfrm flipH="1">
              <a:off x="4984923" y="3171767"/>
              <a:ext cx="379165" cy="1135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  <a:effectLst>
              <a:outerShdw blurRad="40000" rotWithShape="0" dir="5400000" dist="20000">
                <a:srgbClr val="000000">
                  <a:alpha val="37647"/>
                </a:srgbClr>
              </a:outerShdw>
            </a:effectLst>
          </p:spPr>
        </p:cxnSp>
        <p:cxnSp>
          <p:nvCxnSpPr>
            <p:cNvPr id="375" name="Google Shape;375;p29"/>
            <p:cNvCxnSpPr/>
            <p:nvPr/>
          </p:nvCxnSpPr>
          <p:spPr>
            <a:xfrm flipH="1">
              <a:off x="4932039" y="4519102"/>
              <a:ext cx="360041" cy="1135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  <a:effectLst>
              <a:outerShdw blurRad="40000" rotWithShape="0" dir="5400000" dist="20000">
                <a:srgbClr val="000000">
                  <a:alpha val="37647"/>
                </a:srgbClr>
              </a:outerShdw>
            </a:effectLst>
          </p:spPr>
        </p:cxnSp>
      </p:grpSp>
    </p:spTree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1" name="Google Shape;381;p30"/>
          <p:cNvGraphicFramePr/>
          <p:nvPr/>
        </p:nvGraphicFramePr>
        <p:xfrm>
          <a:off x="4067945" y="495917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{C46FA75B-8E22-42CB-B898-2A818C713B26}</a:tableStyleId>
              </a:tblPr>
              <a:tblGrid>
                <a:gridCol w="408275"/>
                <a:gridCol w="700475"/>
                <a:gridCol w="23476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>
                          <a:solidFill>
                            <a:srgbClr val="197D25"/>
                          </a:solidFill>
                        </a:rPr>
                        <a:t>N</a:t>
                      </a:r>
                      <a:endParaRPr sz="1800">
                        <a:solidFill>
                          <a:srgbClr val="197D25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197D2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97D2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97D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97D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>
                          <a:solidFill>
                            <a:srgbClr val="FF6600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cubo</a:t>
                      </a:r>
                      <a:r>
                        <a:rPr lang="es-CL" sz="1800">
                          <a:solidFill>
                            <a:srgbClr val="21218A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 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197D2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97D2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97D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97D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1800">
                          <a:solidFill>
                            <a:srgbClr val="21218A"/>
                          </a:solidFill>
                        </a:rPr>
                        <a:t>Salida (pantalla)</a:t>
                      </a:r>
                      <a:endParaRPr b="0" sz="1800">
                        <a:solidFill>
                          <a:srgbClr val="21218A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197D2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97D2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97D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97D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>
                        <a:solidFill>
                          <a:srgbClr val="197D25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197D2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97D2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97D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97D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>
                        <a:solidFill>
                          <a:srgbClr val="FF66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197D2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97D2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97D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97D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>
                          <a:solidFill>
                            <a:srgbClr val="21218A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Ingrese un número: </a:t>
                      </a:r>
                      <a:r>
                        <a:rPr b="1" lang="es-CL" sz="180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3</a:t>
                      </a:r>
                      <a:endParaRPr b="1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197D2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97D2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97D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97D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97D25"/>
                        </a:buClr>
                        <a:buSzPts val="1800"/>
                        <a:buFont typeface="Arial"/>
                        <a:buNone/>
                      </a:pPr>
                      <a:r>
                        <a:rPr b="1" lang="es-CL" sz="1800">
                          <a:solidFill>
                            <a:srgbClr val="197D25"/>
                          </a:solidFill>
                        </a:rPr>
                        <a:t>3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197D2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97D2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97D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97D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197D2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97D2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97D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97D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197D2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97D2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97D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97D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197D2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97D2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97D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97D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66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s-CL" sz="1800">
                          <a:solidFill>
                            <a:srgbClr val="FF6600"/>
                          </a:solidFill>
                        </a:rPr>
                        <a:t>27</a:t>
                      </a:r>
                      <a:endParaRPr b="1"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197D2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97D2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97D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97D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197D2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97D2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97D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97D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197D2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97D2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97D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97D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197D2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97D2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97D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97D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8A"/>
                        </a:buClr>
                        <a:buSzPts val="1800"/>
                        <a:buFont typeface="Arial Narrow"/>
                        <a:buNone/>
                      </a:pPr>
                      <a:r>
                        <a:rPr lang="es-CL" sz="1800">
                          <a:solidFill>
                            <a:srgbClr val="21218A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El cubo de 3 es 27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197D2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97D2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97D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97D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82" name="Google Shape;382;p30"/>
          <p:cNvSpPr txBox="1"/>
          <p:nvPr/>
        </p:nvSpPr>
        <p:spPr>
          <a:xfrm>
            <a:off x="1475656" y="4541058"/>
            <a:ext cx="3703956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-CL" sz="2000">
                <a:solidFill>
                  <a:srgbClr val="191966"/>
                </a:solidFill>
                <a:latin typeface="Arial"/>
                <a:ea typeface="Arial"/>
                <a:cs typeface="Arial"/>
                <a:sym typeface="Arial"/>
              </a:rPr>
              <a:t>Tabla de ejecución</a:t>
            </a:r>
            <a:endParaRPr b="0" sz="2000">
              <a:solidFill>
                <a:srgbClr val="1919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30"/>
          <p:cNvSpPr txBox="1"/>
          <p:nvPr/>
        </p:nvSpPr>
        <p:spPr>
          <a:xfrm>
            <a:off x="1403648" y="44624"/>
            <a:ext cx="7503051" cy="144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504000" lvl="0" marL="504000" marR="0" rtl="0" algn="l"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2800"/>
              <a:buFont typeface="Noto Sans Symbols"/>
              <a:buNone/>
            </a:pPr>
            <a:r>
              <a:rPr b="0" lang="es-CL" sz="2800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rPr>
              <a:t>Ejemplo:</a:t>
            </a:r>
            <a:endParaRPr/>
          </a:p>
          <a:p>
            <a:pPr indent="-392113" lvl="1" marL="446088" marR="0" rtl="0" algn="l">
              <a:spcBef>
                <a:spcPts val="1200"/>
              </a:spcBef>
              <a:spcAft>
                <a:spcPts val="0"/>
              </a:spcAft>
              <a:buClr>
                <a:srgbClr val="21218A"/>
              </a:buClr>
              <a:buSzPts val="2400"/>
              <a:buFont typeface="Arial"/>
              <a:buNone/>
            </a:pPr>
            <a:r>
              <a:rPr b="1" i="0" lang="es-CL" sz="2400" u="none" cap="none" strike="noStrike">
                <a:solidFill>
                  <a:srgbClr val="21218A"/>
                </a:solidFill>
                <a:latin typeface="Arial"/>
                <a:ea typeface="Arial"/>
                <a:cs typeface="Arial"/>
                <a:sym typeface="Arial"/>
              </a:rPr>
              <a:t>3) Calcular el cubo de un número ingresado por el usuario, y crear la tabla de ejecución.</a:t>
            </a:r>
            <a:endParaRPr b="1" i="0" sz="2400" u="none" cap="none" strike="noStrike">
              <a:solidFill>
                <a:srgbClr val="21218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822"/>
                                        <p:tgtEl>
                                          <p:spTgt spid="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8" name="Google Shape;388;p31"/>
          <p:cNvGrpSpPr/>
          <p:nvPr/>
        </p:nvGrpSpPr>
        <p:grpSpPr>
          <a:xfrm>
            <a:off x="2339752" y="2204864"/>
            <a:ext cx="5256584" cy="3312368"/>
            <a:chOff x="1162511" y="1160140"/>
            <a:chExt cx="6628433" cy="4303162"/>
          </a:xfrm>
        </p:grpSpPr>
        <p:sp>
          <p:nvSpPr>
            <p:cNvPr id="389" name="Google Shape;389;p31"/>
            <p:cNvSpPr/>
            <p:nvPr/>
          </p:nvSpPr>
          <p:spPr>
            <a:xfrm>
              <a:off x="3795723" y="1160140"/>
              <a:ext cx="1362008" cy="477911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i="0" lang="es-CL" sz="11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INICIO</a:t>
              </a:r>
              <a:endParaRPr/>
            </a:p>
          </p:txBody>
        </p:sp>
        <p:sp>
          <p:nvSpPr>
            <p:cNvPr id="390" name="Google Shape;390;p31"/>
            <p:cNvSpPr/>
            <p:nvPr/>
          </p:nvSpPr>
          <p:spPr>
            <a:xfrm>
              <a:off x="1162511" y="4221540"/>
              <a:ext cx="6628433" cy="399839"/>
            </a:xfrm>
            <a:prstGeom prst="flowChartInputOutpu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CL" sz="1400">
                  <a:solidFill>
                    <a:schemeClr val="dk1"/>
                  </a:solidFill>
                  <a:latin typeface="Arial Narrow"/>
                  <a:ea typeface="Arial Narrow"/>
                  <a:cs typeface="Arial Narrow"/>
                  <a:sym typeface="Arial Narrow"/>
                </a:rPr>
                <a:t>“Jaja!!! …te gané!!...yo tengo el ”, ganador</a:t>
              </a:r>
              <a:endPara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1" name="Google Shape;391;p31"/>
            <p:cNvSpPr/>
            <p:nvPr/>
          </p:nvSpPr>
          <p:spPr>
            <a:xfrm>
              <a:off x="3795723" y="4985391"/>
              <a:ext cx="1362007" cy="477911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i="0" lang="es-CL" sz="11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FIN</a:t>
              </a:r>
              <a:endPara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92" name="Google Shape;392;p31"/>
            <p:cNvCxnSpPr>
              <a:stCxn id="389" idx="4"/>
              <a:endCxn id="393" idx="1"/>
            </p:cNvCxnSpPr>
            <p:nvPr/>
          </p:nvCxnSpPr>
          <p:spPr>
            <a:xfrm>
              <a:off x="4476727" y="1638051"/>
              <a:ext cx="0" cy="2805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394" name="Google Shape;394;p31"/>
            <p:cNvCxnSpPr>
              <a:stCxn id="393" idx="4"/>
              <a:endCxn id="395" idx="1"/>
            </p:cNvCxnSpPr>
            <p:nvPr/>
          </p:nvCxnSpPr>
          <p:spPr>
            <a:xfrm>
              <a:off x="4476729" y="2318531"/>
              <a:ext cx="0" cy="3126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396" name="Google Shape;396;p31"/>
            <p:cNvCxnSpPr>
              <a:stCxn id="395" idx="4"/>
              <a:endCxn id="397" idx="0"/>
            </p:cNvCxnSpPr>
            <p:nvPr/>
          </p:nvCxnSpPr>
          <p:spPr>
            <a:xfrm>
              <a:off x="4476726" y="3031080"/>
              <a:ext cx="7800" cy="3741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398" name="Google Shape;398;p31"/>
            <p:cNvCxnSpPr>
              <a:stCxn id="390" idx="4"/>
              <a:endCxn id="391" idx="0"/>
            </p:cNvCxnSpPr>
            <p:nvPr/>
          </p:nvCxnSpPr>
          <p:spPr>
            <a:xfrm>
              <a:off x="4476728" y="4621379"/>
              <a:ext cx="0" cy="363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sp>
          <p:nvSpPr>
            <p:cNvPr id="393" name="Google Shape;393;p31"/>
            <p:cNvSpPr/>
            <p:nvPr/>
          </p:nvSpPr>
          <p:spPr>
            <a:xfrm>
              <a:off x="2615319" y="1918692"/>
              <a:ext cx="3722819" cy="399839"/>
            </a:xfrm>
            <a:prstGeom prst="flowChartInputOutpu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 Narrow"/>
                <a:buNone/>
              </a:pPr>
              <a:r>
                <a:rPr b="1" lang="es-CL" sz="1400">
                  <a:solidFill>
                    <a:schemeClr val="dk1"/>
                  </a:solidFill>
                  <a:latin typeface="Arial Narrow"/>
                  <a:ea typeface="Arial Narrow"/>
                  <a:cs typeface="Arial Narrow"/>
                  <a:sym typeface="Arial Narrow"/>
                </a:rPr>
                <a:t>“Ingrese un número: ”</a:t>
              </a:r>
              <a:endParaRPr b="1" sz="140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  <p:sp>
          <p:nvSpPr>
            <p:cNvPr id="395" name="Google Shape;395;p31"/>
            <p:cNvSpPr/>
            <p:nvPr/>
          </p:nvSpPr>
          <p:spPr>
            <a:xfrm>
              <a:off x="3432521" y="2631241"/>
              <a:ext cx="2088409" cy="399839"/>
            </a:xfrm>
            <a:prstGeom prst="flowChartInputOutpu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0" lang="es-CL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n</a:t>
              </a:r>
              <a:r>
                <a:rPr b="0" i="0" lang="es-CL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um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7" name="Google Shape;397;p31"/>
            <p:cNvSpPr/>
            <p:nvPr/>
          </p:nvSpPr>
          <p:spPr>
            <a:xfrm>
              <a:off x="3539131" y="3405268"/>
              <a:ext cx="1891001" cy="399839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0" i="0" lang="es-CL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ganador=num+1</a:t>
              </a:r>
              <a:endParaRPr/>
            </a:p>
          </p:txBody>
        </p:sp>
        <p:cxnSp>
          <p:nvCxnSpPr>
            <p:cNvPr id="399" name="Google Shape;399;p31"/>
            <p:cNvCxnSpPr>
              <a:stCxn id="397" idx="2"/>
              <a:endCxn id="390" idx="1"/>
            </p:cNvCxnSpPr>
            <p:nvPr/>
          </p:nvCxnSpPr>
          <p:spPr>
            <a:xfrm flipH="1">
              <a:off x="4476832" y="3805107"/>
              <a:ext cx="7800" cy="416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</p:cxnSp>
      </p:grpSp>
      <p:sp>
        <p:nvSpPr>
          <p:cNvPr id="400" name="Google Shape;400;p31"/>
          <p:cNvSpPr txBox="1"/>
          <p:nvPr/>
        </p:nvSpPr>
        <p:spPr>
          <a:xfrm>
            <a:off x="1403648" y="44624"/>
            <a:ext cx="7632848" cy="144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504000" lvl="0" marL="504000" marR="0" rtl="0" algn="l"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2800"/>
              <a:buFont typeface="Noto Sans Symbols"/>
              <a:buNone/>
            </a:pPr>
            <a:r>
              <a:rPr b="0" lang="es-CL" sz="2800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rPr>
              <a:t>Ejemplo:</a:t>
            </a:r>
            <a:endParaRPr/>
          </a:p>
          <a:p>
            <a:pPr indent="-392113" lvl="1" marL="446088" marR="0" rtl="0" algn="l">
              <a:spcBef>
                <a:spcPts val="1200"/>
              </a:spcBef>
              <a:spcAft>
                <a:spcPts val="0"/>
              </a:spcAft>
              <a:buClr>
                <a:srgbClr val="21218A"/>
              </a:buClr>
              <a:buSzPts val="2400"/>
              <a:buFont typeface="Arial"/>
              <a:buNone/>
            </a:pPr>
            <a:r>
              <a:rPr b="1" i="0" lang="es-CL" sz="2400" u="none" cap="none" strike="noStrike">
                <a:solidFill>
                  <a:srgbClr val="21218A"/>
                </a:solidFill>
                <a:latin typeface="Arial"/>
                <a:ea typeface="Arial"/>
                <a:cs typeface="Arial"/>
                <a:sym typeface="Arial"/>
              </a:rPr>
              <a:t>4) Crear la tabla de ejecución de los siguientes diagramas de flujo.</a:t>
            </a:r>
            <a:endParaRPr b="1" i="0" sz="2400" u="none" cap="none" strike="noStrike">
              <a:solidFill>
                <a:srgbClr val="21218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31"/>
          <p:cNvSpPr txBox="1"/>
          <p:nvPr/>
        </p:nvSpPr>
        <p:spPr>
          <a:xfrm>
            <a:off x="2195736" y="1916832"/>
            <a:ext cx="720079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262699"/>
                </a:solidFill>
                <a:latin typeface="Arial"/>
                <a:ea typeface="Arial"/>
                <a:cs typeface="Arial"/>
                <a:sym typeface="Arial"/>
              </a:rPr>
              <a:t>a)</a:t>
            </a:r>
            <a:endParaRPr b="1" sz="2800">
              <a:solidFill>
                <a:srgbClr val="2626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2" name="Google Shape;402;p31"/>
          <p:cNvCxnSpPr/>
          <p:nvPr/>
        </p:nvCxnSpPr>
        <p:spPr>
          <a:xfrm flipH="1">
            <a:off x="5416969" y="3500150"/>
            <a:ext cx="379165" cy="1135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cxnSp>
        <p:nvCxnSpPr>
          <p:cNvPr id="403" name="Google Shape;403;p31"/>
          <p:cNvCxnSpPr/>
          <p:nvPr/>
        </p:nvCxnSpPr>
        <p:spPr>
          <a:xfrm>
            <a:off x="5940152" y="2924944"/>
            <a:ext cx="432048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cxnSp>
        <p:nvCxnSpPr>
          <p:cNvPr id="404" name="Google Shape;404;p31"/>
          <p:cNvCxnSpPr/>
          <p:nvPr/>
        </p:nvCxnSpPr>
        <p:spPr>
          <a:xfrm>
            <a:off x="6804248" y="4725144"/>
            <a:ext cx="432048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822"/>
                                        <p:tgtEl>
                                          <p:spTgt spid="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" name="Google Shape;409;p32"/>
          <p:cNvGrpSpPr/>
          <p:nvPr/>
        </p:nvGrpSpPr>
        <p:grpSpPr>
          <a:xfrm>
            <a:off x="5004048" y="2040815"/>
            <a:ext cx="3312368" cy="3951752"/>
            <a:chOff x="5113110" y="1813893"/>
            <a:chExt cx="3312368" cy="3951752"/>
          </a:xfrm>
        </p:grpSpPr>
        <p:sp>
          <p:nvSpPr>
            <p:cNvPr id="410" name="Google Shape;410;p32"/>
            <p:cNvSpPr/>
            <p:nvPr/>
          </p:nvSpPr>
          <p:spPr>
            <a:xfrm>
              <a:off x="6152540" y="1813893"/>
              <a:ext cx="1197933" cy="367873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 Narrow"/>
                <a:buNone/>
              </a:pPr>
              <a:r>
                <a:rPr b="1" i="0" lang="es-CL" sz="1100" u="none" cap="none" strike="noStrike">
                  <a:solidFill>
                    <a:schemeClr val="dk1"/>
                  </a:solidFill>
                  <a:latin typeface="Arial Narrow"/>
                  <a:ea typeface="Arial Narrow"/>
                  <a:cs typeface="Arial Narrow"/>
                  <a:sym typeface="Arial Narrow"/>
                </a:rPr>
                <a:t>INICIO</a:t>
              </a:r>
              <a:endParaRPr/>
            </a:p>
          </p:txBody>
        </p:sp>
        <p:sp>
          <p:nvSpPr>
            <p:cNvPr id="411" name="Google Shape;411;p32"/>
            <p:cNvSpPr/>
            <p:nvPr/>
          </p:nvSpPr>
          <p:spPr>
            <a:xfrm>
              <a:off x="5113110" y="4803156"/>
              <a:ext cx="3312368" cy="307777"/>
            </a:xfrm>
            <a:prstGeom prst="flowChartInputOutpu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CL" sz="1400">
                  <a:solidFill>
                    <a:schemeClr val="dk1"/>
                  </a:solidFill>
                  <a:latin typeface="Arial Narrow"/>
                  <a:ea typeface="Arial Narrow"/>
                  <a:cs typeface="Arial Narrow"/>
                  <a:sym typeface="Arial Narrow"/>
                </a:rPr>
                <a:t> “El perímetro es: “, P</a:t>
              </a:r>
              <a:endParaRPr b="1" i="0" sz="1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  <p:sp>
          <p:nvSpPr>
            <p:cNvPr id="412" name="Google Shape;412;p32"/>
            <p:cNvSpPr/>
            <p:nvPr/>
          </p:nvSpPr>
          <p:spPr>
            <a:xfrm>
              <a:off x="6147425" y="5397772"/>
              <a:ext cx="1269941" cy="367873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 Narrow"/>
                <a:buNone/>
              </a:pPr>
              <a:r>
                <a:rPr b="1" i="0" lang="es-CL" sz="1100" u="none" cap="none" strike="noStrike">
                  <a:solidFill>
                    <a:schemeClr val="dk1"/>
                  </a:solidFill>
                  <a:latin typeface="Arial Narrow"/>
                  <a:ea typeface="Arial Narrow"/>
                  <a:cs typeface="Arial Narrow"/>
                  <a:sym typeface="Arial Narrow"/>
                </a:rPr>
                <a:t>FIN</a:t>
              </a:r>
              <a:endParaRPr/>
            </a:p>
          </p:txBody>
        </p:sp>
        <p:cxnSp>
          <p:nvCxnSpPr>
            <p:cNvPr id="413" name="Google Shape;413;p32"/>
            <p:cNvCxnSpPr>
              <a:stCxn id="410" idx="4"/>
              <a:endCxn id="414" idx="0"/>
            </p:cNvCxnSpPr>
            <p:nvPr/>
          </p:nvCxnSpPr>
          <p:spPr>
            <a:xfrm>
              <a:off x="6751507" y="2181766"/>
              <a:ext cx="11100" cy="3165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415" name="Google Shape;415;p32"/>
            <p:cNvCxnSpPr>
              <a:stCxn id="414" idx="2"/>
              <a:endCxn id="416" idx="1"/>
            </p:cNvCxnSpPr>
            <p:nvPr/>
          </p:nvCxnSpPr>
          <p:spPr>
            <a:xfrm>
              <a:off x="6762559" y="2806100"/>
              <a:ext cx="6600" cy="2592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417" name="Google Shape;417;p32"/>
            <p:cNvCxnSpPr>
              <a:stCxn id="418" idx="4"/>
              <a:endCxn id="419" idx="0"/>
            </p:cNvCxnSpPr>
            <p:nvPr/>
          </p:nvCxnSpPr>
          <p:spPr>
            <a:xfrm flipH="1">
              <a:off x="6745206" y="3954395"/>
              <a:ext cx="6300" cy="2355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420" name="Google Shape;420;p32"/>
            <p:cNvCxnSpPr>
              <a:stCxn id="411" idx="4"/>
              <a:endCxn id="412" idx="0"/>
            </p:cNvCxnSpPr>
            <p:nvPr/>
          </p:nvCxnSpPr>
          <p:spPr>
            <a:xfrm>
              <a:off x="6769294" y="5110933"/>
              <a:ext cx="13200" cy="286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sp>
          <p:nvSpPr>
            <p:cNvPr id="418" name="Google Shape;418;p32"/>
            <p:cNvSpPr/>
            <p:nvPr/>
          </p:nvSpPr>
          <p:spPr>
            <a:xfrm>
              <a:off x="5834669" y="3615841"/>
              <a:ext cx="1833674" cy="338554"/>
            </a:xfrm>
            <a:prstGeom prst="flowChartInputOutpu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 Narrow"/>
                <a:buNone/>
              </a:pPr>
              <a:r>
                <a:rPr b="0" i="0" lang="es-CL" sz="1600" u="none" cap="none" strike="noStrike">
                  <a:solidFill>
                    <a:schemeClr val="dk1"/>
                  </a:solidFill>
                  <a:latin typeface="Arial Narrow"/>
                  <a:ea typeface="Arial Narrow"/>
                  <a:cs typeface="Arial Narrow"/>
                  <a:sym typeface="Arial Narrow"/>
                </a:rPr>
                <a:t>r</a:t>
              </a:r>
              <a:endParaRPr/>
            </a:p>
          </p:txBody>
        </p:sp>
        <p:sp>
          <p:nvSpPr>
            <p:cNvPr id="419" name="Google Shape;419;p32"/>
            <p:cNvSpPr/>
            <p:nvPr/>
          </p:nvSpPr>
          <p:spPr>
            <a:xfrm>
              <a:off x="6110371" y="4190010"/>
              <a:ext cx="1269941" cy="307777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 Narrow"/>
                <a:buNone/>
              </a:pPr>
              <a:r>
                <a:rPr b="0" i="0" lang="es-CL" sz="1400" u="none" cap="none" strike="noStrike">
                  <a:solidFill>
                    <a:schemeClr val="dk1"/>
                  </a:solidFill>
                  <a:latin typeface="Arial Narrow"/>
                  <a:ea typeface="Arial Narrow"/>
                  <a:cs typeface="Arial Narrow"/>
                  <a:sym typeface="Arial Narrow"/>
                </a:rPr>
                <a:t>P=2*Pi*r</a:t>
              </a:r>
              <a:endParaRPr/>
            </a:p>
          </p:txBody>
        </p:sp>
        <p:cxnSp>
          <p:nvCxnSpPr>
            <p:cNvPr id="421" name="Google Shape;421;p32"/>
            <p:cNvCxnSpPr>
              <a:stCxn id="419" idx="2"/>
              <a:endCxn id="411" idx="1"/>
            </p:cNvCxnSpPr>
            <p:nvPr/>
          </p:nvCxnSpPr>
          <p:spPr>
            <a:xfrm>
              <a:off x="6745341" y="4497787"/>
              <a:ext cx="24000" cy="305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sp>
          <p:nvSpPr>
            <p:cNvPr id="414" name="Google Shape;414;p32"/>
            <p:cNvSpPr/>
            <p:nvPr/>
          </p:nvSpPr>
          <p:spPr>
            <a:xfrm>
              <a:off x="6073858" y="2498323"/>
              <a:ext cx="1377401" cy="307777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 Narrow"/>
                <a:buNone/>
              </a:pPr>
              <a:r>
                <a:rPr b="0" i="0" lang="es-CL" sz="1400" u="none" cap="none" strike="noStrike">
                  <a:solidFill>
                    <a:schemeClr val="dk1"/>
                  </a:solidFill>
                  <a:latin typeface="Arial Narrow"/>
                  <a:ea typeface="Arial Narrow"/>
                  <a:cs typeface="Arial Narrow"/>
                  <a:sym typeface="Arial Narrow"/>
                </a:rPr>
                <a:t>Pi=3,14</a:t>
              </a:r>
              <a:endParaRPr/>
            </a:p>
          </p:txBody>
        </p:sp>
        <p:cxnSp>
          <p:nvCxnSpPr>
            <p:cNvPr id="422" name="Google Shape;422;p32"/>
            <p:cNvCxnSpPr>
              <a:stCxn id="416" idx="4"/>
              <a:endCxn id="418" idx="1"/>
            </p:cNvCxnSpPr>
            <p:nvPr/>
          </p:nvCxnSpPr>
          <p:spPr>
            <a:xfrm flipH="1">
              <a:off x="6751594" y="3373071"/>
              <a:ext cx="17700" cy="2427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sp>
          <p:nvSpPr>
            <p:cNvPr id="416" name="Google Shape;416;p32"/>
            <p:cNvSpPr/>
            <p:nvPr/>
          </p:nvSpPr>
          <p:spPr>
            <a:xfrm>
              <a:off x="5113110" y="3065294"/>
              <a:ext cx="3312368" cy="307777"/>
            </a:xfrm>
            <a:prstGeom prst="flowChartInputOutpu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CL" sz="1400">
                  <a:solidFill>
                    <a:schemeClr val="dk1"/>
                  </a:solidFill>
                  <a:latin typeface="Arial Narrow"/>
                  <a:ea typeface="Arial Narrow"/>
                  <a:cs typeface="Arial Narrow"/>
                  <a:sym typeface="Arial Narrow"/>
                </a:rPr>
                <a:t>“Ingrese valor del radio:”</a:t>
              </a:r>
              <a:endParaRPr b="1" i="0" sz="1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</p:grpSp>
      <p:grpSp>
        <p:nvGrpSpPr>
          <p:cNvPr id="423" name="Google Shape;423;p32"/>
          <p:cNvGrpSpPr/>
          <p:nvPr/>
        </p:nvGrpSpPr>
        <p:grpSpPr>
          <a:xfrm>
            <a:off x="467544" y="2046401"/>
            <a:ext cx="4176464" cy="3001933"/>
            <a:chOff x="467544" y="2046401"/>
            <a:chExt cx="4176464" cy="3001933"/>
          </a:xfrm>
        </p:grpSpPr>
        <p:sp>
          <p:nvSpPr>
            <p:cNvPr id="424" name="Google Shape;424;p32"/>
            <p:cNvSpPr/>
            <p:nvPr/>
          </p:nvSpPr>
          <p:spPr>
            <a:xfrm>
              <a:off x="2060557" y="2046401"/>
              <a:ext cx="1042791" cy="367873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 Narrow"/>
                <a:buNone/>
              </a:pPr>
              <a:r>
                <a:rPr b="1" i="0" lang="es-CL" sz="1100" u="none" cap="none" strike="noStrike">
                  <a:solidFill>
                    <a:schemeClr val="dk1"/>
                  </a:solidFill>
                  <a:latin typeface="Arial Narrow"/>
                  <a:ea typeface="Arial Narrow"/>
                  <a:cs typeface="Arial Narrow"/>
                  <a:sym typeface="Arial Narrow"/>
                </a:rPr>
                <a:t>INICIO</a:t>
              </a:r>
              <a:endParaRPr/>
            </a:p>
          </p:txBody>
        </p:sp>
        <p:sp>
          <p:nvSpPr>
            <p:cNvPr id="425" name="Google Shape;425;p32"/>
            <p:cNvSpPr/>
            <p:nvPr/>
          </p:nvSpPr>
          <p:spPr>
            <a:xfrm>
              <a:off x="467544" y="4166389"/>
              <a:ext cx="4176464" cy="307777"/>
            </a:xfrm>
            <a:prstGeom prst="flowChartInputOutpu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CL" sz="1400">
                  <a:solidFill>
                    <a:schemeClr val="dk1"/>
                  </a:solidFill>
                  <a:latin typeface="Arial Narrow"/>
                  <a:ea typeface="Arial Narrow"/>
                  <a:cs typeface="Arial Narrow"/>
                  <a:sym typeface="Arial Narrow"/>
                </a:rPr>
                <a:t>“El cubo de ”, N, “ es ”,cubo</a:t>
              </a:r>
              <a:endParaRPr b="0" i="0" sz="1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  <p:sp>
          <p:nvSpPr>
            <p:cNvPr id="426" name="Google Shape;426;p32"/>
            <p:cNvSpPr/>
            <p:nvPr/>
          </p:nvSpPr>
          <p:spPr>
            <a:xfrm>
              <a:off x="2060557" y="4680461"/>
              <a:ext cx="1042791" cy="367873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 Narrow"/>
                <a:buNone/>
              </a:pPr>
              <a:r>
                <a:rPr b="1" i="0" lang="es-CL" sz="1100" u="none" cap="none" strike="noStrike">
                  <a:solidFill>
                    <a:schemeClr val="dk1"/>
                  </a:solidFill>
                  <a:latin typeface="Arial Narrow"/>
                  <a:ea typeface="Arial Narrow"/>
                  <a:cs typeface="Arial Narrow"/>
                  <a:sym typeface="Arial Narrow"/>
                </a:rPr>
                <a:t>FIN</a:t>
              </a:r>
              <a:endParaRPr b="1" i="0" sz="1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  <p:cxnSp>
          <p:nvCxnSpPr>
            <p:cNvPr id="427" name="Google Shape;427;p32"/>
            <p:cNvCxnSpPr>
              <a:stCxn id="424" idx="4"/>
              <a:endCxn id="428" idx="1"/>
            </p:cNvCxnSpPr>
            <p:nvPr/>
          </p:nvCxnSpPr>
          <p:spPr>
            <a:xfrm>
              <a:off x="2581953" y="2414274"/>
              <a:ext cx="5700" cy="216000"/>
            </a:xfrm>
            <a:prstGeom prst="straightConnector1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429" name="Google Shape;429;p32"/>
            <p:cNvCxnSpPr>
              <a:stCxn id="428" idx="4"/>
              <a:endCxn id="430" idx="1"/>
            </p:cNvCxnSpPr>
            <p:nvPr/>
          </p:nvCxnSpPr>
          <p:spPr>
            <a:xfrm flipH="1">
              <a:off x="2583689" y="2938075"/>
              <a:ext cx="3900" cy="190500"/>
            </a:xfrm>
            <a:prstGeom prst="straightConnector1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431" name="Google Shape;431;p32"/>
            <p:cNvCxnSpPr>
              <a:stCxn id="430" idx="4"/>
              <a:endCxn id="432" idx="0"/>
            </p:cNvCxnSpPr>
            <p:nvPr/>
          </p:nvCxnSpPr>
          <p:spPr>
            <a:xfrm flipH="1">
              <a:off x="2569704" y="3436246"/>
              <a:ext cx="14100" cy="208800"/>
            </a:xfrm>
            <a:prstGeom prst="straightConnector1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433" name="Google Shape;433;p32"/>
            <p:cNvCxnSpPr>
              <a:stCxn id="425" idx="4"/>
              <a:endCxn id="426" idx="0"/>
            </p:cNvCxnSpPr>
            <p:nvPr/>
          </p:nvCxnSpPr>
          <p:spPr>
            <a:xfrm>
              <a:off x="2555776" y="4474166"/>
              <a:ext cx="26100" cy="206400"/>
            </a:xfrm>
            <a:prstGeom prst="straightConnector1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sp>
          <p:nvSpPr>
            <p:cNvPr id="428" name="Google Shape;428;p32"/>
            <p:cNvSpPr/>
            <p:nvPr/>
          </p:nvSpPr>
          <p:spPr>
            <a:xfrm>
              <a:off x="755577" y="2630298"/>
              <a:ext cx="3664024" cy="307777"/>
            </a:xfrm>
            <a:prstGeom prst="flowChartInputOutpu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 Narrow"/>
                <a:buNone/>
              </a:pPr>
              <a:r>
                <a:rPr b="1" lang="es-CL" sz="1400">
                  <a:solidFill>
                    <a:schemeClr val="dk1"/>
                  </a:solidFill>
                  <a:latin typeface="Arial Narrow"/>
                  <a:ea typeface="Arial Narrow"/>
                  <a:cs typeface="Arial Narrow"/>
                  <a:sym typeface="Arial Narrow"/>
                </a:rPr>
                <a:t>“Ingrese un número: ”</a:t>
              </a:r>
              <a:endParaRPr b="1" sz="140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  <p:sp>
          <p:nvSpPr>
            <p:cNvPr id="430" name="Google Shape;430;p32"/>
            <p:cNvSpPr/>
            <p:nvPr/>
          </p:nvSpPr>
          <p:spPr>
            <a:xfrm>
              <a:off x="1819743" y="3128468"/>
              <a:ext cx="1528122" cy="307778"/>
            </a:xfrm>
            <a:prstGeom prst="flowChartInputOutpu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 Narrow"/>
                <a:buNone/>
              </a:pPr>
              <a:r>
                <a:rPr b="0" i="0" lang="es-CL" sz="1400" u="none" cap="none" strike="noStrike">
                  <a:solidFill>
                    <a:schemeClr val="dk1"/>
                  </a:solidFill>
                  <a:latin typeface="Arial Narrow"/>
                  <a:ea typeface="Arial Narrow"/>
                  <a:cs typeface="Arial Narrow"/>
                  <a:sym typeface="Arial Narrow"/>
                </a:rPr>
                <a:t>N</a:t>
              </a:r>
              <a:endParaRPr/>
            </a:p>
          </p:txBody>
        </p:sp>
        <p:sp>
          <p:nvSpPr>
            <p:cNvPr id="432" name="Google Shape;432;p32"/>
            <p:cNvSpPr/>
            <p:nvPr/>
          </p:nvSpPr>
          <p:spPr>
            <a:xfrm>
              <a:off x="1819742" y="3645024"/>
              <a:ext cx="1499631" cy="307777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 Narrow"/>
                <a:buNone/>
              </a:pPr>
              <a:r>
                <a:rPr b="0" lang="es-CL" sz="1400">
                  <a:solidFill>
                    <a:schemeClr val="dk1"/>
                  </a:solidFill>
                  <a:latin typeface="Arial Narrow"/>
                  <a:ea typeface="Arial Narrow"/>
                  <a:cs typeface="Arial Narrow"/>
                  <a:sym typeface="Arial Narrow"/>
                </a:rPr>
                <a:t>cubo</a:t>
              </a:r>
              <a:r>
                <a:rPr b="0" i="0" lang="es-CL" sz="1400" u="none" cap="none" strike="noStrike">
                  <a:solidFill>
                    <a:schemeClr val="dk1"/>
                  </a:solidFill>
                  <a:latin typeface="Arial Narrow"/>
                  <a:ea typeface="Arial Narrow"/>
                  <a:cs typeface="Arial Narrow"/>
                  <a:sym typeface="Arial Narrow"/>
                </a:rPr>
                <a:t>=N*N*N</a:t>
              </a:r>
              <a:endParaRPr/>
            </a:p>
          </p:txBody>
        </p:sp>
        <p:cxnSp>
          <p:nvCxnSpPr>
            <p:cNvPr id="434" name="Google Shape;434;p32"/>
            <p:cNvCxnSpPr>
              <a:stCxn id="432" idx="2"/>
              <a:endCxn id="425" idx="1"/>
            </p:cNvCxnSpPr>
            <p:nvPr/>
          </p:nvCxnSpPr>
          <p:spPr>
            <a:xfrm flipH="1">
              <a:off x="2555758" y="3952801"/>
              <a:ext cx="13800" cy="213600"/>
            </a:xfrm>
            <a:prstGeom prst="straightConnector1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</p:cxnSp>
      </p:grpSp>
      <p:sp>
        <p:nvSpPr>
          <p:cNvPr id="435" name="Google Shape;435;p32"/>
          <p:cNvSpPr txBox="1"/>
          <p:nvPr/>
        </p:nvSpPr>
        <p:spPr>
          <a:xfrm>
            <a:off x="1547664" y="992734"/>
            <a:ext cx="720079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262699"/>
                </a:solidFill>
                <a:latin typeface="Arial"/>
                <a:ea typeface="Arial"/>
                <a:cs typeface="Arial"/>
                <a:sym typeface="Arial"/>
              </a:rPr>
              <a:t>b)</a:t>
            </a:r>
            <a:endParaRPr b="1" sz="2800">
              <a:solidFill>
                <a:srgbClr val="2626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32"/>
          <p:cNvSpPr txBox="1"/>
          <p:nvPr/>
        </p:nvSpPr>
        <p:spPr>
          <a:xfrm>
            <a:off x="5114590" y="993332"/>
            <a:ext cx="720079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262699"/>
                </a:solidFill>
                <a:latin typeface="Arial"/>
                <a:ea typeface="Arial"/>
                <a:cs typeface="Arial"/>
                <a:sym typeface="Arial"/>
              </a:rPr>
              <a:t>c)</a:t>
            </a:r>
            <a:endParaRPr b="1" sz="2800">
              <a:solidFill>
                <a:srgbClr val="2626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7" name="Google Shape;437;p32"/>
          <p:cNvCxnSpPr/>
          <p:nvPr/>
        </p:nvCxnSpPr>
        <p:spPr>
          <a:xfrm>
            <a:off x="3779912" y="2800210"/>
            <a:ext cx="432048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cxnSp>
        <p:nvCxnSpPr>
          <p:cNvPr id="438" name="Google Shape;438;p32"/>
          <p:cNvCxnSpPr/>
          <p:nvPr/>
        </p:nvCxnSpPr>
        <p:spPr>
          <a:xfrm flipH="1">
            <a:off x="3003369" y="3303811"/>
            <a:ext cx="379165" cy="1135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cxnSp>
        <p:nvCxnSpPr>
          <p:cNvPr id="439" name="Google Shape;439;p32"/>
          <p:cNvCxnSpPr/>
          <p:nvPr/>
        </p:nvCxnSpPr>
        <p:spPr>
          <a:xfrm>
            <a:off x="3980926" y="4320277"/>
            <a:ext cx="432048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cxnSp>
        <p:nvCxnSpPr>
          <p:cNvPr id="440" name="Google Shape;440;p32"/>
          <p:cNvCxnSpPr/>
          <p:nvPr/>
        </p:nvCxnSpPr>
        <p:spPr>
          <a:xfrm>
            <a:off x="7740352" y="3443224"/>
            <a:ext cx="432048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cxnSp>
        <p:nvCxnSpPr>
          <p:cNvPr id="441" name="Google Shape;441;p32"/>
          <p:cNvCxnSpPr/>
          <p:nvPr/>
        </p:nvCxnSpPr>
        <p:spPr>
          <a:xfrm>
            <a:off x="7740352" y="5229200"/>
            <a:ext cx="432048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cxnSp>
        <p:nvCxnSpPr>
          <p:cNvPr id="442" name="Google Shape;442;p32"/>
          <p:cNvCxnSpPr/>
          <p:nvPr/>
        </p:nvCxnSpPr>
        <p:spPr>
          <a:xfrm flipH="1">
            <a:off x="7205831" y="4022671"/>
            <a:ext cx="379165" cy="1135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</p:spTree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3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rgbClr val="21218A"/>
                </a:solidFill>
              </a:rPr>
              <a:t>Más Ejercicios</a:t>
            </a:r>
            <a:endParaRPr>
              <a:solidFill>
                <a:srgbClr val="21218A"/>
              </a:solidFill>
            </a:endParaRPr>
          </a:p>
        </p:txBody>
      </p:sp>
      <p:sp>
        <p:nvSpPr>
          <p:cNvPr id="448" name="Google Shape;448;p33"/>
          <p:cNvSpPr txBox="1"/>
          <p:nvPr>
            <p:ph idx="1" type="body"/>
          </p:nvPr>
        </p:nvSpPr>
        <p:spPr>
          <a:xfrm>
            <a:off x="1475656" y="1124744"/>
            <a:ext cx="7488831" cy="547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8775" lvl="0" marL="358775" rtl="0" algn="l">
              <a:spcBef>
                <a:spcPts val="0"/>
              </a:spcBef>
              <a:spcAft>
                <a:spcPts val="0"/>
              </a:spcAft>
              <a:buClr>
                <a:srgbClr val="21218A"/>
              </a:buClr>
              <a:buSzPts val="1000"/>
              <a:buNone/>
            </a:pPr>
            <a:r>
              <a:rPr lang="es-CL" sz="2000">
                <a:solidFill>
                  <a:srgbClr val="21218A"/>
                </a:solidFill>
              </a:rPr>
              <a:t>1.- Diseñe un algoritmo en diagrama de flujo que</a:t>
            </a:r>
            <a:r>
              <a:rPr b="1" lang="es-CL" sz="2000">
                <a:solidFill>
                  <a:srgbClr val="21218A"/>
                </a:solidFill>
              </a:rPr>
              <a:t> </a:t>
            </a:r>
            <a:r>
              <a:rPr lang="es-CL" sz="2000">
                <a:solidFill>
                  <a:srgbClr val="21218A"/>
                </a:solidFill>
              </a:rPr>
              <a:t>pregunte al usuario su nombre y luego lo salude de la siguiente forma: </a:t>
            </a:r>
            <a:endParaRPr/>
          </a:p>
          <a:p>
            <a:pPr indent="-358775" lvl="0" marL="358775" rtl="0" algn="l">
              <a:spcBef>
                <a:spcPts val="400"/>
              </a:spcBef>
              <a:spcAft>
                <a:spcPts val="0"/>
              </a:spcAft>
              <a:buClr>
                <a:srgbClr val="21218A"/>
              </a:buClr>
              <a:buSzPts val="1000"/>
              <a:buFont typeface="Noto Sans Symbols"/>
              <a:buNone/>
            </a:pPr>
            <a:r>
              <a:rPr lang="es-CL" sz="2000">
                <a:solidFill>
                  <a:srgbClr val="21218A"/>
                </a:solidFill>
              </a:rPr>
              <a:t>	“</a:t>
            </a:r>
            <a:r>
              <a:rPr i="1" lang="es-CL" sz="2000">
                <a:solidFill>
                  <a:srgbClr val="21218A"/>
                </a:solidFill>
              </a:rPr>
              <a:t>Me alegro de conocerte (nombre)…</a:t>
            </a:r>
            <a:r>
              <a:rPr lang="es-CL" sz="2000">
                <a:solidFill>
                  <a:srgbClr val="21218A"/>
                </a:solidFill>
              </a:rPr>
              <a:t>”</a:t>
            </a:r>
            <a:endParaRPr/>
          </a:p>
          <a:p>
            <a:pPr indent="533400" lvl="0" marL="1077913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</a:pPr>
            <a:r>
              <a:rPr lang="es-CL" sz="1800">
                <a:latin typeface="Comic Sans MS"/>
                <a:ea typeface="Comic Sans MS"/>
                <a:cs typeface="Comic Sans MS"/>
                <a:sym typeface="Comic Sans MS"/>
              </a:rPr>
              <a:t>Ejemplo:</a:t>
            </a:r>
            <a:endParaRPr/>
          </a:p>
          <a:p>
            <a:pPr indent="533400" lvl="0" marL="1077913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oto Sans Symbols"/>
              <a:buNone/>
            </a:pPr>
            <a:r>
              <a:rPr i="1" lang="es-CL" sz="1800">
                <a:latin typeface="Comic Sans MS"/>
                <a:ea typeface="Comic Sans MS"/>
                <a:cs typeface="Comic Sans MS"/>
                <a:sym typeface="Comic Sans MS"/>
              </a:rPr>
              <a:t>           Cuál es tu nombre?</a:t>
            </a:r>
            <a:endParaRPr/>
          </a:p>
          <a:p>
            <a:pPr indent="533400" lvl="0" marL="1077913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oto Sans Symbols"/>
              <a:buNone/>
            </a:pPr>
            <a:r>
              <a:rPr i="1" lang="es-CL" sz="1800">
                <a:latin typeface="Comic Sans MS"/>
                <a:ea typeface="Comic Sans MS"/>
                <a:cs typeface="Comic Sans MS"/>
                <a:sym typeface="Comic Sans MS"/>
              </a:rPr>
              <a:t>           Andrea</a:t>
            </a:r>
            <a:endParaRPr/>
          </a:p>
          <a:p>
            <a:pPr indent="533400" lvl="0" marL="1077913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oto Sans Symbols"/>
              <a:buNone/>
            </a:pPr>
            <a:r>
              <a:rPr i="1" lang="es-CL" sz="1800">
                <a:latin typeface="Comic Sans MS"/>
                <a:ea typeface="Comic Sans MS"/>
                <a:cs typeface="Comic Sans MS"/>
                <a:sym typeface="Comic Sans MS"/>
              </a:rPr>
              <a:t>           Me alegro de conocerte Andrea</a:t>
            </a:r>
            <a:endParaRPr/>
          </a:p>
          <a:p>
            <a:pPr indent="533400" lvl="0" marL="1077913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oto Sans Symbols"/>
              <a:buNone/>
            </a:pPr>
            <a:r>
              <a:t/>
            </a:r>
            <a:endParaRPr i="1" sz="1800">
              <a:solidFill>
                <a:schemeClr val="accent2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58775" lvl="0" marL="358775" rtl="0" algn="l">
              <a:spcBef>
                <a:spcPts val="400"/>
              </a:spcBef>
              <a:spcAft>
                <a:spcPts val="0"/>
              </a:spcAft>
              <a:buClr>
                <a:srgbClr val="21218A"/>
              </a:buClr>
              <a:buSzPts val="1000"/>
              <a:buNone/>
            </a:pPr>
            <a:r>
              <a:rPr lang="es-CL" sz="2000">
                <a:solidFill>
                  <a:srgbClr val="21218A"/>
                </a:solidFill>
              </a:rPr>
              <a:t>2.- Desarrolle un algoritmo en diagrama de flujo que, ingresada una medida en pies, la transforme a metros.</a:t>
            </a:r>
            <a:endParaRPr/>
          </a:p>
          <a:p>
            <a:pPr indent="-358775" lvl="0" marL="358775" rtl="0" algn="l">
              <a:spcBef>
                <a:spcPts val="400"/>
              </a:spcBef>
              <a:spcAft>
                <a:spcPts val="0"/>
              </a:spcAft>
              <a:buClr>
                <a:srgbClr val="21218A"/>
              </a:buClr>
              <a:buSzPts val="1000"/>
              <a:buNone/>
            </a:pPr>
            <a:r>
              <a:rPr lang="es-CL" sz="2000">
                <a:solidFill>
                  <a:srgbClr val="21218A"/>
                </a:solidFill>
              </a:rPr>
              <a:t>	 (</a:t>
            </a:r>
            <a:r>
              <a:rPr lang="es-CL" sz="1400">
                <a:solidFill>
                  <a:srgbClr val="21218A"/>
                </a:solidFill>
              </a:rPr>
              <a:t>Considere 1 pie = 0.3048 m</a:t>
            </a:r>
            <a:r>
              <a:rPr lang="es-CL" sz="2000">
                <a:solidFill>
                  <a:srgbClr val="21218A"/>
                </a:solidFill>
              </a:rPr>
              <a:t>)</a:t>
            </a:r>
            <a:endParaRPr sz="2000">
              <a:solidFill>
                <a:srgbClr val="21218A"/>
              </a:solidFill>
            </a:endParaRPr>
          </a:p>
          <a:p>
            <a:pPr indent="-358775" lvl="0" marL="358775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t/>
            </a:r>
            <a:endParaRPr sz="2000">
              <a:solidFill>
                <a:srgbClr val="21218A"/>
              </a:solidFill>
            </a:endParaRPr>
          </a:p>
          <a:p>
            <a:pPr indent="-358775" lvl="0" marL="358775" rtl="0" algn="l">
              <a:spcBef>
                <a:spcPts val="400"/>
              </a:spcBef>
              <a:spcAft>
                <a:spcPts val="0"/>
              </a:spcAft>
              <a:buClr>
                <a:srgbClr val="21218A"/>
              </a:buClr>
              <a:buSzPts val="1000"/>
              <a:buNone/>
            </a:pPr>
            <a:r>
              <a:rPr lang="es-CL" sz="2000">
                <a:solidFill>
                  <a:srgbClr val="21218A"/>
                </a:solidFill>
              </a:rPr>
              <a:t>3.- Desarrolle un algoritmo en diagrama de flujo que  transforme temperatura de grados Celsius ingresada por el usuario, a Fahrenheit. (</a:t>
            </a:r>
            <a:r>
              <a:rPr lang="es-CL" sz="1400">
                <a:solidFill>
                  <a:srgbClr val="21218A"/>
                </a:solidFill>
              </a:rPr>
              <a:t>Considere F=(9/5)*C+32 )</a:t>
            </a:r>
            <a:endParaRPr sz="1400">
              <a:solidFill>
                <a:srgbClr val="21218A"/>
              </a:solidFill>
            </a:endParaRPr>
          </a:p>
          <a:p>
            <a:pPr indent="-533400" lvl="0" marL="5334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None/>
            </a:pPr>
            <a:r>
              <a:t/>
            </a:r>
            <a:endParaRPr i="1" sz="2000">
              <a:solidFill>
                <a:schemeClr val="accent2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34"/>
          <p:cNvSpPr txBox="1"/>
          <p:nvPr>
            <p:ph type="title"/>
          </p:nvPr>
        </p:nvSpPr>
        <p:spPr>
          <a:xfrm>
            <a:off x="1547664" y="274638"/>
            <a:ext cx="7139136" cy="6340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rgbClr val="21218A"/>
                </a:solidFill>
              </a:rPr>
              <a:t>…Más Ejercicios</a:t>
            </a:r>
            <a:endParaRPr/>
          </a:p>
        </p:txBody>
      </p:sp>
      <p:sp>
        <p:nvSpPr>
          <p:cNvPr id="454" name="Google Shape;454;p34"/>
          <p:cNvSpPr txBox="1"/>
          <p:nvPr>
            <p:ph idx="1" type="body"/>
          </p:nvPr>
        </p:nvSpPr>
        <p:spPr>
          <a:xfrm>
            <a:off x="1547664" y="1600200"/>
            <a:ext cx="6984776" cy="5043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8775" lvl="0" marL="358775" rtl="0" algn="l">
              <a:spcBef>
                <a:spcPts val="0"/>
              </a:spcBef>
              <a:spcAft>
                <a:spcPts val="0"/>
              </a:spcAft>
              <a:buClr>
                <a:srgbClr val="21218A"/>
              </a:buClr>
              <a:buSzPts val="1000"/>
              <a:buNone/>
            </a:pPr>
            <a:r>
              <a:rPr lang="es-CL" sz="2000">
                <a:solidFill>
                  <a:srgbClr val="21218A"/>
                </a:solidFill>
              </a:rPr>
              <a:t>4.- Desarrolle un algoritmo en diagrama de flujo que, dado el diámetro, entregue como resultado al área del círculo. Considere para ello:</a:t>
            </a:r>
            <a:endParaRPr sz="2000">
              <a:solidFill>
                <a:srgbClr val="21218A"/>
              </a:solidFill>
            </a:endParaRPr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rgbClr val="21218A"/>
              </a:buClr>
              <a:buSzPts val="1000"/>
              <a:buFont typeface="Noto Sans Symbols"/>
              <a:buNone/>
            </a:pPr>
            <a:r>
              <a:rPr lang="es-CL" sz="2000">
                <a:solidFill>
                  <a:srgbClr val="21218A"/>
                </a:solidFill>
              </a:rPr>
              <a:t>    			</a:t>
            </a:r>
            <a:r>
              <a:rPr lang="es-CL" sz="1800">
                <a:solidFill>
                  <a:srgbClr val="21218A"/>
                </a:solidFill>
              </a:rPr>
              <a:t>A= Pi*R2. (A: área, R: radio, R=D/2, Pi= 3.1416)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rgbClr val="21218A"/>
              </a:buClr>
              <a:buSzPts val="1000"/>
              <a:buFont typeface="Noto Sans Symbols"/>
              <a:buNone/>
            </a:pPr>
            <a:r>
              <a:rPr lang="es-CL" sz="2000">
                <a:solidFill>
                  <a:srgbClr val="21218A"/>
                </a:solidFill>
              </a:rPr>
              <a:t> </a:t>
            </a:r>
            <a:endParaRPr/>
          </a:p>
          <a:p>
            <a:pPr indent="-358775" lvl="0" marL="358775" rtl="0" algn="l">
              <a:spcBef>
                <a:spcPts val="400"/>
              </a:spcBef>
              <a:spcAft>
                <a:spcPts val="0"/>
              </a:spcAft>
              <a:buClr>
                <a:srgbClr val="21218A"/>
              </a:buClr>
              <a:buSzPts val="1000"/>
              <a:buNone/>
            </a:pPr>
            <a:r>
              <a:rPr lang="es-CL" sz="2000">
                <a:solidFill>
                  <a:srgbClr val="21218A"/>
                </a:solidFill>
              </a:rPr>
              <a:t>5.- Desarrolle un algoritmo en diagrama de flujo que,  calcule el número de pulsaciones que una persona debe tener por cada 10 segundos de ejercicio, si la formula es: </a:t>
            </a:r>
            <a:endParaRPr sz="2000">
              <a:solidFill>
                <a:srgbClr val="21218A"/>
              </a:solidFill>
            </a:endParaRPr>
          </a:p>
          <a:p>
            <a:pPr indent="-358775" lvl="0" marL="358775" rtl="0" algn="l">
              <a:spcBef>
                <a:spcPts val="360"/>
              </a:spcBef>
              <a:spcAft>
                <a:spcPts val="0"/>
              </a:spcAft>
              <a:buClr>
                <a:srgbClr val="21218A"/>
              </a:buClr>
              <a:buSzPts val="900"/>
              <a:buNone/>
            </a:pPr>
            <a:r>
              <a:rPr lang="es-CL" sz="1800">
                <a:solidFill>
                  <a:srgbClr val="21218A"/>
                </a:solidFill>
              </a:rPr>
              <a:t>pulsaciones = (220 - edad)/10, mostrando el resultado en pantalla.</a:t>
            </a:r>
            <a:endParaRPr/>
          </a:p>
          <a:p>
            <a:pPr indent="-2540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>
              <a:solidFill>
                <a:srgbClr val="21218A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3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rgbClr val="21218A"/>
                </a:solidFill>
              </a:rPr>
              <a:t>BLOQUES DE CONSTRUCCION</a:t>
            </a:r>
            <a:endParaRPr/>
          </a:p>
        </p:txBody>
      </p:sp>
      <p:sp>
        <p:nvSpPr>
          <p:cNvPr id="460" name="Google Shape;460;p35"/>
          <p:cNvSpPr txBox="1"/>
          <p:nvPr>
            <p:ph idx="1" type="body"/>
          </p:nvPr>
        </p:nvSpPr>
        <p:spPr>
          <a:xfrm>
            <a:off x="1403648" y="1600200"/>
            <a:ext cx="7283152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33400" lvl="0" marL="533400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</a:pPr>
            <a:r>
              <a:rPr b="1" lang="es-CL">
                <a:solidFill>
                  <a:schemeClr val="accent2"/>
                </a:solidFill>
              </a:rPr>
              <a:t>SELECCION </a:t>
            </a:r>
            <a:endParaRPr/>
          </a:p>
          <a:p>
            <a:pPr indent="-533400" lvl="0" marL="5334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/>
          </a:p>
          <a:p>
            <a:pPr indent="-533400" lvl="0" marL="5334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s-CL"/>
              <a:t>Decidir entre una u otra sentencia (o grupo de sentencias) de asignación.</a:t>
            </a:r>
            <a:endParaRPr/>
          </a:p>
          <a:p>
            <a:pPr indent="-254000" lvl="0" marL="342900" rtl="0" algn="ct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1" name="Google Shape;461;p35"/>
          <p:cNvSpPr/>
          <p:nvPr/>
        </p:nvSpPr>
        <p:spPr>
          <a:xfrm>
            <a:off x="5292080" y="4018698"/>
            <a:ext cx="3059832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</a:pPr>
            <a:r>
              <a:rPr b="1" i="1" lang="es-CL" sz="2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Estructura de selección doble</a:t>
            </a:r>
            <a:endParaRPr b="1" sz="2800">
              <a:solidFill>
                <a:srgbClr val="CC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35"/>
          <p:cNvSpPr/>
          <p:nvPr/>
        </p:nvSpPr>
        <p:spPr>
          <a:xfrm>
            <a:off x="1259632" y="4018699"/>
            <a:ext cx="3528392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</a:pPr>
            <a:r>
              <a:rPr b="1" i="1" lang="es-CL" sz="2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Estructura de selección simple</a:t>
            </a:r>
            <a:endParaRPr b="1" i="1" sz="2800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36"/>
          <p:cNvSpPr txBox="1"/>
          <p:nvPr>
            <p:ph type="title"/>
          </p:nvPr>
        </p:nvSpPr>
        <p:spPr>
          <a:xfrm>
            <a:off x="1547813" y="274638"/>
            <a:ext cx="713898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rgbClr val="21218A"/>
                </a:solidFill>
              </a:rPr>
              <a:t>BLOQUES DE CONSTRUCCION</a:t>
            </a:r>
            <a:r>
              <a:rPr lang="es-CL">
                <a:solidFill>
                  <a:schemeClr val="accent2"/>
                </a:solidFill>
              </a:rPr>
              <a:t> SELECCION </a:t>
            </a:r>
            <a:endParaRPr>
              <a:solidFill>
                <a:srgbClr val="21218A"/>
              </a:solidFill>
            </a:endParaRPr>
          </a:p>
        </p:txBody>
      </p:sp>
      <p:sp>
        <p:nvSpPr>
          <p:cNvPr id="469" name="Google Shape;469;p36"/>
          <p:cNvSpPr txBox="1"/>
          <p:nvPr>
            <p:ph idx="1" type="body"/>
          </p:nvPr>
        </p:nvSpPr>
        <p:spPr>
          <a:xfrm>
            <a:off x="1476375" y="1484709"/>
            <a:ext cx="7667625" cy="5400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</a:pPr>
            <a:r>
              <a:rPr b="1" i="1" lang="es-CL">
                <a:solidFill>
                  <a:schemeClr val="accent2"/>
                </a:solidFill>
              </a:rPr>
              <a:t>Estructura de selección simple</a:t>
            </a:r>
            <a:endParaRPr b="1" i="1">
              <a:solidFill>
                <a:schemeClr val="accen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s-CL"/>
              <a:t>Ejecuta las instrucciones sólo si se cumple una condición dada. Si la condición es falsa, no hace nada.</a:t>
            </a:r>
            <a:endParaRPr/>
          </a:p>
        </p:txBody>
      </p:sp>
      <p:sp>
        <p:nvSpPr>
          <p:cNvPr id="470" name="Google Shape;470;p36"/>
          <p:cNvSpPr/>
          <p:nvPr/>
        </p:nvSpPr>
        <p:spPr>
          <a:xfrm>
            <a:off x="5561855" y="3077010"/>
            <a:ext cx="3456384" cy="1569660"/>
          </a:xfrm>
          <a:prstGeom prst="rect">
            <a:avLst/>
          </a:prstGeom>
          <a:noFill/>
          <a:ln cap="sq" cmpd="sng" w="12700">
            <a:solidFill>
              <a:srgbClr val="70CC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PYTHON:</a:t>
            </a:r>
            <a:endParaRPr b="1" sz="3600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n= input(“Ingrese número: ”)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-CL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n=</a:t>
            </a:r>
            <a:r>
              <a:rPr b="0"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int(n)</a:t>
            </a:r>
            <a:r>
              <a:rPr b="0" lang="es-CL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endParaRPr b="1" sz="1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-CL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if n &gt; 0:</a:t>
            </a:r>
            <a:endParaRPr b="0" sz="1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-CL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    print (" positivo“)</a:t>
            </a:r>
            <a:endParaRPr b="0" sz="1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71" name="Google Shape;471;p36"/>
          <p:cNvSpPr txBox="1"/>
          <p:nvPr/>
        </p:nvSpPr>
        <p:spPr>
          <a:xfrm>
            <a:off x="6617344" y="4772000"/>
            <a:ext cx="18430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-CL" sz="2400">
                <a:solidFill>
                  <a:srgbClr val="009900"/>
                </a:solidFill>
                <a:latin typeface="Tahoma"/>
                <a:ea typeface="Tahoma"/>
                <a:cs typeface="Tahoma"/>
                <a:sym typeface="Tahoma"/>
              </a:rPr>
              <a:t>Indentado</a:t>
            </a:r>
            <a:endParaRPr b="0" sz="2400">
              <a:solidFill>
                <a:srgbClr val="0099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cxnSp>
        <p:nvCxnSpPr>
          <p:cNvPr id="472" name="Google Shape;472;p36"/>
          <p:cNvCxnSpPr/>
          <p:nvPr/>
        </p:nvCxnSpPr>
        <p:spPr>
          <a:xfrm rot="10800000">
            <a:off x="6071454" y="4545086"/>
            <a:ext cx="372754" cy="468090"/>
          </a:xfrm>
          <a:prstGeom prst="straightConnector1">
            <a:avLst/>
          </a:prstGeom>
          <a:noFill/>
          <a:ln cap="flat" cmpd="sng" w="38100">
            <a:solidFill>
              <a:srgbClr val="FF33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73" name="Google Shape;473;p36"/>
          <p:cNvSpPr/>
          <p:nvPr/>
        </p:nvSpPr>
        <p:spPr>
          <a:xfrm>
            <a:off x="2920293" y="3180462"/>
            <a:ext cx="1025037" cy="413191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 Narrow"/>
              <a:buNone/>
            </a:pPr>
            <a:r>
              <a:rPr b="1" i="0" lang="es-CL" sz="11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INICIO</a:t>
            </a:r>
            <a:endParaRPr/>
          </a:p>
        </p:txBody>
      </p:sp>
      <p:sp>
        <p:nvSpPr>
          <p:cNvPr id="474" name="Google Shape;474;p36"/>
          <p:cNvSpPr/>
          <p:nvPr/>
        </p:nvSpPr>
        <p:spPr>
          <a:xfrm>
            <a:off x="4768504" y="5445224"/>
            <a:ext cx="1675703" cy="307777"/>
          </a:xfrm>
          <a:prstGeom prst="flowChartInputOutpu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40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“Positivo”</a:t>
            </a:r>
            <a:endParaRPr b="0" i="0" sz="1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475" name="Google Shape;475;p36"/>
          <p:cNvSpPr/>
          <p:nvPr/>
        </p:nvSpPr>
        <p:spPr>
          <a:xfrm>
            <a:off x="2916168" y="6440821"/>
            <a:ext cx="1024891" cy="367873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 Narrow"/>
              <a:buNone/>
            </a:pPr>
            <a:r>
              <a:rPr b="1" i="0" lang="es-CL" sz="11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FIN</a:t>
            </a:r>
            <a:endParaRPr b="1" i="0" sz="1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cxnSp>
        <p:nvCxnSpPr>
          <p:cNvPr id="476" name="Google Shape;476;p36"/>
          <p:cNvCxnSpPr>
            <a:stCxn id="473" idx="4"/>
            <a:endCxn id="477" idx="1"/>
          </p:cNvCxnSpPr>
          <p:nvPr/>
        </p:nvCxnSpPr>
        <p:spPr>
          <a:xfrm flipH="1">
            <a:off x="3419012" y="3593653"/>
            <a:ext cx="13800" cy="245700"/>
          </a:xfrm>
          <a:prstGeom prst="straightConnector1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478" name="Google Shape;478;p36"/>
          <p:cNvCxnSpPr>
            <a:stCxn id="477" idx="4"/>
            <a:endCxn id="479" idx="1"/>
          </p:cNvCxnSpPr>
          <p:nvPr/>
        </p:nvCxnSpPr>
        <p:spPr>
          <a:xfrm>
            <a:off x="3418911" y="4147131"/>
            <a:ext cx="900" cy="303900"/>
          </a:xfrm>
          <a:prstGeom prst="straightConnector1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480" name="Google Shape;480;p36"/>
          <p:cNvCxnSpPr>
            <a:stCxn id="479" idx="4"/>
            <a:endCxn id="481" idx="0"/>
          </p:cNvCxnSpPr>
          <p:nvPr/>
        </p:nvCxnSpPr>
        <p:spPr>
          <a:xfrm>
            <a:off x="3419872" y="4789449"/>
            <a:ext cx="12900" cy="532500"/>
          </a:xfrm>
          <a:prstGeom prst="straightConnector1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477" name="Google Shape;477;p36"/>
          <p:cNvSpPr/>
          <p:nvPr/>
        </p:nvSpPr>
        <p:spPr>
          <a:xfrm>
            <a:off x="1979712" y="3839354"/>
            <a:ext cx="2878398" cy="307777"/>
          </a:xfrm>
          <a:prstGeom prst="flowChartInputOutpu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</a:pPr>
            <a:r>
              <a:rPr b="1" lang="es-CL" sz="140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“Ingrese un número:”</a:t>
            </a:r>
            <a:endParaRPr b="1" sz="1400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479" name="Google Shape;479;p36"/>
          <p:cNvSpPr/>
          <p:nvPr/>
        </p:nvSpPr>
        <p:spPr>
          <a:xfrm>
            <a:off x="2627784" y="4450895"/>
            <a:ext cx="1584176" cy="338554"/>
          </a:xfrm>
          <a:prstGeom prst="flowChartInputOutpu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Narrow"/>
              <a:buNone/>
            </a:pPr>
            <a:r>
              <a:rPr b="0" lang="es-CL" sz="160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n</a:t>
            </a:r>
            <a:endParaRPr b="0" i="0" sz="16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cxnSp>
        <p:nvCxnSpPr>
          <p:cNvPr id="482" name="Google Shape;482;p36"/>
          <p:cNvCxnSpPr>
            <a:stCxn id="481" idx="2"/>
            <a:endCxn id="475" idx="0"/>
          </p:cNvCxnSpPr>
          <p:nvPr/>
        </p:nvCxnSpPr>
        <p:spPr>
          <a:xfrm flipH="1">
            <a:off x="3428612" y="5872318"/>
            <a:ext cx="4200" cy="568500"/>
          </a:xfrm>
          <a:prstGeom prst="straightConnector1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481" name="Google Shape;481;p36"/>
          <p:cNvSpPr/>
          <p:nvPr/>
        </p:nvSpPr>
        <p:spPr>
          <a:xfrm>
            <a:off x="2762866" y="5322071"/>
            <a:ext cx="1339891" cy="550247"/>
          </a:xfrm>
          <a:prstGeom prst="diamond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lang="es-CL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i="0" lang="es-CL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&gt;0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83" name="Google Shape;483;p36"/>
          <p:cNvCxnSpPr/>
          <p:nvPr/>
        </p:nvCxnSpPr>
        <p:spPr>
          <a:xfrm>
            <a:off x="4379786" y="4005064"/>
            <a:ext cx="432048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cxnSp>
        <p:nvCxnSpPr>
          <p:cNvPr id="484" name="Google Shape;484;p36"/>
          <p:cNvCxnSpPr/>
          <p:nvPr/>
        </p:nvCxnSpPr>
        <p:spPr>
          <a:xfrm flipH="1">
            <a:off x="3842937" y="4664249"/>
            <a:ext cx="379165" cy="1135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cxnSp>
        <p:nvCxnSpPr>
          <p:cNvPr id="485" name="Google Shape;485;p36"/>
          <p:cNvCxnSpPr/>
          <p:nvPr/>
        </p:nvCxnSpPr>
        <p:spPr>
          <a:xfrm>
            <a:off x="6012160" y="5583255"/>
            <a:ext cx="432048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cxnSp>
        <p:nvCxnSpPr>
          <p:cNvPr id="486" name="Google Shape;486;p36"/>
          <p:cNvCxnSpPr/>
          <p:nvPr/>
        </p:nvCxnSpPr>
        <p:spPr>
          <a:xfrm flipH="1">
            <a:off x="3432855" y="5755741"/>
            <a:ext cx="1821300" cy="434700"/>
          </a:xfrm>
          <a:prstGeom prst="bentConnector3">
            <a:avLst>
              <a:gd fmla="val 1340" name="adj1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87" name="Google Shape;487;p36"/>
          <p:cNvCxnSpPr>
            <a:stCxn id="481" idx="3"/>
            <a:endCxn id="474" idx="2"/>
          </p:cNvCxnSpPr>
          <p:nvPr/>
        </p:nvCxnSpPr>
        <p:spPr>
          <a:xfrm>
            <a:off x="4102757" y="5597195"/>
            <a:ext cx="833400" cy="1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88" name="Google Shape;488;p36"/>
          <p:cNvSpPr txBox="1"/>
          <p:nvPr/>
        </p:nvSpPr>
        <p:spPr>
          <a:xfrm>
            <a:off x="4580662" y="5301208"/>
            <a:ext cx="35137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</a:t>
            </a:r>
            <a:endParaRPr b="0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37"/>
          <p:cNvSpPr txBox="1"/>
          <p:nvPr>
            <p:ph type="title"/>
          </p:nvPr>
        </p:nvSpPr>
        <p:spPr>
          <a:xfrm>
            <a:off x="1547664" y="100058"/>
            <a:ext cx="713898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rgbClr val="21218A"/>
                </a:solidFill>
              </a:rPr>
              <a:t>BLOQUES DE CONSTRUCCION</a:t>
            </a:r>
            <a:r>
              <a:rPr lang="es-CL">
                <a:solidFill>
                  <a:schemeClr val="accent2"/>
                </a:solidFill>
              </a:rPr>
              <a:t> SELECCION</a:t>
            </a:r>
            <a:endParaRPr>
              <a:solidFill>
                <a:srgbClr val="21218A"/>
              </a:solidFill>
            </a:endParaRPr>
          </a:p>
        </p:txBody>
      </p:sp>
      <p:sp>
        <p:nvSpPr>
          <p:cNvPr id="495" name="Google Shape;495;p37"/>
          <p:cNvSpPr txBox="1"/>
          <p:nvPr>
            <p:ph idx="1" type="body"/>
          </p:nvPr>
        </p:nvSpPr>
        <p:spPr>
          <a:xfrm>
            <a:off x="1636990" y="1203400"/>
            <a:ext cx="7183482" cy="18344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</a:pPr>
            <a:r>
              <a:rPr b="1" i="1" lang="es-CL" sz="2400">
                <a:solidFill>
                  <a:schemeClr val="accent2"/>
                </a:solidFill>
              </a:rPr>
              <a:t>Estructura de selección doble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s-CL" sz="2400"/>
              <a:t>Decide qué instrucciones ejecutar dependiendo si una condición es verdadera o falsa.</a:t>
            </a:r>
            <a:endParaRPr sz="2400"/>
          </a:p>
        </p:txBody>
      </p:sp>
      <p:sp>
        <p:nvSpPr>
          <p:cNvPr id="496" name="Google Shape;496;p37"/>
          <p:cNvSpPr/>
          <p:nvPr/>
        </p:nvSpPr>
        <p:spPr>
          <a:xfrm>
            <a:off x="4449589" y="2735712"/>
            <a:ext cx="4370883" cy="2123658"/>
          </a:xfrm>
          <a:prstGeom prst="rect">
            <a:avLst/>
          </a:prstGeom>
          <a:noFill/>
          <a:ln cap="sq" cmpd="sng" w="12700">
            <a:solidFill>
              <a:srgbClr val="70CC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PYTHON:</a:t>
            </a:r>
            <a:endParaRPr b="1" sz="3600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-CL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n=int(input(“ingrese un número”))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-CL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If n &gt; 0: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-CL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print " positivo"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-CL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else: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-CL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print ”otro”</a:t>
            </a:r>
            <a:endParaRPr b="0"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97" name="Google Shape;497;p37"/>
          <p:cNvSpPr txBox="1"/>
          <p:nvPr/>
        </p:nvSpPr>
        <p:spPr>
          <a:xfrm>
            <a:off x="6606260" y="4658781"/>
            <a:ext cx="18430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-CL" sz="2400">
                <a:solidFill>
                  <a:srgbClr val="009900"/>
                </a:solidFill>
                <a:latin typeface="Tahoma"/>
                <a:ea typeface="Tahoma"/>
                <a:cs typeface="Tahoma"/>
                <a:sym typeface="Tahoma"/>
              </a:rPr>
              <a:t>Indentado</a:t>
            </a:r>
            <a:endParaRPr b="0" sz="2400">
              <a:solidFill>
                <a:srgbClr val="0099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498" name="Google Shape;498;p37"/>
          <p:cNvGrpSpPr/>
          <p:nvPr/>
        </p:nvGrpSpPr>
        <p:grpSpPr>
          <a:xfrm>
            <a:off x="29813" y="3018054"/>
            <a:ext cx="6594897" cy="3628232"/>
            <a:chOff x="-625690" y="3018054"/>
            <a:chExt cx="6594897" cy="3628232"/>
          </a:xfrm>
        </p:grpSpPr>
        <p:grpSp>
          <p:nvGrpSpPr>
            <p:cNvPr id="499" name="Google Shape;499;p37"/>
            <p:cNvGrpSpPr/>
            <p:nvPr/>
          </p:nvGrpSpPr>
          <p:grpSpPr>
            <a:xfrm>
              <a:off x="-625690" y="3018054"/>
              <a:ext cx="6594897" cy="3628232"/>
              <a:chOff x="442144" y="3115107"/>
              <a:chExt cx="6594897" cy="3628232"/>
            </a:xfrm>
          </p:grpSpPr>
          <p:cxnSp>
            <p:nvCxnSpPr>
              <p:cNvPr id="500" name="Google Shape;500;p37"/>
              <p:cNvCxnSpPr/>
              <p:nvPr/>
            </p:nvCxnSpPr>
            <p:spPr>
              <a:xfrm rot="10800000">
                <a:off x="5344371" y="4609050"/>
                <a:ext cx="1692670" cy="441338"/>
              </a:xfrm>
              <a:prstGeom prst="straightConnector1">
                <a:avLst/>
              </a:prstGeom>
              <a:noFill/>
              <a:ln cap="flat" cmpd="sng" w="38100">
                <a:solidFill>
                  <a:srgbClr val="FF33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501" name="Google Shape;501;p37"/>
              <p:cNvCxnSpPr/>
              <p:nvPr/>
            </p:nvCxnSpPr>
            <p:spPr>
              <a:xfrm rot="10800000">
                <a:off x="5488387" y="4046698"/>
                <a:ext cx="1533269" cy="909455"/>
              </a:xfrm>
              <a:prstGeom prst="straightConnector1">
                <a:avLst/>
              </a:prstGeom>
              <a:noFill/>
              <a:ln cap="flat" cmpd="sng" w="38100">
                <a:solidFill>
                  <a:srgbClr val="FF33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502" name="Google Shape;502;p37"/>
              <p:cNvSpPr/>
              <p:nvPr/>
            </p:nvSpPr>
            <p:spPr>
              <a:xfrm>
                <a:off x="2771800" y="3115107"/>
                <a:ext cx="1025037" cy="413191"/>
              </a:xfrm>
              <a:prstGeom prst="ellipse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 Narrow"/>
                  <a:buNone/>
                </a:pPr>
                <a:r>
                  <a:rPr b="1" i="0" lang="es-CL" sz="1100" u="none" cap="none" strike="noStrike">
                    <a:solidFill>
                      <a:schemeClr val="dk1"/>
                    </a:solidFill>
                    <a:latin typeface="Arial Narrow"/>
                    <a:ea typeface="Arial Narrow"/>
                    <a:cs typeface="Arial Narrow"/>
                    <a:sym typeface="Arial Narrow"/>
                  </a:rPr>
                  <a:t>INICIO</a:t>
                </a:r>
                <a:endParaRPr/>
              </a:p>
            </p:txBody>
          </p:sp>
          <p:sp>
            <p:nvSpPr>
              <p:cNvPr id="503" name="Google Shape;503;p37"/>
              <p:cNvSpPr/>
              <p:nvPr/>
            </p:nvSpPr>
            <p:spPr>
              <a:xfrm>
                <a:off x="4077272" y="5105392"/>
                <a:ext cx="1968958" cy="307777"/>
              </a:xfrm>
              <a:prstGeom prst="flowChartInputOutpu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s-CL" sz="1400">
                    <a:solidFill>
                      <a:schemeClr val="dk1"/>
                    </a:solidFill>
                    <a:latin typeface="Arial Narrow"/>
                    <a:ea typeface="Arial Narrow"/>
                    <a:cs typeface="Arial Narrow"/>
                    <a:sym typeface="Arial Narrow"/>
                  </a:rPr>
                  <a:t>“Positivo”</a:t>
                </a:r>
                <a:endParaRPr b="0" i="0" sz="1400" u="none" cap="none" strike="noStrike">
                  <a:solidFill>
                    <a:schemeClr val="dk1"/>
                  </a:solidFill>
                  <a:latin typeface="Arial Narrow"/>
                  <a:ea typeface="Arial Narrow"/>
                  <a:cs typeface="Arial Narrow"/>
                  <a:sym typeface="Arial Narrow"/>
                </a:endParaRPr>
              </a:p>
            </p:txBody>
          </p:sp>
          <p:sp>
            <p:nvSpPr>
              <p:cNvPr id="504" name="Google Shape;504;p37"/>
              <p:cNvSpPr/>
              <p:nvPr/>
            </p:nvSpPr>
            <p:spPr>
              <a:xfrm>
                <a:off x="2767675" y="6375466"/>
                <a:ext cx="1024891" cy="367873"/>
              </a:xfrm>
              <a:prstGeom prst="ellipse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 Narrow"/>
                  <a:buNone/>
                </a:pPr>
                <a:r>
                  <a:rPr b="1" i="0" lang="es-CL" sz="1100" u="none" cap="none" strike="noStrike">
                    <a:solidFill>
                      <a:schemeClr val="dk1"/>
                    </a:solidFill>
                    <a:latin typeface="Arial Narrow"/>
                    <a:ea typeface="Arial Narrow"/>
                    <a:cs typeface="Arial Narrow"/>
                    <a:sym typeface="Arial Narrow"/>
                  </a:rPr>
                  <a:t>FIN</a:t>
                </a:r>
                <a:endParaRPr b="1" i="0" sz="1400" u="none" cap="none" strike="noStrike">
                  <a:solidFill>
                    <a:schemeClr val="dk1"/>
                  </a:solidFill>
                  <a:latin typeface="Arial Narrow"/>
                  <a:ea typeface="Arial Narrow"/>
                  <a:cs typeface="Arial Narrow"/>
                  <a:sym typeface="Arial Narrow"/>
                </a:endParaRPr>
              </a:p>
            </p:txBody>
          </p:sp>
          <p:cxnSp>
            <p:nvCxnSpPr>
              <p:cNvPr id="505" name="Google Shape;505;p37"/>
              <p:cNvCxnSpPr>
                <a:stCxn id="502" idx="4"/>
                <a:endCxn id="506" idx="1"/>
              </p:cNvCxnSpPr>
              <p:nvPr/>
            </p:nvCxnSpPr>
            <p:spPr>
              <a:xfrm>
                <a:off x="3284318" y="3528298"/>
                <a:ext cx="10500" cy="245700"/>
              </a:xfrm>
              <a:prstGeom prst="straightConnector1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stealth"/>
              </a:ln>
            </p:spPr>
          </p:cxnSp>
          <p:cxnSp>
            <p:nvCxnSpPr>
              <p:cNvPr id="507" name="Google Shape;507;p37"/>
              <p:cNvCxnSpPr>
                <a:stCxn id="506" idx="4"/>
                <a:endCxn id="508" idx="1"/>
              </p:cNvCxnSpPr>
              <p:nvPr/>
            </p:nvCxnSpPr>
            <p:spPr>
              <a:xfrm flipH="1">
                <a:off x="3284209" y="4081776"/>
                <a:ext cx="10500" cy="313500"/>
              </a:xfrm>
              <a:prstGeom prst="straightConnector1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stealth"/>
              </a:ln>
            </p:spPr>
          </p:cxnSp>
          <p:cxnSp>
            <p:nvCxnSpPr>
              <p:cNvPr id="509" name="Google Shape;509;p37"/>
              <p:cNvCxnSpPr>
                <a:stCxn id="508" idx="4"/>
                <a:endCxn id="510" idx="0"/>
              </p:cNvCxnSpPr>
              <p:nvPr/>
            </p:nvCxnSpPr>
            <p:spPr>
              <a:xfrm>
                <a:off x="3284318" y="4733935"/>
                <a:ext cx="0" cy="241500"/>
              </a:xfrm>
              <a:prstGeom prst="straightConnector1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stealth"/>
              </a:ln>
            </p:spPr>
          </p:cxnSp>
          <p:sp>
            <p:nvSpPr>
              <p:cNvPr id="506" name="Google Shape;506;p37"/>
              <p:cNvSpPr/>
              <p:nvPr/>
            </p:nvSpPr>
            <p:spPr>
              <a:xfrm>
                <a:off x="1823410" y="3773999"/>
                <a:ext cx="2942597" cy="307777"/>
              </a:xfrm>
              <a:prstGeom prst="flowChartInputOutpu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 Narrow"/>
                  <a:buNone/>
                </a:pPr>
                <a:r>
                  <a:rPr b="1" lang="es-CL" sz="1400">
                    <a:solidFill>
                      <a:schemeClr val="dk1"/>
                    </a:solidFill>
                    <a:latin typeface="Arial Narrow"/>
                    <a:ea typeface="Arial Narrow"/>
                    <a:cs typeface="Arial Narrow"/>
                    <a:sym typeface="Arial Narrow"/>
                  </a:rPr>
                  <a:t>“Ingrese un número:”</a:t>
                </a:r>
                <a:endParaRPr b="1" sz="1400">
                  <a:solidFill>
                    <a:schemeClr val="dk1"/>
                  </a:solidFill>
                  <a:latin typeface="Arial Narrow"/>
                  <a:ea typeface="Arial Narrow"/>
                  <a:cs typeface="Arial Narrow"/>
                  <a:sym typeface="Arial Narrow"/>
                </a:endParaRPr>
              </a:p>
            </p:txBody>
          </p:sp>
          <p:sp>
            <p:nvSpPr>
              <p:cNvPr id="508" name="Google Shape;508;p37"/>
              <p:cNvSpPr/>
              <p:nvPr/>
            </p:nvSpPr>
            <p:spPr>
              <a:xfrm>
                <a:off x="2533265" y="4395381"/>
                <a:ext cx="1502105" cy="338554"/>
              </a:xfrm>
              <a:prstGeom prst="flowChartInputOutpu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Arial Narrow"/>
                  <a:buNone/>
                </a:pPr>
                <a:r>
                  <a:rPr b="0" lang="es-CL" sz="1600">
                    <a:solidFill>
                      <a:schemeClr val="dk1"/>
                    </a:solidFill>
                    <a:latin typeface="Arial Narrow"/>
                    <a:ea typeface="Arial Narrow"/>
                    <a:cs typeface="Arial Narrow"/>
                    <a:sym typeface="Arial Narrow"/>
                  </a:rPr>
                  <a:t>n</a:t>
                </a:r>
                <a:endParaRPr b="0" i="0" sz="1600" u="none" cap="none" strike="noStrike">
                  <a:solidFill>
                    <a:schemeClr val="dk1"/>
                  </a:solidFill>
                  <a:latin typeface="Arial Narrow"/>
                  <a:ea typeface="Arial Narrow"/>
                  <a:cs typeface="Arial Narrow"/>
                  <a:sym typeface="Arial Narrow"/>
                </a:endParaRPr>
              </a:p>
            </p:txBody>
          </p:sp>
          <p:cxnSp>
            <p:nvCxnSpPr>
              <p:cNvPr id="511" name="Google Shape;511;p37"/>
              <p:cNvCxnSpPr>
                <a:stCxn id="510" idx="1"/>
                <a:endCxn id="512" idx="5"/>
              </p:cNvCxnSpPr>
              <p:nvPr/>
            </p:nvCxnSpPr>
            <p:spPr>
              <a:xfrm rot="10800000">
                <a:off x="2113371" y="5244379"/>
                <a:ext cx="501000" cy="6300"/>
              </a:xfrm>
              <a:prstGeom prst="straightConnector1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stealth"/>
              </a:ln>
            </p:spPr>
          </p:cxnSp>
          <p:sp>
            <p:nvSpPr>
              <p:cNvPr id="510" name="Google Shape;510;p37"/>
              <p:cNvSpPr/>
              <p:nvPr/>
            </p:nvSpPr>
            <p:spPr>
              <a:xfrm>
                <a:off x="2614371" y="4975555"/>
                <a:ext cx="1339891" cy="550247"/>
              </a:xfrm>
              <a:prstGeom prst="diamond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Arial"/>
                  <a:buNone/>
                </a:pPr>
                <a:r>
                  <a:rPr b="0" lang="es-CL" sz="12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n</a:t>
                </a:r>
                <a:r>
                  <a:rPr b="0" i="0" lang="es-CL" sz="12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&gt;0</a:t>
                </a:r>
                <a:endParaRPr b="0" i="0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513" name="Google Shape;513;p37"/>
              <p:cNvCxnSpPr>
                <a:stCxn id="510" idx="3"/>
                <a:endCxn id="503" idx="2"/>
              </p:cNvCxnSpPr>
              <p:nvPr/>
            </p:nvCxnSpPr>
            <p:spPr>
              <a:xfrm>
                <a:off x="3954262" y="5250679"/>
                <a:ext cx="319800" cy="8700"/>
              </a:xfrm>
              <a:prstGeom prst="straightConnector1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stealth"/>
              </a:ln>
            </p:spPr>
          </p:cxnSp>
          <p:sp>
            <p:nvSpPr>
              <p:cNvPr id="512" name="Google Shape;512;p37"/>
              <p:cNvSpPr/>
              <p:nvPr/>
            </p:nvSpPr>
            <p:spPr>
              <a:xfrm>
                <a:off x="442144" y="5090484"/>
                <a:ext cx="1856846" cy="307777"/>
              </a:xfrm>
              <a:prstGeom prst="flowChartInputOutpu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s-CL" sz="1400">
                    <a:solidFill>
                      <a:schemeClr val="dk1"/>
                    </a:solidFill>
                    <a:latin typeface="Arial Narrow"/>
                    <a:ea typeface="Arial Narrow"/>
                    <a:cs typeface="Arial Narrow"/>
                    <a:sym typeface="Arial Narrow"/>
                  </a:rPr>
                  <a:t>“otro”</a:t>
                </a:r>
                <a:endParaRPr b="0" i="0" sz="1400" u="none" cap="none" strike="noStrike">
                  <a:solidFill>
                    <a:schemeClr val="dk1"/>
                  </a:solidFill>
                  <a:latin typeface="Arial Narrow"/>
                  <a:ea typeface="Arial Narrow"/>
                  <a:cs typeface="Arial Narrow"/>
                  <a:sym typeface="Arial Narrow"/>
                </a:endParaRPr>
              </a:p>
            </p:txBody>
          </p:sp>
          <p:sp>
            <p:nvSpPr>
              <p:cNvPr id="514" name="Google Shape;514;p37"/>
              <p:cNvSpPr txBox="1"/>
              <p:nvPr/>
            </p:nvSpPr>
            <p:spPr>
              <a:xfrm>
                <a:off x="3891740" y="5006272"/>
                <a:ext cx="287259" cy="2616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s-CL" sz="11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si</a:t>
                </a:r>
                <a:endParaRPr b="0" sz="11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5" name="Google Shape;515;p37"/>
              <p:cNvSpPr txBox="1"/>
              <p:nvPr/>
            </p:nvSpPr>
            <p:spPr>
              <a:xfrm>
                <a:off x="2373095" y="5006272"/>
                <a:ext cx="341760" cy="2616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s-CL" sz="11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no</a:t>
                </a:r>
                <a:endParaRPr b="0" sz="11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16" name="Google Shape;516;p37"/>
            <p:cNvGrpSpPr/>
            <p:nvPr/>
          </p:nvGrpSpPr>
          <p:grpSpPr>
            <a:xfrm>
              <a:off x="302733" y="3789040"/>
              <a:ext cx="4854144" cy="2489268"/>
              <a:chOff x="302733" y="3789040"/>
              <a:chExt cx="4854144" cy="2489268"/>
            </a:xfrm>
          </p:grpSpPr>
          <p:cxnSp>
            <p:nvCxnSpPr>
              <p:cNvPr id="517" name="Google Shape;517;p37"/>
              <p:cNvCxnSpPr/>
              <p:nvPr/>
            </p:nvCxnSpPr>
            <p:spPr>
              <a:xfrm>
                <a:off x="3075546" y="3789040"/>
                <a:ext cx="432048" cy="0"/>
              </a:xfrm>
              <a:prstGeom prst="straightConnector1">
                <a:avLst/>
              </a:prstGeom>
              <a:noFill/>
              <a:ln cap="flat" cmpd="sng" w="25400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  <a:effectLst>
                <a:outerShdw blurRad="40000" rotWithShape="0" dir="5400000" dist="20000">
                  <a:srgbClr val="000000">
                    <a:alpha val="37647"/>
                  </a:srgbClr>
                </a:outerShdw>
              </a:effectLst>
            </p:spPr>
          </p:cxnSp>
          <p:cxnSp>
            <p:nvCxnSpPr>
              <p:cNvPr id="518" name="Google Shape;518;p37"/>
              <p:cNvCxnSpPr/>
              <p:nvPr/>
            </p:nvCxnSpPr>
            <p:spPr>
              <a:xfrm>
                <a:off x="899592" y="5085184"/>
                <a:ext cx="432048" cy="0"/>
              </a:xfrm>
              <a:prstGeom prst="straightConnector1">
                <a:avLst/>
              </a:prstGeom>
              <a:noFill/>
              <a:ln cap="flat" cmpd="sng" w="25400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  <a:effectLst>
                <a:outerShdw blurRad="40000" rotWithShape="0" dir="5400000" dist="20000">
                  <a:srgbClr val="000000">
                    <a:alpha val="37647"/>
                  </a:srgbClr>
                </a:outerShdw>
              </a:effectLst>
            </p:spPr>
          </p:cxnSp>
          <p:cxnSp>
            <p:nvCxnSpPr>
              <p:cNvPr id="519" name="Google Shape;519;p37"/>
              <p:cNvCxnSpPr/>
              <p:nvPr/>
            </p:nvCxnSpPr>
            <p:spPr>
              <a:xfrm>
                <a:off x="4724829" y="5115981"/>
                <a:ext cx="432048" cy="0"/>
              </a:xfrm>
              <a:prstGeom prst="straightConnector1">
                <a:avLst/>
              </a:prstGeom>
              <a:noFill/>
              <a:ln cap="flat" cmpd="sng" w="25400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  <a:effectLst>
                <a:outerShdw blurRad="40000" rotWithShape="0" dir="5400000" dist="20000">
                  <a:srgbClr val="000000">
                    <a:alpha val="37647"/>
                  </a:srgbClr>
                </a:outerShdw>
              </a:effectLst>
            </p:spPr>
          </p:cxnSp>
          <p:cxnSp>
            <p:nvCxnSpPr>
              <p:cNvPr id="520" name="Google Shape;520;p37"/>
              <p:cNvCxnSpPr/>
              <p:nvPr/>
            </p:nvCxnSpPr>
            <p:spPr>
              <a:xfrm flipH="1">
                <a:off x="2482103" y="4460242"/>
                <a:ext cx="379165" cy="1135"/>
              </a:xfrm>
              <a:prstGeom prst="straightConnector1">
                <a:avLst/>
              </a:prstGeom>
              <a:noFill/>
              <a:ln cap="flat" cmpd="sng" w="25400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  <a:effectLst>
                <a:outerShdw blurRad="40000" rotWithShape="0" dir="5400000" dist="20000">
                  <a:srgbClr val="000000">
                    <a:alpha val="37647"/>
                  </a:srgbClr>
                </a:outerShdw>
              </a:effectLst>
            </p:spPr>
          </p:cxnSp>
          <p:cxnSp>
            <p:nvCxnSpPr>
              <p:cNvPr id="521" name="Google Shape;521;p37"/>
              <p:cNvCxnSpPr>
                <a:stCxn id="512" idx="4"/>
                <a:endCxn id="504" idx="0"/>
              </p:cNvCxnSpPr>
              <p:nvPr/>
            </p:nvCxnSpPr>
            <p:spPr>
              <a:xfrm flipH="1" rot="-5400000">
                <a:off x="768933" y="4835008"/>
                <a:ext cx="977100" cy="1909500"/>
              </a:xfrm>
              <a:prstGeom prst="bentConnector3">
                <a:avLst>
                  <a:gd fmla="val 50000" name="adj1"/>
                </a:avLst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</p:grpSp>
      </p:grpSp>
      <p:cxnSp>
        <p:nvCxnSpPr>
          <p:cNvPr id="522" name="Google Shape;522;p37"/>
          <p:cNvCxnSpPr>
            <a:stCxn id="503" idx="4"/>
          </p:cNvCxnSpPr>
          <p:nvPr/>
        </p:nvCxnSpPr>
        <p:spPr>
          <a:xfrm rot="5400000">
            <a:off x="3523670" y="4674866"/>
            <a:ext cx="484500" cy="17670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3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Ejercicio</a:t>
            </a:r>
            <a:endParaRPr/>
          </a:p>
        </p:txBody>
      </p:sp>
      <p:sp>
        <p:nvSpPr>
          <p:cNvPr id="528" name="Google Shape;528;p38"/>
          <p:cNvSpPr txBox="1"/>
          <p:nvPr>
            <p:ph idx="1" type="body"/>
          </p:nvPr>
        </p:nvSpPr>
        <p:spPr>
          <a:xfrm>
            <a:off x="1439144" y="1556792"/>
            <a:ext cx="7381328" cy="489654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100"/>
              <a:buNone/>
            </a:pPr>
            <a:r>
              <a:rPr lang="es-CL" sz="2200">
                <a:solidFill>
                  <a:srgbClr val="002060"/>
                </a:solidFill>
              </a:rPr>
              <a:t>Diseñe un algoritmo en diagrama de flujo y Python, tal que:</a:t>
            </a:r>
            <a:endParaRPr/>
          </a:p>
          <a:p>
            <a:pPr indent="-342900" lvl="0" marL="342900" rtl="0" algn="just">
              <a:spcBef>
                <a:spcPts val="440"/>
              </a:spcBef>
              <a:spcAft>
                <a:spcPts val="0"/>
              </a:spcAft>
              <a:buClr>
                <a:srgbClr val="002060"/>
              </a:buClr>
              <a:buSzPts val="1100"/>
              <a:buChar char="❑"/>
            </a:pPr>
            <a:r>
              <a:rPr lang="es-CL" sz="2200">
                <a:solidFill>
                  <a:srgbClr val="002060"/>
                </a:solidFill>
              </a:rPr>
              <a:t>Ingresados dos números por el  usuario, los multiplique si son distintos, o los sume si son iguales, imprima el resultado.</a:t>
            </a:r>
            <a:endParaRPr sz="2200">
              <a:solidFill>
                <a:srgbClr val="002060"/>
              </a:solidFill>
            </a:endParaRPr>
          </a:p>
          <a:p>
            <a:pPr indent="-342900" lvl="0" marL="342900" rtl="0" algn="just">
              <a:spcBef>
                <a:spcPts val="440"/>
              </a:spcBef>
              <a:spcAft>
                <a:spcPts val="0"/>
              </a:spcAft>
              <a:buClr>
                <a:srgbClr val="002060"/>
              </a:buClr>
              <a:buSzPts val="1100"/>
              <a:buChar char="❑"/>
            </a:pPr>
            <a:r>
              <a:rPr lang="es-CL" sz="2200">
                <a:solidFill>
                  <a:srgbClr val="002060"/>
                </a:solidFill>
              </a:rPr>
              <a:t>Ingresados tres valores M, N y P, si M es menor o igual a N  hacer R= M*N + P. En caso contrario, hacer R = (M+N) * P, imprima R.</a:t>
            </a:r>
            <a:endParaRPr sz="2200">
              <a:solidFill>
                <a:srgbClr val="002060"/>
              </a:solidFill>
            </a:endParaRPr>
          </a:p>
          <a:p>
            <a:pPr indent="-342900" lvl="0" marL="342900" rtl="0" algn="just">
              <a:spcBef>
                <a:spcPts val="440"/>
              </a:spcBef>
              <a:spcAft>
                <a:spcPts val="0"/>
              </a:spcAft>
              <a:buClr>
                <a:srgbClr val="002060"/>
              </a:buClr>
              <a:buSzPts val="1100"/>
              <a:buChar char="❑"/>
            </a:pPr>
            <a:r>
              <a:rPr lang="es-CL" sz="2200">
                <a:solidFill>
                  <a:srgbClr val="002060"/>
                </a:solidFill>
              </a:rPr>
              <a:t>Ingresados dos números, dar la relación entre ellos. Señalar el mayor, el menor o especificar si son iguales.</a:t>
            </a:r>
            <a:endParaRPr/>
          </a:p>
          <a:p>
            <a:pPr indent="-342900" lvl="0" marL="342900" rtl="0" algn="just">
              <a:spcBef>
                <a:spcPts val="440"/>
              </a:spcBef>
              <a:spcAft>
                <a:spcPts val="0"/>
              </a:spcAft>
              <a:buClr>
                <a:srgbClr val="002060"/>
              </a:buClr>
              <a:buSzPts val="1100"/>
              <a:buChar char="❑"/>
            </a:pPr>
            <a:r>
              <a:rPr lang="es-CL" sz="2200">
                <a:solidFill>
                  <a:srgbClr val="002060"/>
                </a:solidFill>
              </a:rPr>
              <a:t>Ingresados dos números positivos, diga si éstos son par o impar.</a:t>
            </a:r>
            <a:endParaRPr sz="2200">
              <a:solidFill>
                <a:srgbClr val="002060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iseño predeterminado">
  <a:themeElements>
    <a:clrScheme name="Diseño predeterminad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2002-04-19T21:10:20Z</dcterms:created>
  <dc:creator>UACH</dc:creator>
</cp:coreProperties>
</file>