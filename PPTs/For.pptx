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9"/>
  </p:notesMasterIdLst>
  <p:sldIdLst>
    <p:sldId id="360" r:id="rId2"/>
    <p:sldId id="549" r:id="rId3"/>
    <p:sldId id="512" r:id="rId4"/>
    <p:sldId id="534" r:id="rId5"/>
    <p:sldId id="535" r:id="rId6"/>
    <p:sldId id="536" r:id="rId7"/>
    <p:sldId id="528" r:id="rId8"/>
    <p:sldId id="548" r:id="rId9"/>
    <p:sldId id="537" r:id="rId10"/>
    <p:sldId id="538" r:id="rId11"/>
    <p:sldId id="540" r:id="rId12"/>
    <p:sldId id="550" r:id="rId13"/>
    <p:sldId id="551" r:id="rId14"/>
    <p:sldId id="552" r:id="rId15"/>
    <p:sldId id="553" r:id="rId16"/>
    <p:sldId id="554" r:id="rId17"/>
    <p:sldId id="543" r:id="rId18"/>
  </p:sldIdLst>
  <p:sldSz cx="9144000" cy="6858000" type="screen4x3"/>
  <p:notesSz cx="6858000" cy="9144000"/>
  <p:custShowLst>
    <p:custShow name="Presentación personalizada 1" id="0">
      <p:sldLst/>
    </p:custShow>
  </p:custShowLst>
  <p:defaultTextStyle>
    <a:defPPr>
      <a:defRPr lang="es-ES_tradnl"/>
    </a:defPPr>
    <a:lvl1pPr algn="ctr" rtl="0" eaLnBrk="0" fontAlgn="base" hangingPunct="0">
      <a:spcBef>
        <a:spcPct val="50000"/>
      </a:spcBef>
      <a:spcAft>
        <a:spcPct val="0"/>
      </a:spcAft>
      <a:defRPr sz="2800" b="1" kern="1200">
        <a:solidFill>
          <a:srgbClr val="CC9900"/>
        </a:solidFill>
        <a:latin typeface="Arial" charset="0"/>
        <a:ea typeface="+mn-ea"/>
        <a:cs typeface="+mn-cs"/>
      </a:defRPr>
    </a:lvl1pPr>
    <a:lvl2pPr marL="457200" algn="ctr" rtl="0" eaLnBrk="0" fontAlgn="base" hangingPunct="0">
      <a:spcBef>
        <a:spcPct val="50000"/>
      </a:spcBef>
      <a:spcAft>
        <a:spcPct val="0"/>
      </a:spcAft>
      <a:defRPr sz="2800" b="1" kern="1200">
        <a:solidFill>
          <a:srgbClr val="CC9900"/>
        </a:solidFill>
        <a:latin typeface="Arial" charset="0"/>
        <a:ea typeface="+mn-ea"/>
        <a:cs typeface="+mn-cs"/>
      </a:defRPr>
    </a:lvl2pPr>
    <a:lvl3pPr marL="914400" algn="ctr" rtl="0" eaLnBrk="0" fontAlgn="base" hangingPunct="0">
      <a:spcBef>
        <a:spcPct val="50000"/>
      </a:spcBef>
      <a:spcAft>
        <a:spcPct val="0"/>
      </a:spcAft>
      <a:defRPr sz="2800" b="1" kern="1200">
        <a:solidFill>
          <a:srgbClr val="CC9900"/>
        </a:solidFill>
        <a:latin typeface="Arial" charset="0"/>
        <a:ea typeface="+mn-ea"/>
        <a:cs typeface="+mn-cs"/>
      </a:defRPr>
    </a:lvl3pPr>
    <a:lvl4pPr marL="1371600" algn="ctr" rtl="0" eaLnBrk="0" fontAlgn="base" hangingPunct="0">
      <a:spcBef>
        <a:spcPct val="50000"/>
      </a:spcBef>
      <a:spcAft>
        <a:spcPct val="0"/>
      </a:spcAft>
      <a:defRPr sz="2800" b="1" kern="1200">
        <a:solidFill>
          <a:srgbClr val="CC9900"/>
        </a:solidFill>
        <a:latin typeface="Arial" charset="0"/>
        <a:ea typeface="+mn-ea"/>
        <a:cs typeface="+mn-cs"/>
      </a:defRPr>
    </a:lvl4pPr>
    <a:lvl5pPr marL="1828800" algn="ctr" rtl="0" eaLnBrk="0" fontAlgn="base" hangingPunct="0">
      <a:spcBef>
        <a:spcPct val="50000"/>
      </a:spcBef>
      <a:spcAft>
        <a:spcPct val="0"/>
      </a:spcAft>
      <a:defRPr sz="2800" b="1" kern="1200">
        <a:solidFill>
          <a:srgbClr val="CC9900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800" b="1" kern="1200">
        <a:solidFill>
          <a:srgbClr val="CC9900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800" b="1" kern="1200">
        <a:solidFill>
          <a:srgbClr val="CC9900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800" b="1" kern="1200">
        <a:solidFill>
          <a:srgbClr val="CC9900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800" b="1" kern="1200">
        <a:solidFill>
          <a:srgbClr val="CC9900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CC"/>
    <a:srgbClr val="DDDDDD"/>
    <a:srgbClr val="FF6600"/>
    <a:srgbClr val="197D25"/>
    <a:srgbClr val="FF0066"/>
    <a:srgbClr val="CC3300"/>
    <a:srgbClr val="CC6600"/>
    <a:srgbClr val="FFDC79"/>
    <a:srgbClr val="CC9900"/>
    <a:srgbClr val="CC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85621" autoAdjust="0"/>
  </p:normalViewPr>
  <p:slideViewPr>
    <p:cSldViewPr>
      <p:cViewPr>
        <p:scale>
          <a:sx n="71" d="100"/>
          <a:sy n="71" d="100"/>
        </p:scale>
        <p:origin x="-1380" y="-1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0" d="100"/>
        <a:sy n="110" d="100"/>
      </p:scale>
      <p:origin x="0" y="3786"/>
    </p:cViewPr>
  </p:sorterViewPr>
  <p:notesViewPr>
    <p:cSldViewPr>
      <p:cViewPr>
        <p:scale>
          <a:sx n="100" d="100"/>
          <a:sy n="100" d="100"/>
        </p:scale>
        <p:origin x="-510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 b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389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noProof="0" smtClean="0"/>
              <a:t>Haga clic para modificar el estilo de texto del patrón</a:t>
            </a:r>
          </a:p>
          <a:p>
            <a:pPr lvl="1"/>
            <a:r>
              <a:rPr lang="es-ES_tradnl" noProof="0" smtClean="0"/>
              <a:t>Segundo nivel</a:t>
            </a:r>
          </a:p>
          <a:p>
            <a:pPr lvl="2"/>
            <a:r>
              <a:rPr lang="es-ES_tradnl" noProof="0" smtClean="0"/>
              <a:t>Tercer nivel</a:t>
            </a:r>
          </a:p>
          <a:p>
            <a:pPr lvl="3"/>
            <a:r>
              <a:rPr lang="es-ES_tradnl" noProof="0" smtClean="0"/>
              <a:t>Cuarto nivel</a:t>
            </a:r>
          </a:p>
          <a:p>
            <a:pPr lvl="4"/>
            <a:r>
              <a:rPr lang="es-ES_tradnl" noProof="0" smtClean="0"/>
              <a:t>Quinto nivel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 b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44624FBB-90AD-410B-A77E-5D68A4BCDA48}" type="slidenum">
              <a:rPr lang="es-ES_tradnl"/>
              <a:pPr>
                <a:defRPr/>
              </a:pPr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8900780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rgbClr val="CC9900"/>
                </a:solidFill>
                <a:latin typeface="Arial" charset="0"/>
              </a:defRPr>
            </a:lvl1pPr>
            <a:lvl2pPr marL="742950" indent="-285750">
              <a:defRPr sz="2800" b="1">
                <a:solidFill>
                  <a:srgbClr val="CC9900"/>
                </a:solidFill>
                <a:latin typeface="Arial" charset="0"/>
              </a:defRPr>
            </a:lvl2pPr>
            <a:lvl3pPr marL="1143000" indent="-228600">
              <a:defRPr sz="2800" b="1">
                <a:solidFill>
                  <a:srgbClr val="CC9900"/>
                </a:solidFill>
                <a:latin typeface="Arial" charset="0"/>
              </a:defRPr>
            </a:lvl3pPr>
            <a:lvl4pPr marL="1600200" indent="-228600">
              <a:defRPr sz="2800" b="1">
                <a:solidFill>
                  <a:srgbClr val="CC9900"/>
                </a:solidFill>
                <a:latin typeface="Arial" charset="0"/>
              </a:defRPr>
            </a:lvl4pPr>
            <a:lvl5pPr marL="2057400" indent="-228600">
              <a:defRPr sz="2800" b="1">
                <a:solidFill>
                  <a:srgbClr val="CC99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CC99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CC99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CC99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CC9900"/>
                </a:solidFill>
                <a:latin typeface="Arial" charset="0"/>
              </a:defRPr>
            </a:lvl9pPr>
          </a:lstStyle>
          <a:p>
            <a:fld id="{8C8510DD-0D64-4E8A-8B0B-0F2FCB726649}" type="slidenum">
              <a:rPr lang="es-ES_tradnl" sz="1200" b="0" smtClean="0">
                <a:solidFill>
                  <a:schemeClr val="tx1"/>
                </a:solidFill>
                <a:latin typeface="Times New Roman" pitchFamily="18" charset="0"/>
              </a:rPr>
              <a:pPr/>
              <a:t>3</a:t>
            </a:fld>
            <a:endParaRPr lang="es-ES_tradnl" sz="1200" b="0" smtClean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ES" smtClean="0"/>
          </a:p>
        </p:txBody>
      </p:sp>
    </p:spTree>
    <p:extLst>
      <p:ext uri="{BB962C8B-B14F-4D97-AF65-F5344CB8AC3E}">
        <p14:creationId xmlns:p14="http://schemas.microsoft.com/office/powerpoint/2010/main" val="1206712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9033886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05401009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764328082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14545019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52427570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2885247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0126664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573632323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CL" noProof="0" smtClean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819431245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53104724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33292484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ítulo, text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43798671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2" descr="fondo_verde_generico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588"/>
            <a:ext cx="9144000" cy="685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7" name="Text Box 23"/>
          <p:cNvSpPr txBox="1">
            <a:spLocks noChangeArrowheads="1"/>
          </p:cNvSpPr>
          <p:nvPr/>
        </p:nvSpPr>
        <p:spPr bwMode="auto">
          <a:xfrm>
            <a:off x="0" y="1076325"/>
            <a:ext cx="16192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s-ES_tradnl" sz="1600" i="1">
                <a:solidFill>
                  <a:schemeClr val="bg2"/>
                </a:solidFill>
                <a:latin typeface="Trebuchet MS" pitchFamily="34" charset="0"/>
              </a:rPr>
              <a:t>Programación</a:t>
            </a:r>
            <a:endParaRPr lang="es-ES" sz="1600" i="1">
              <a:solidFill>
                <a:schemeClr val="bg2"/>
              </a:solidFill>
              <a:latin typeface="Trebuchet MS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fade/>
  </p:transition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50000"/>
        <a:buFont typeface="Wingdings" pitchFamily="2" charset="2"/>
        <a:buChar char="q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70000"/>
        <a:buFont typeface="Wingdings" pitchFamily="2" charset="2"/>
        <a:buChar char="ü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5621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19812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2438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8956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3528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100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9" descr="inicio_verde_generic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6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Rectangle 11"/>
          <p:cNvSpPr>
            <a:spLocks noGrp="1" noChangeArrowheads="1"/>
          </p:cNvSpPr>
          <p:nvPr>
            <p:ph type="ctrTitle"/>
          </p:nvPr>
        </p:nvSpPr>
        <p:spPr bwMode="auto">
          <a:xfrm>
            <a:off x="179388" y="188913"/>
            <a:ext cx="8208962" cy="7334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/>
            <a:r>
              <a:rPr lang="es-CL" sz="3600" dirty="0" smtClean="0">
                <a:solidFill>
                  <a:schemeClr val="bg2"/>
                </a:solidFill>
                <a:effectLst/>
                <a:latin typeface="Trebuchet MS" pitchFamily="34" charset="0"/>
              </a:rPr>
              <a:t>Instituto de Informática</a:t>
            </a:r>
            <a:br>
              <a:rPr lang="es-CL" sz="3600" dirty="0" smtClean="0">
                <a:solidFill>
                  <a:schemeClr val="bg2"/>
                </a:solidFill>
                <a:effectLst/>
                <a:latin typeface="Trebuchet MS" pitchFamily="34" charset="0"/>
              </a:rPr>
            </a:br>
            <a:endParaRPr lang="es-ES_tradnl" sz="3600" dirty="0" smtClean="0">
              <a:solidFill>
                <a:schemeClr val="bg2"/>
              </a:solidFill>
              <a:effectLst/>
              <a:latin typeface="Trebuchet MS" pitchFamily="34" charset="0"/>
            </a:endParaRPr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1115616" y="3430587"/>
            <a:ext cx="6559966" cy="1728192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9pPr>
          </a:lstStyle>
          <a:p>
            <a:r>
              <a:rPr lang="es-CL" kern="0" dirty="0" smtClean="0"/>
              <a:t>ALGORITMOS</a:t>
            </a:r>
            <a:br>
              <a:rPr lang="es-CL" kern="0" dirty="0" smtClean="0"/>
            </a:br>
            <a:r>
              <a:rPr lang="es-CL" sz="3200" kern="0" dirty="0" smtClean="0"/>
              <a:t>ESTRUCTURA DE CONTROL</a:t>
            </a:r>
            <a:br>
              <a:rPr lang="es-CL" sz="3200" kern="0" dirty="0" smtClean="0"/>
            </a:br>
            <a:r>
              <a:rPr lang="es-CL" kern="0" dirty="0" smtClean="0"/>
              <a:t>ITERACIÓN – FOR</a:t>
            </a:r>
            <a:endParaRPr lang="es-CL" sz="4000" kern="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775" y="1076325"/>
            <a:ext cx="5886450" cy="4705350"/>
          </a:xfrm>
          <a:prstGeom prst="rect">
            <a:avLst/>
          </a:prstGeom>
        </p:spPr>
      </p:pic>
      <p:grpSp>
        <p:nvGrpSpPr>
          <p:cNvPr id="4099" name="Group 70"/>
          <p:cNvGrpSpPr>
            <a:grpSpLocks/>
          </p:cNvGrpSpPr>
          <p:nvPr/>
        </p:nvGrpSpPr>
        <p:grpSpPr bwMode="auto">
          <a:xfrm>
            <a:off x="-36513" y="981075"/>
            <a:ext cx="1655763" cy="576263"/>
            <a:chOff x="-23" y="618"/>
            <a:chExt cx="953" cy="363"/>
          </a:xfrm>
        </p:grpSpPr>
        <p:sp>
          <p:nvSpPr>
            <p:cNvPr id="2" name="Rectangle 68"/>
            <p:cNvSpPr>
              <a:spLocks noChangeArrowheads="1"/>
            </p:cNvSpPr>
            <p:nvPr/>
          </p:nvSpPr>
          <p:spPr bwMode="auto">
            <a:xfrm>
              <a:off x="46" y="618"/>
              <a:ext cx="884" cy="36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s-CL" dirty="0"/>
            </a:p>
          </p:txBody>
        </p:sp>
        <p:sp>
          <p:nvSpPr>
            <p:cNvPr id="4102" name="Text Box 66"/>
            <p:cNvSpPr txBox="1">
              <a:spLocks noChangeArrowheads="1"/>
            </p:cNvSpPr>
            <p:nvPr/>
          </p:nvSpPr>
          <p:spPr bwMode="auto">
            <a:xfrm>
              <a:off x="-23" y="663"/>
              <a:ext cx="95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rgbClr val="CC9900"/>
                  </a:solidFill>
                  <a:latin typeface="Arial" charset="0"/>
                </a:defRPr>
              </a:lvl1pPr>
              <a:lvl2pPr marL="742950" indent="-285750">
                <a:defRPr sz="2800" b="1">
                  <a:solidFill>
                    <a:srgbClr val="CC9900"/>
                  </a:solidFill>
                  <a:latin typeface="Arial" charset="0"/>
                </a:defRPr>
              </a:lvl2pPr>
              <a:lvl3pPr marL="1143000" indent="-228600">
                <a:defRPr sz="2800" b="1">
                  <a:solidFill>
                    <a:srgbClr val="CC9900"/>
                  </a:solidFill>
                  <a:latin typeface="Arial" charset="0"/>
                </a:defRPr>
              </a:lvl3pPr>
              <a:lvl4pPr marL="1600200" indent="-228600">
                <a:defRPr sz="2800" b="1">
                  <a:solidFill>
                    <a:srgbClr val="CC9900"/>
                  </a:solidFill>
                  <a:latin typeface="Arial" charset="0"/>
                </a:defRPr>
              </a:lvl4pPr>
              <a:lvl5pPr marL="2057400" indent="-228600">
                <a:defRPr sz="2800" b="1">
                  <a:solidFill>
                    <a:srgbClr val="CC9900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CC9900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CC9900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CC9900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CC9900"/>
                  </a:solidFill>
                  <a:latin typeface="Arial" charset="0"/>
                </a:defRPr>
              </a:lvl9pPr>
            </a:lstStyle>
            <a:p>
              <a:r>
                <a:rPr lang="es-ES_tradnl" sz="1600" i="1" dirty="0">
                  <a:solidFill>
                    <a:schemeClr val="bg2"/>
                  </a:solidFill>
                  <a:latin typeface="Trebuchet MS" pitchFamily="34" charset="0"/>
                </a:rPr>
                <a:t>Programación</a:t>
              </a:r>
              <a:endParaRPr lang="es-ES" sz="1600" i="1" dirty="0">
                <a:solidFill>
                  <a:schemeClr val="bg2"/>
                </a:solidFill>
                <a:latin typeface="Trebuchet MS" pitchFamily="34" charset="0"/>
              </a:endParaRPr>
            </a:p>
          </p:txBody>
        </p:sp>
      </p:grpSp>
      <p:sp>
        <p:nvSpPr>
          <p:cNvPr id="8" name="Título 1"/>
          <p:cNvSpPr txBox="1">
            <a:spLocks/>
          </p:cNvSpPr>
          <p:nvPr/>
        </p:nvSpPr>
        <p:spPr>
          <a:xfrm>
            <a:off x="1907704" y="786430"/>
            <a:ext cx="6369805" cy="154181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9pPr>
          </a:lstStyle>
          <a:p>
            <a:r>
              <a:rPr lang="es-CL" sz="11500" kern="0" dirty="0" smtClean="0"/>
              <a:t>Iteración</a:t>
            </a:r>
            <a:endParaRPr lang="es-CL" sz="11500" kern="0" dirty="0"/>
          </a:p>
        </p:txBody>
      </p:sp>
    </p:spTree>
    <p:extLst>
      <p:ext uri="{BB962C8B-B14F-4D97-AF65-F5344CB8AC3E}">
        <p14:creationId xmlns:p14="http://schemas.microsoft.com/office/powerpoint/2010/main" val="394038822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47813" y="274638"/>
            <a:ext cx="7138987" cy="1143000"/>
          </a:xfr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s-CL" dirty="0" smtClean="0">
                <a:solidFill>
                  <a:schemeClr val="accent6">
                    <a:lumMod val="75000"/>
                  </a:schemeClr>
                </a:solidFill>
              </a:rPr>
              <a:t>BLOQUES DE CONSTRUCCION</a:t>
            </a:r>
            <a:endParaRPr lang="es-ES_tradnl" dirty="0" smtClean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1196975"/>
            <a:ext cx="7416105" cy="32401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533400" indent="-533400">
              <a:spcBef>
                <a:spcPct val="0"/>
              </a:spcBef>
              <a:buSzTx/>
              <a:buFontTx/>
              <a:buNone/>
            </a:pPr>
            <a:r>
              <a:rPr lang="es-CL" b="1" dirty="0" smtClean="0">
                <a:solidFill>
                  <a:schemeClr val="accent2"/>
                </a:solidFill>
              </a:rPr>
              <a:t>ITERACION :</a:t>
            </a:r>
            <a:r>
              <a:rPr lang="es-CL" dirty="0" smtClean="0"/>
              <a:t> Repetir sentencias un número determinado de veces o mientras (no) se cumple alguna condición.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CL" dirty="0" err="1" smtClean="0"/>
              <a:t>For</a:t>
            </a:r>
            <a:endParaRPr lang="es-CL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s-CL" dirty="0" err="1"/>
              <a:t>While</a:t>
            </a:r>
            <a:endParaRPr lang="es-CL" dirty="0"/>
          </a:p>
          <a:p>
            <a:pPr>
              <a:buFont typeface="Wingdings" panose="05000000000000000000" pitchFamily="2" charset="2"/>
              <a:buChar char="§"/>
            </a:pPr>
            <a:endParaRPr lang="es-CL" dirty="0" smtClean="0"/>
          </a:p>
        </p:txBody>
      </p:sp>
    </p:spTree>
    <p:extLst>
      <p:ext uri="{BB962C8B-B14F-4D97-AF65-F5344CB8AC3E}">
        <p14:creationId xmlns:p14="http://schemas.microsoft.com/office/powerpoint/2010/main" val="134742707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63688" y="2276872"/>
            <a:ext cx="6347713" cy="1728192"/>
          </a:xfr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es-CL" sz="4800" dirty="0" smtClean="0"/>
              <a:t>Estructura Desde/Para (</a:t>
            </a:r>
            <a:r>
              <a:rPr lang="es-CL" sz="4800" dirty="0" err="1" smtClean="0"/>
              <a:t>for</a:t>
            </a:r>
            <a:r>
              <a:rPr lang="es-CL" sz="4800" dirty="0" smtClean="0"/>
              <a:t>)</a:t>
            </a:r>
            <a:endParaRPr lang="es-ES" sz="4800" dirty="0" smtClean="0"/>
          </a:p>
        </p:txBody>
      </p:sp>
    </p:spTree>
    <p:extLst>
      <p:ext uri="{BB962C8B-B14F-4D97-AF65-F5344CB8AC3E}">
        <p14:creationId xmlns:p14="http://schemas.microsoft.com/office/powerpoint/2010/main" val="67232658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551863" cy="1143000"/>
          </a:xfr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s-CL" dirty="0" smtClean="0"/>
              <a:t>Estructura Desde/Para (</a:t>
            </a:r>
            <a:r>
              <a:rPr lang="es-CL" dirty="0" err="1" smtClean="0"/>
              <a:t>for</a:t>
            </a:r>
            <a:r>
              <a:rPr lang="es-CL" dirty="0" smtClean="0"/>
              <a:t>)</a:t>
            </a:r>
            <a:endParaRPr lang="es-ES" dirty="0" smtClean="0"/>
          </a:p>
        </p:txBody>
      </p:sp>
      <p:sp>
        <p:nvSpPr>
          <p:cNvPr id="3" name="2 Preparación"/>
          <p:cNvSpPr/>
          <p:nvPr/>
        </p:nvSpPr>
        <p:spPr bwMode="auto">
          <a:xfrm>
            <a:off x="2951395" y="2497253"/>
            <a:ext cx="3593758" cy="338554"/>
          </a:xfrm>
          <a:prstGeom prst="flowChartPreparation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s-ES" sz="1600" b="0" dirty="0" smtClean="0">
                <a:solidFill>
                  <a:srgbClr val="FF0000"/>
                </a:solidFill>
              </a:rPr>
              <a:t>v</a:t>
            </a:r>
            <a:r>
              <a:rPr lang="es-ES" sz="1600" b="0" dirty="0" smtClean="0">
                <a:solidFill>
                  <a:schemeClr val="accent6">
                    <a:lumMod val="75000"/>
                  </a:schemeClr>
                </a:solidFill>
              </a:rPr>
              <a:t>  desde </a:t>
            </a:r>
            <a:r>
              <a:rPr lang="es-ES" sz="1600" b="0" dirty="0" smtClean="0">
                <a:solidFill>
                  <a:srgbClr val="FF0000"/>
                </a:solidFill>
              </a:rPr>
              <a:t>vi</a:t>
            </a:r>
            <a:r>
              <a:rPr lang="es-ES" sz="1600" b="0" dirty="0" smtClean="0">
                <a:solidFill>
                  <a:schemeClr val="accent6">
                    <a:lumMod val="75000"/>
                  </a:schemeClr>
                </a:solidFill>
              </a:rPr>
              <a:t> hasta </a:t>
            </a:r>
            <a:r>
              <a:rPr lang="es-ES" sz="1600" b="0" dirty="0" err="1" smtClean="0">
                <a:solidFill>
                  <a:srgbClr val="FF0000"/>
                </a:solidFill>
              </a:rPr>
              <a:t>vf</a:t>
            </a:r>
            <a:endParaRPr kumimoji="0" lang="es-CL" sz="16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  <p:cxnSp>
        <p:nvCxnSpPr>
          <p:cNvPr id="5" name="4 Conector recto de flecha"/>
          <p:cNvCxnSpPr>
            <a:stCxn id="3" idx="2"/>
          </p:cNvCxnSpPr>
          <p:nvPr/>
        </p:nvCxnSpPr>
        <p:spPr bwMode="auto">
          <a:xfrm>
            <a:off x="4748274" y="2835807"/>
            <a:ext cx="0" cy="381526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" name="5 CuadroTexto"/>
          <p:cNvSpPr txBox="1"/>
          <p:nvPr/>
        </p:nvSpPr>
        <p:spPr>
          <a:xfrm>
            <a:off x="3743483" y="3115708"/>
            <a:ext cx="2160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dirty="0" smtClean="0">
                <a:solidFill>
                  <a:schemeClr val="tx1"/>
                </a:solidFill>
              </a:rPr>
              <a:t>… sentencias</a:t>
            </a:r>
            <a:endParaRPr lang="es-CL" sz="2400" dirty="0">
              <a:solidFill>
                <a:schemeClr val="tx1"/>
              </a:solidFill>
            </a:endParaRPr>
          </a:p>
        </p:txBody>
      </p:sp>
      <p:cxnSp>
        <p:nvCxnSpPr>
          <p:cNvPr id="10" name="9 Conector recto de flecha"/>
          <p:cNvCxnSpPr/>
          <p:nvPr/>
        </p:nvCxnSpPr>
        <p:spPr bwMode="auto">
          <a:xfrm>
            <a:off x="4748274" y="4275967"/>
            <a:ext cx="0" cy="381526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" name="7 Conector angular"/>
          <p:cNvCxnSpPr/>
          <p:nvPr/>
        </p:nvCxnSpPr>
        <p:spPr bwMode="auto">
          <a:xfrm rot="10800000">
            <a:off x="2951395" y="2666530"/>
            <a:ext cx="1796879" cy="1203231"/>
          </a:xfrm>
          <a:prstGeom prst="bentConnector3">
            <a:avLst>
              <a:gd name="adj1" fmla="val 112722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3" name="12 CuadroTexto"/>
          <p:cNvSpPr txBox="1"/>
          <p:nvPr/>
        </p:nvSpPr>
        <p:spPr>
          <a:xfrm>
            <a:off x="3668154" y="4657493"/>
            <a:ext cx="2160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dirty="0" smtClean="0">
                <a:solidFill>
                  <a:schemeClr val="tx1"/>
                </a:solidFill>
              </a:rPr>
              <a:t>… sentencias</a:t>
            </a:r>
            <a:endParaRPr lang="es-CL" sz="2400" dirty="0">
              <a:solidFill>
                <a:schemeClr val="tx1"/>
              </a:solidFill>
            </a:endParaRPr>
          </a:p>
        </p:txBody>
      </p:sp>
      <p:cxnSp>
        <p:nvCxnSpPr>
          <p:cNvPr id="11" name="10 Conector angular"/>
          <p:cNvCxnSpPr>
            <a:stCxn id="3" idx="3"/>
          </p:cNvCxnSpPr>
          <p:nvPr/>
        </p:nvCxnSpPr>
        <p:spPr bwMode="auto">
          <a:xfrm flipH="1">
            <a:off x="4733131" y="2666530"/>
            <a:ext cx="1812022" cy="1610346"/>
          </a:xfrm>
          <a:prstGeom prst="bentConnector3">
            <a:avLst>
              <a:gd name="adj1" fmla="val -12616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6" name="15 CuadroTexto"/>
          <p:cNvSpPr txBox="1"/>
          <p:nvPr/>
        </p:nvSpPr>
        <p:spPr>
          <a:xfrm>
            <a:off x="4607579" y="2785285"/>
            <a:ext cx="898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dirty="0" smtClean="0">
                <a:solidFill>
                  <a:schemeClr val="tx1"/>
                </a:solidFill>
              </a:rPr>
              <a:t>v&lt;=</a:t>
            </a:r>
            <a:r>
              <a:rPr lang="es-CL" sz="1600" dirty="0" err="1" smtClean="0">
                <a:solidFill>
                  <a:schemeClr val="tx1"/>
                </a:solidFill>
              </a:rPr>
              <a:t>vf</a:t>
            </a:r>
            <a:endParaRPr lang="es-CL" sz="1600" dirty="0">
              <a:solidFill>
                <a:schemeClr val="tx1"/>
              </a:solidFill>
            </a:endParaRPr>
          </a:p>
        </p:txBody>
      </p:sp>
      <p:sp>
        <p:nvSpPr>
          <p:cNvPr id="17" name="16 CuadroTexto"/>
          <p:cNvSpPr txBox="1"/>
          <p:nvPr/>
        </p:nvSpPr>
        <p:spPr>
          <a:xfrm>
            <a:off x="6095933" y="2327532"/>
            <a:ext cx="898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dirty="0">
                <a:solidFill>
                  <a:schemeClr val="tx1"/>
                </a:solidFill>
              </a:rPr>
              <a:t>v</a:t>
            </a:r>
            <a:r>
              <a:rPr lang="es-CL" sz="1600" dirty="0" smtClean="0">
                <a:solidFill>
                  <a:schemeClr val="tx1"/>
                </a:solidFill>
              </a:rPr>
              <a:t>&gt;</a:t>
            </a:r>
            <a:r>
              <a:rPr lang="es-CL" sz="1600" dirty="0" err="1" smtClean="0">
                <a:solidFill>
                  <a:schemeClr val="tx1"/>
                </a:solidFill>
              </a:rPr>
              <a:t>vf</a:t>
            </a:r>
            <a:endParaRPr lang="es-CL" sz="1600" dirty="0">
              <a:solidFill>
                <a:schemeClr val="tx1"/>
              </a:solidFill>
            </a:endParaRPr>
          </a:p>
        </p:txBody>
      </p:sp>
      <p:cxnSp>
        <p:nvCxnSpPr>
          <p:cNvPr id="15" name="4 Conector recto de flecha"/>
          <p:cNvCxnSpPr/>
          <p:nvPr/>
        </p:nvCxnSpPr>
        <p:spPr bwMode="auto">
          <a:xfrm>
            <a:off x="4748274" y="3530045"/>
            <a:ext cx="0" cy="339716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8" name="Rectangle 3"/>
          <p:cNvSpPr>
            <a:spLocks noChangeArrowheads="1"/>
          </p:cNvSpPr>
          <p:nvPr/>
        </p:nvSpPr>
        <p:spPr bwMode="auto">
          <a:xfrm>
            <a:off x="1475656" y="1353809"/>
            <a:ext cx="4885456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spcBef>
                <a:spcPct val="20000"/>
              </a:spcBef>
              <a:buFontTx/>
              <a:buChar char="•"/>
            </a:pPr>
            <a:r>
              <a:rPr lang="es-CL" dirty="0" smtClean="0">
                <a:solidFill>
                  <a:schemeClr val="accent6">
                    <a:lumMod val="75000"/>
                  </a:schemeClr>
                </a:solidFill>
                <a:latin typeface="+mn-lt"/>
              </a:rPr>
              <a:t>Diagrama de Flujo:</a:t>
            </a:r>
            <a:endParaRPr lang="es-ES" sz="3200" dirty="0"/>
          </a:p>
        </p:txBody>
      </p:sp>
    </p:spTree>
    <p:extLst>
      <p:ext uri="{BB962C8B-B14F-4D97-AF65-F5344CB8AC3E}">
        <p14:creationId xmlns:p14="http://schemas.microsoft.com/office/powerpoint/2010/main" val="381311001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1" name="Rectangle 3"/>
          <p:cNvSpPr>
            <a:spLocks noChangeArrowheads="1"/>
          </p:cNvSpPr>
          <p:nvPr/>
        </p:nvSpPr>
        <p:spPr bwMode="auto">
          <a:xfrm>
            <a:off x="1475656" y="1341140"/>
            <a:ext cx="4895800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spcBef>
                <a:spcPct val="20000"/>
              </a:spcBef>
              <a:buFontTx/>
              <a:buChar char="•"/>
            </a:pPr>
            <a:r>
              <a:rPr lang="es-CL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Código en </a:t>
            </a:r>
            <a:r>
              <a:rPr lang="es-CL" dirty="0" smtClean="0">
                <a:solidFill>
                  <a:schemeClr val="accent6">
                    <a:lumMod val="75000"/>
                  </a:schemeClr>
                </a:solidFill>
                <a:latin typeface="+mn-lt"/>
              </a:rPr>
              <a:t>Python:</a:t>
            </a:r>
            <a:endParaRPr lang="es-ES" sz="3200" dirty="0"/>
          </a:p>
        </p:txBody>
      </p:sp>
      <p:sp>
        <p:nvSpPr>
          <p:cNvPr id="155652" name="Text Box 4"/>
          <p:cNvSpPr txBox="1">
            <a:spLocks noChangeArrowheads="1"/>
          </p:cNvSpPr>
          <p:nvPr/>
        </p:nvSpPr>
        <p:spPr bwMode="auto">
          <a:xfrm>
            <a:off x="1609749" y="3717032"/>
            <a:ext cx="6932613" cy="22159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s-ES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algn="l"/>
            <a:r>
              <a:rPr lang="es-ES" sz="2000" b="0" dirty="0" smtClean="0">
                <a:solidFill>
                  <a:schemeClr val="accent6">
                    <a:lumMod val="75000"/>
                  </a:schemeClr>
                </a:solidFill>
              </a:rPr>
              <a:t>Donde:</a:t>
            </a:r>
          </a:p>
          <a:p>
            <a:pPr algn="l"/>
            <a:r>
              <a:rPr lang="es-ES" sz="2000" b="0" dirty="0" smtClean="0">
                <a:solidFill>
                  <a:schemeClr val="accent6">
                    <a:lumMod val="75000"/>
                  </a:schemeClr>
                </a:solidFill>
              </a:rPr>
              <a:t>    x : es el nombre de la variable</a:t>
            </a:r>
          </a:p>
          <a:p>
            <a:pPr marL="1349375" indent="-1349375" algn="l"/>
            <a:r>
              <a:rPr lang="es-ES" sz="2000" b="0" dirty="0" smtClean="0">
                <a:solidFill>
                  <a:schemeClr val="accent6">
                    <a:lumMod val="75000"/>
                  </a:schemeClr>
                </a:solidFill>
              </a:rPr>
              <a:t>    </a:t>
            </a:r>
            <a:r>
              <a:rPr lang="es-ES" sz="2000" b="0" dirty="0" err="1" smtClean="0">
                <a:solidFill>
                  <a:schemeClr val="accent6">
                    <a:lumMod val="75000"/>
                  </a:schemeClr>
                </a:solidFill>
              </a:rPr>
              <a:t>range</a:t>
            </a:r>
            <a:r>
              <a:rPr lang="es-ES" sz="2000" b="0" dirty="0" smtClean="0">
                <a:solidFill>
                  <a:schemeClr val="accent6">
                    <a:lumMod val="75000"/>
                  </a:schemeClr>
                </a:solidFill>
              </a:rPr>
              <a:t>(n): los </a:t>
            </a:r>
            <a:r>
              <a:rPr lang="es-ES" sz="2000" b="0" dirty="0">
                <a:solidFill>
                  <a:schemeClr val="accent6">
                    <a:lumMod val="75000"/>
                  </a:schemeClr>
                </a:solidFill>
              </a:rPr>
              <a:t>valores que tomará la </a:t>
            </a:r>
            <a:r>
              <a:rPr lang="es-ES" sz="2000" b="0" dirty="0" smtClean="0">
                <a:solidFill>
                  <a:schemeClr val="accent6">
                    <a:lumMod val="75000"/>
                  </a:schemeClr>
                </a:solidFill>
              </a:rPr>
              <a:t>variable, equivalentes al intervalo [0, 1, 2, …. n-1]</a:t>
            </a:r>
            <a:endParaRPr lang="es-ES" sz="2000" b="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551863" cy="1143000"/>
          </a:xfr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s-CL" dirty="0" smtClean="0"/>
              <a:t>Estructura Desde/Para (</a:t>
            </a:r>
            <a:r>
              <a:rPr lang="es-CL" dirty="0" err="1" smtClean="0"/>
              <a:t>for</a:t>
            </a:r>
            <a:r>
              <a:rPr lang="es-CL" dirty="0" smtClean="0"/>
              <a:t>)</a:t>
            </a:r>
            <a:endParaRPr lang="es-ES" dirty="0" smtClean="0"/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3347864" y="2177569"/>
            <a:ext cx="3456384" cy="1323439"/>
          </a:xfrm>
          <a:prstGeom prst="rect">
            <a:avLst/>
          </a:prstGeom>
          <a:noFill/>
          <a:ln w="9525">
            <a:solidFill>
              <a:srgbClr val="00B05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ES" sz="2000" dirty="0" err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s-ES" sz="2000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ES" sz="20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s-ES" sz="2000" dirty="0" smtClean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ES" sz="2000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 </a:t>
            </a:r>
            <a:r>
              <a:rPr lang="es-ES" sz="2000" dirty="0" err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range</a:t>
            </a:r>
            <a:r>
              <a:rPr lang="es-ES" sz="2000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s-E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s-ES" sz="2000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r>
              <a:rPr lang="es-CL" sz="2000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es-ES" sz="2000" dirty="0" smtClean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&lt;sentencias&gt; </a:t>
            </a:r>
          </a:p>
          <a:p>
            <a:r>
              <a:rPr lang="es-CL" sz="2000" dirty="0" smtClean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</p:txBody>
      </p:sp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4733131" y="3553370"/>
            <a:ext cx="1843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CC9900"/>
                </a:solidFill>
                <a:latin typeface="Arial" charset="0"/>
              </a:defRPr>
            </a:lvl1pPr>
            <a:lvl2pPr marL="742950" indent="-285750">
              <a:defRPr sz="2800" b="1">
                <a:solidFill>
                  <a:srgbClr val="CC9900"/>
                </a:solidFill>
                <a:latin typeface="Arial" charset="0"/>
              </a:defRPr>
            </a:lvl2pPr>
            <a:lvl3pPr marL="1143000" indent="-228600">
              <a:defRPr sz="2800" b="1">
                <a:solidFill>
                  <a:srgbClr val="CC9900"/>
                </a:solidFill>
                <a:latin typeface="Arial" charset="0"/>
              </a:defRPr>
            </a:lvl3pPr>
            <a:lvl4pPr marL="1600200" indent="-228600">
              <a:defRPr sz="2800" b="1">
                <a:solidFill>
                  <a:srgbClr val="CC9900"/>
                </a:solidFill>
                <a:latin typeface="Arial" charset="0"/>
              </a:defRPr>
            </a:lvl4pPr>
            <a:lvl5pPr marL="2057400" indent="-228600">
              <a:defRPr sz="2800" b="1">
                <a:solidFill>
                  <a:srgbClr val="CC99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CC99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CC99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CC99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CC9900"/>
                </a:solidFill>
                <a:latin typeface="Arial" charset="0"/>
              </a:defRPr>
            </a:lvl9pPr>
          </a:lstStyle>
          <a:p>
            <a:pPr algn="l" eaLnBrk="1" hangingPunct="1"/>
            <a:r>
              <a:rPr lang="es-CL" sz="2400" b="0" dirty="0" err="1">
                <a:solidFill>
                  <a:srgbClr val="009900"/>
                </a:solidFill>
                <a:latin typeface="Tahoma" pitchFamily="34" charset="0"/>
              </a:rPr>
              <a:t>Indentado</a:t>
            </a:r>
            <a:endParaRPr lang="es-CL" sz="2400" b="0" dirty="0">
              <a:solidFill>
                <a:srgbClr val="009900"/>
              </a:solidFill>
              <a:latin typeface="Tahoma" pitchFamily="34" charset="0"/>
            </a:endParaRPr>
          </a:p>
        </p:txBody>
      </p:sp>
      <p:sp>
        <p:nvSpPr>
          <p:cNvPr id="10" name="Line 12"/>
          <p:cNvSpPr>
            <a:spLocks noChangeShapeType="1"/>
          </p:cNvSpPr>
          <p:nvPr/>
        </p:nvSpPr>
        <p:spPr bwMode="auto">
          <a:xfrm flipH="1" flipV="1">
            <a:off x="4560214" y="2839288"/>
            <a:ext cx="215900" cy="72548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74869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2000"/>
                                        <p:tgtEl>
                                          <p:spTgt spid="155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2000"/>
                                        <p:tgtEl>
                                          <p:spTgt spid="155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51" grpId="0"/>
      <p:bldP spid="155652" grpId="0"/>
      <p:bldP spid="8" grpId="0" animBg="1"/>
      <p:bldP spid="9" grpId="0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65312" y="548680"/>
            <a:ext cx="7283152" cy="4133056"/>
          </a:xfr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  <a:defRPr/>
            </a:pPr>
            <a:r>
              <a:rPr lang="es-ES_tradnl" dirty="0" smtClean="0">
                <a:solidFill>
                  <a:schemeClr val="accent6">
                    <a:lumMod val="75000"/>
                  </a:schemeClr>
                </a:solidFill>
              </a:rPr>
              <a:t>Diseñe un algoritmo que muestre en pantalla los números desde el 1 y hasta el 5.</a:t>
            </a:r>
          </a:p>
          <a:p>
            <a:pPr marL="400050" lvl="1" indent="0">
              <a:buNone/>
              <a:defRPr/>
            </a:pPr>
            <a:endParaRPr lang="es-ES_tradnl" b="1" dirty="0" smtClean="0"/>
          </a:p>
          <a:p>
            <a:pPr marL="800100" lvl="2" indent="0">
              <a:buNone/>
              <a:defRPr/>
            </a:pPr>
            <a:r>
              <a:rPr lang="es-ES_tradnl" b="1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s-ES_tradnl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(“1”)</a:t>
            </a:r>
          </a:p>
          <a:p>
            <a:pPr marL="800100" lvl="2" indent="0">
              <a:buNone/>
              <a:defRPr/>
            </a:pPr>
            <a:r>
              <a:rPr lang="es-ES_tradnl" b="1" dirty="0" err="1"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s-ES_tradnl" b="1" dirty="0">
                <a:latin typeface="Consolas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s-ES_tradnl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2”)</a:t>
            </a:r>
          </a:p>
          <a:p>
            <a:pPr marL="800100" lvl="2" indent="0">
              <a:buNone/>
              <a:defRPr/>
            </a:pPr>
            <a:r>
              <a:rPr lang="es-ES_tradnl" b="1" dirty="0" err="1"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s-ES_tradnl" b="1" dirty="0">
                <a:latin typeface="Consolas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s-ES_tradnl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3”)</a:t>
            </a:r>
          </a:p>
          <a:p>
            <a:pPr marL="800100" lvl="2" indent="0">
              <a:buNone/>
              <a:defRPr/>
            </a:pPr>
            <a:r>
              <a:rPr lang="es-ES_tradnl" b="1" dirty="0" err="1"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s-ES_tradnl" b="1" dirty="0">
                <a:latin typeface="Consolas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s-ES_tradnl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4”)</a:t>
            </a:r>
            <a:endParaRPr lang="es-ES_tradnl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800100" lvl="2" indent="0">
              <a:buNone/>
              <a:defRPr/>
            </a:pPr>
            <a:r>
              <a:rPr lang="es-ES_tradnl" b="1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s-ES_tradnl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(“5”)</a:t>
            </a:r>
            <a:endParaRPr lang="es-ES_tradnl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00050" lvl="1" indent="0">
              <a:buNone/>
              <a:defRPr/>
            </a:pPr>
            <a:endParaRPr lang="es-ES_tradnl" b="1" dirty="0" smtClean="0"/>
          </a:p>
          <a:p>
            <a:pPr marL="533400" indent="-533400">
              <a:defRPr/>
            </a:pPr>
            <a:endParaRPr lang="es-ES_tradnl" b="1" dirty="0" smtClean="0"/>
          </a:p>
          <a:p>
            <a:pPr marL="533400" indent="-533400">
              <a:defRPr/>
            </a:pPr>
            <a:endParaRPr lang="es-ES_tradnl" b="1" dirty="0" smtClean="0"/>
          </a:p>
        </p:txBody>
      </p:sp>
      <p:sp>
        <p:nvSpPr>
          <p:cNvPr id="3" name="2 CuadroTexto"/>
          <p:cNvSpPr txBox="1"/>
          <p:nvPr/>
        </p:nvSpPr>
        <p:spPr>
          <a:xfrm>
            <a:off x="2339752" y="4797152"/>
            <a:ext cx="61750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 smtClean="0">
                <a:solidFill>
                  <a:schemeClr val="tx1"/>
                </a:solidFill>
              </a:rPr>
              <a:t>¿Cómo sería en diagrama de flujo?</a:t>
            </a:r>
            <a:endParaRPr lang="es-C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329156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4" y="1628800"/>
            <a:ext cx="5674612" cy="3422500"/>
          </a:xfrm>
          <a:prstGeom prst="rect">
            <a:avLst/>
          </a:prstGeom>
        </p:spPr>
      </p:pic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662108" y="1700807"/>
            <a:ext cx="5424264" cy="864096"/>
          </a:xfr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800100" lvl="2" indent="0">
              <a:buNone/>
              <a:defRPr/>
            </a:pPr>
            <a:r>
              <a:rPr lang="es-ES_tradnl" sz="4000" b="1" dirty="0" smtClean="0">
                <a:solidFill>
                  <a:schemeClr val="bg1"/>
                </a:solidFill>
              </a:rPr>
              <a:t>… y si son mil???</a:t>
            </a:r>
          </a:p>
        </p:txBody>
      </p:sp>
    </p:spTree>
    <p:extLst>
      <p:ext uri="{BB962C8B-B14F-4D97-AF65-F5344CB8AC3E}">
        <p14:creationId xmlns:p14="http://schemas.microsoft.com/office/powerpoint/2010/main" val="327191456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s-CL"/>
              <a:t>EJEMPLO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619672" y="1052736"/>
            <a:ext cx="7272808" cy="1512167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 algn="just">
              <a:buNone/>
            </a:pPr>
            <a:r>
              <a:rPr lang="es-CL" dirty="0">
                <a:solidFill>
                  <a:schemeClr val="accent6">
                    <a:lumMod val="75000"/>
                  </a:schemeClr>
                </a:solidFill>
              </a:rPr>
              <a:t>Diseñe un algoritmo en diagrama de flujo y Python que imprima los primeros 20 enteros positivos.</a:t>
            </a:r>
          </a:p>
          <a:p>
            <a:endParaRPr lang="es-CL" dirty="0" smtClean="0"/>
          </a:p>
          <a:p>
            <a:endParaRPr lang="es-CL" dirty="0" smtClean="0"/>
          </a:p>
          <a:p>
            <a:endParaRPr lang="es-CL" dirty="0" smtClean="0"/>
          </a:p>
        </p:txBody>
      </p:sp>
      <p:sp>
        <p:nvSpPr>
          <p:cNvPr id="2" name="Rectángulo 1"/>
          <p:cNvSpPr/>
          <p:nvPr/>
        </p:nvSpPr>
        <p:spPr>
          <a:xfrm>
            <a:off x="1279404" y="4989661"/>
            <a:ext cx="568863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00050" lvl="1" indent="0" algn="l">
              <a:buNone/>
            </a:pPr>
            <a:r>
              <a:rPr lang="es-CL" sz="2400" b="0" dirty="0">
                <a:solidFill>
                  <a:schemeClr val="tx1"/>
                </a:solidFill>
                <a:latin typeface="+mj-lt"/>
                <a:cs typeface="Consolas" panose="020B0609020204030204" pitchFamily="49" charset="0"/>
              </a:rPr>
              <a:t>Python:</a:t>
            </a:r>
          </a:p>
          <a:p>
            <a:pPr lvl="4" algn="l">
              <a:buNone/>
            </a:pPr>
            <a:r>
              <a:rPr lang="en-US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x in range(1,21):</a:t>
            </a:r>
          </a:p>
          <a:p>
            <a:pPr lvl="4" algn="l">
              <a:buNone/>
            </a:pPr>
            <a:r>
              <a:rPr lang="en-US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print(x)</a:t>
            </a:r>
          </a:p>
        </p:txBody>
      </p:sp>
      <p:grpSp>
        <p:nvGrpSpPr>
          <p:cNvPr id="53" name="Grupo 52"/>
          <p:cNvGrpSpPr/>
          <p:nvPr/>
        </p:nvGrpSpPr>
        <p:grpSpPr>
          <a:xfrm>
            <a:off x="4487448" y="2132856"/>
            <a:ext cx="4174436" cy="2744626"/>
            <a:chOff x="4213988" y="2143126"/>
            <a:chExt cx="4174436" cy="2744626"/>
          </a:xfrm>
        </p:grpSpPr>
        <p:sp>
          <p:nvSpPr>
            <p:cNvPr id="5" name="2 Preparación"/>
            <p:cNvSpPr/>
            <p:nvPr/>
          </p:nvSpPr>
          <p:spPr bwMode="auto">
            <a:xfrm>
              <a:off x="4213988" y="2874422"/>
              <a:ext cx="3519722" cy="338554"/>
            </a:xfrm>
            <a:prstGeom prst="flowChartPreparation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es-ES" sz="1600" b="0" dirty="0" smtClean="0">
                  <a:solidFill>
                    <a:schemeClr val="tx1"/>
                  </a:solidFill>
                </a:rPr>
                <a:t> x desde 1 hasta 20</a:t>
              </a:r>
              <a:endParaRPr kumimoji="0" lang="es-CL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cxnSp>
          <p:nvCxnSpPr>
            <p:cNvPr id="6" name="4 Conector recto de flecha"/>
            <p:cNvCxnSpPr>
              <a:stCxn id="5" idx="2"/>
              <a:endCxn id="24" idx="0"/>
            </p:cNvCxnSpPr>
            <p:nvPr/>
          </p:nvCxnSpPr>
          <p:spPr bwMode="auto">
            <a:xfrm flipH="1">
              <a:off x="5969231" y="3212976"/>
              <a:ext cx="4618" cy="288032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" name="7 Conector angular"/>
            <p:cNvCxnSpPr>
              <a:stCxn id="24" idx="4"/>
              <a:endCxn id="5" idx="1"/>
            </p:cNvCxnSpPr>
            <p:nvPr/>
          </p:nvCxnSpPr>
          <p:spPr bwMode="auto">
            <a:xfrm rot="5400000" flipH="1">
              <a:off x="4658465" y="2599223"/>
              <a:ext cx="866289" cy="1755243"/>
            </a:xfrm>
            <a:prstGeom prst="bentConnector4">
              <a:avLst>
                <a:gd name="adj1" fmla="val -21362"/>
                <a:gd name="adj2" fmla="val 113024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1" name="10 Conector angular"/>
            <p:cNvCxnSpPr>
              <a:stCxn id="5" idx="3"/>
              <a:endCxn id="36" idx="0"/>
            </p:cNvCxnSpPr>
            <p:nvPr/>
          </p:nvCxnSpPr>
          <p:spPr bwMode="auto">
            <a:xfrm flipH="1">
              <a:off x="5976156" y="3043699"/>
              <a:ext cx="1757554" cy="1411261"/>
            </a:xfrm>
            <a:prstGeom prst="bentConnector4">
              <a:avLst>
                <a:gd name="adj1" fmla="val -13007"/>
                <a:gd name="adj2" fmla="val 86080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12" name="15 CuadroTexto"/>
            <p:cNvSpPr txBox="1"/>
            <p:nvPr/>
          </p:nvSpPr>
          <p:spPr>
            <a:xfrm>
              <a:off x="5796136" y="3224009"/>
              <a:ext cx="8984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L" sz="1200" b="0" dirty="0" smtClean="0">
                  <a:solidFill>
                    <a:schemeClr val="tx1"/>
                  </a:solidFill>
                </a:rPr>
                <a:t>x&lt;=20</a:t>
              </a:r>
              <a:endParaRPr lang="es-CL" sz="1200" b="0" dirty="0">
                <a:solidFill>
                  <a:schemeClr val="tx1"/>
                </a:solidFill>
              </a:endParaRPr>
            </a:p>
          </p:txBody>
        </p:sp>
        <p:sp>
          <p:nvSpPr>
            <p:cNvPr id="13" name="16 CuadroTexto"/>
            <p:cNvSpPr txBox="1"/>
            <p:nvPr/>
          </p:nvSpPr>
          <p:spPr>
            <a:xfrm>
              <a:off x="7489984" y="2791961"/>
              <a:ext cx="8984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L" sz="1200" b="0" dirty="0" smtClean="0">
                  <a:solidFill>
                    <a:schemeClr val="tx1"/>
                  </a:solidFill>
                </a:rPr>
                <a:t>x&gt;20</a:t>
              </a:r>
              <a:endParaRPr lang="es-CL" sz="1200" b="0" dirty="0">
                <a:solidFill>
                  <a:schemeClr val="tx1"/>
                </a:solidFill>
              </a:endParaRPr>
            </a:p>
          </p:txBody>
        </p:sp>
        <p:sp>
          <p:nvSpPr>
            <p:cNvPr id="3" name="Elipse 2"/>
            <p:cNvSpPr/>
            <p:nvPr/>
          </p:nvSpPr>
          <p:spPr bwMode="auto">
            <a:xfrm>
              <a:off x="5400092" y="2143126"/>
              <a:ext cx="1152128" cy="432792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s-ES" sz="140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INICIO</a:t>
              </a:r>
              <a:endParaRPr kumimoji="0" lang="es-CL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15" name="Conector recto de flecha 14"/>
            <p:cNvCxnSpPr>
              <a:stCxn id="3" idx="4"/>
              <a:endCxn id="5" idx="0"/>
            </p:cNvCxnSpPr>
            <p:nvPr/>
          </p:nvCxnSpPr>
          <p:spPr bwMode="auto">
            <a:xfrm flipH="1">
              <a:off x="5973849" y="2575918"/>
              <a:ext cx="2307" cy="298504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4" name="Paralelogramo 23"/>
            <p:cNvSpPr/>
            <p:nvPr/>
          </p:nvSpPr>
          <p:spPr bwMode="auto">
            <a:xfrm>
              <a:off x="4846182" y="3501008"/>
              <a:ext cx="2246098" cy="408980"/>
            </a:xfrm>
            <a:prstGeom prst="parallelogram">
              <a:avLst>
                <a:gd name="adj" fmla="val 55653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s-ES" sz="14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x</a:t>
              </a:r>
              <a:endParaRPr kumimoji="0" lang="es-CL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6" name="Elipse 35"/>
            <p:cNvSpPr/>
            <p:nvPr/>
          </p:nvSpPr>
          <p:spPr bwMode="auto">
            <a:xfrm>
              <a:off x="5400092" y="4454960"/>
              <a:ext cx="1152128" cy="432792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s-ES" sz="1400" dirty="0" smtClean="0">
                  <a:solidFill>
                    <a:schemeClr val="tx1"/>
                  </a:solidFill>
                </a:rPr>
                <a:t>F</a:t>
              </a:r>
              <a:r>
                <a:rPr kumimoji="0" lang="es-ES" sz="140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</a:rPr>
                <a:t>IN</a:t>
              </a:r>
              <a:endParaRPr kumimoji="0" lang="es-CL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</p:grpSp>
      <p:cxnSp>
        <p:nvCxnSpPr>
          <p:cNvPr id="7" name="Conector recto de flecha 6"/>
          <p:cNvCxnSpPr/>
          <p:nvPr/>
        </p:nvCxnSpPr>
        <p:spPr bwMode="auto">
          <a:xfrm>
            <a:off x="6968036" y="3573016"/>
            <a:ext cx="700308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410997830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>
          <a:xfrm>
            <a:off x="1592153" y="44625"/>
            <a:ext cx="6347713" cy="652963"/>
          </a:xfrm>
        </p:spPr>
        <p:txBody>
          <a:bodyPr/>
          <a:lstStyle/>
          <a:p>
            <a:pPr>
              <a:defRPr/>
            </a:pPr>
            <a:r>
              <a:rPr lang="es-CL" dirty="0" smtClean="0"/>
              <a:t>EJERCICIOS</a:t>
            </a:r>
            <a:endParaRPr lang="es-CL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1631774" y="764704"/>
            <a:ext cx="7260706" cy="5544616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Font typeface="Wingdings" pitchFamily="2" charset="2"/>
              <a:buChar char="ü"/>
              <a:defRPr sz="20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5pPr>
            <a:lvl6pPr marL="2438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895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352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10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457200" indent="-457200" algn="just">
              <a:lnSpc>
                <a:spcPct val="90000"/>
              </a:lnSpc>
              <a:spcBef>
                <a:spcPts val="300"/>
              </a:spcBef>
              <a:buSzPct val="100000"/>
              <a:buFont typeface="+mj-lt"/>
              <a:buAutoNum type="arabicParenR"/>
            </a:pPr>
            <a:r>
              <a:rPr lang="es-CL" sz="2000" b="0" dirty="0"/>
              <a:t>Diseñe un algoritmo en diagrama de flujo y Python que muestre en pantalla, a partir de un número, los 5 enteros positivos que le siguen. Ejemplo:</a:t>
            </a:r>
            <a:endParaRPr lang="es-CL" sz="2200" b="0" dirty="0"/>
          </a:p>
          <a:p>
            <a:pPr marL="857250" lvl="2" indent="0" algn="just">
              <a:lnSpc>
                <a:spcPct val="90000"/>
              </a:lnSpc>
              <a:spcBef>
                <a:spcPts val="300"/>
              </a:spcBef>
              <a:buNone/>
            </a:pPr>
            <a:r>
              <a:rPr lang="es-CL" sz="1900" b="0" i="1" dirty="0">
                <a:solidFill>
                  <a:schemeClr val="accent2">
                    <a:lumMod val="75000"/>
                  </a:schemeClr>
                </a:solidFill>
              </a:rPr>
              <a:t>Ingrese un número positivo: </a:t>
            </a:r>
            <a:r>
              <a:rPr lang="es-CL" sz="1900" b="0" dirty="0">
                <a:solidFill>
                  <a:srgbClr val="1E741E"/>
                </a:solidFill>
              </a:rPr>
              <a:t>3</a:t>
            </a:r>
          </a:p>
          <a:p>
            <a:pPr marL="857250" lvl="2" indent="0" algn="just">
              <a:lnSpc>
                <a:spcPct val="90000"/>
              </a:lnSpc>
              <a:spcBef>
                <a:spcPts val="300"/>
              </a:spcBef>
              <a:buNone/>
            </a:pPr>
            <a:r>
              <a:rPr lang="es-CL" sz="1900" b="0" dirty="0">
                <a:solidFill>
                  <a:schemeClr val="accent2">
                    <a:lumMod val="75000"/>
                  </a:schemeClr>
                </a:solidFill>
              </a:rPr>
              <a:t>4 5 6 7 8</a:t>
            </a:r>
          </a:p>
          <a:p>
            <a:pPr marL="457200" indent="-457200" algn="just">
              <a:lnSpc>
                <a:spcPct val="80000"/>
              </a:lnSpc>
              <a:spcBef>
                <a:spcPts val="300"/>
              </a:spcBef>
              <a:buFont typeface="+mj-lt"/>
              <a:buAutoNum type="arabicParenR"/>
            </a:pPr>
            <a:endParaRPr lang="es-CL" sz="2000" b="0" kern="0" dirty="0" smtClean="0">
              <a:latin typeface="+mj-lt"/>
            </a:endParaRPr>
          </a:p>
          <a:p>
            <a:pPr marL="457200" indent="-457200" algn="just">
              <a:lnSpc>
                <a:spcPct val="80000"/>
              </a:lnSpc>
              <a:spcBef>
                <a:spcPts val="300"/>
              </a:spcBef>
              <a:buSzPct val="100000"/>
              <a:buFont typeface="+mj-lt"/>
              <a:buAutoNum type="arabicParenR"/>
            </a:pPr>
            <a:r>
              <a:rPr lang="es-CL" sz="2000" b="0" kern="0" dirty="0" smtClean="0">
                <a:latin typeface="+mj-lt"/>
              </a:rPr>
              <a:t>Diseñe un algoritmo en </a:t>
            </a:r>
            <a:r>
              <a:rPr lang="es-CL" sz="2000" b="0" dirty="0"/>
              <a:t>diagrama de flujo </a:t>
            </a:r>
            <a:r>
              <a:rPr lang="es-CL" sz="2000" b="0" kern="0" dirty="0" smtClean="0">
                <a:latin typeface="+mj-lt"/>
              </a:rPr>
              <a:t>y Python que imprima una fila de N asteriscos. N es un dato numérico de entrada.</a:t>
            </a:r>
          </a:p>
          <a:p>
            <a:pPr marL="228600" indent="-228600" algn="just">
              <a:lnSpc>
                <a:spcPct val="80000"/>
              </a:lnSpc>
              <a:spcBef>
                <a:spcPts val="300"/>
              </a:spcBef>
              <a:buSzPct val="100000"/>
              <a:buFont typeface="+mj-lt"/>
              <a:buAutoNum type="arabicParenR"/>
            </a:pPr>
            <a:endParaRPr lang="es-CL" sz="800" b="0" kern="0" dirty="0" smtClean="0">
              <a:latin typeface="+mj-lt"/>
            </a:endParaRPr>
          </a:p>
          <a:p>
            <a:pPr marL="457200" indent="-457200" algn="just">
              <a:lnSpc>
                <a:spcPct val="80000"/>
              </a:lnSpc>
              <a:spcBef>
                <a:spcPts val="300"/>
              </a:spcBef>
              <a:buSzPct val="100000"/>
              <a:buFont typeface="+mj-lt"/>
              <a:buAutoNum type="arabicParenR"/>
            </a:pPr>
            <a:r>
              <a:rPr lang="es-CL" sz="2000" b="0" kern="0" dirty="0" smtClean="0">
                <a:latin typeface="+mj-lt"/>
              </a:rPr>
              <a:t>Varíe el algoritmo, mostrando en pantalla N veces un carácter ingresado por el usuario.</a:t>
            </a:r>
          </a:p>
          <a:p>
            <a:pPr marL="228600" indent="-228600" algn="just">
              <a:lnSpc>
                <a:spcPct val="80000"/>
              </a:lnSpc>
              <a:spcBef>
                <a:spcPts val="300"/>
              </a:spcBef>
              <a:buSzPct val="100000"/>
              <a:buFont typeface="+mj-lt"/>
              <a:buAutoNum type="arabicParenR"/>
            </a:pPr>
            <a:endParaRPr lang="es-CL" sz="800" b="0" kern="0" dirty="0" smtClean="0">
              <a:latin typeface="+mj-lt"/>
            </a:endParaRPr>
          </a:p>
          <a:p>
            <a:pPr marL="457200" indent="-457200" algn="just">
              <a:buSzPct val="100000"/>
              <a:buFont typeface="+mj-lt"/>
              <a:buAutoNum type="arabicParenR"/>
            </a:pPr>
            <a:r>
              <a:rPr lang="es-ES" sz="2000" b="0" kern="0" dirty="0" smtClean="0"/>
              <a:t>Diseñe </a:t>
            </a:r>
            <a:r>
              <a:rPr lang="es-CL" sz="2000" b="0" dirty="0"/>
              <a:t>un algoritmo en diagrama de flujo y Python que imprima la suma de los primeros N enteros positivos. Ejemplo en pantalla</a:t>
            </a:r>
            <a:r>
              <a:rPr lang="es-CL" sz="2000" b="0" dirty="0" smtClean="0"/>
              <a:t>:</a:t>
            </a:r>
            <a:endParaRPr lang="es-CL" sz="2000" b="0" kern="0" dirty="0"/>
          </a:p>
          <a:p>
            <a:pPr>
              <a:buNone/>
            </a:pPr>
            <a:r>
              <a:rPr lang="es-CL" sz="2000" b="0" i="1" kern="0" dirty="0">
                <a:solidFill>
                  <a:schemeClr val="accent2">
                    <a:lumMod val="75000"/>
                  </a:schemeClr>
                </a:solidFill>
              </a:rPr>
              <a:t>	</a:t>
            </a:r>
            <a:r>
              <a:rPr lang="es-CL" sz="1800" b="0" i="1" kern="0" dirty="0">
                <a:solidFill>
                  <a:schemeClr val="accent2">
                    <a:lumMod val="75000"/>
                  </a:schemeClr>
                </a:solidFill>
              </a:rPr>
              <a:t>Ingrese un Número: </a:t>
            </a:r>
            <a:r>
              <a:rPr lang="es-CL" sz="1800" kern="0" dirty="0">
                <a:solidFill>
                  <a:srgbClr val="AF2154"/>
                </a:solidFill>
              </a:rPr>
              <a:t>5</a:t>
            </a:r>
          </a:p>
          <a:p>
            <a:pPr>
              <a:buNone/>
            </a:pPr>
            <a:r>
              <a:rPr lang="es-CL" sz="1800" b="0" i="1" kern="0" dirty="0">
                <a:solidFill>
                  <a:schemeClr val="accent2">
                    <a:lumMod val="75000"/>
                  </a:schemeClr>
                </a:solidFill>
              </a:rPr>
              <a:t>	La suma de los 5 primeros números enteros positivos es </a:t>
            </a:r>
            <a:r>
              <a:rPr lang="es-CL" sz="1800" b="0" i="1" kern="0" dirty="0" smtClean="0">
                <a:solidFill>
                  <a:schemeClr val="accent2">
                    <a:lumMod val="75000"/>
                  </a:schemeClr>
                </a:solidFill>
              </a:rPr>
              <a:t>15</a:t>
            </a:r>
            <a:endParaRPr lang="es-CL" sz="1800" b="0" kern="0" dirty="0"/>
          </a:p>
        </p:txBody>
      </p:sp>
      <p:sp>
        <p:nvSpPr>
          <p:cNvPr id="5" name="2 Marcador de contenido"/>
          <p:cNvSpPr txBox="1">
            <a:spLocks/>
          </p:cNvSpPr>
          <p:nvPr/>
        </p:nvSpPr>
        <p:spPr>
          <a:xfrm>
            <a:off x="1627514" y="3933056"/>
            <a:ext cx="7372335" cy="280831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Font typeface="Wingdings" pitchFamily="2" charset="2"/>
              <a:buChar char="ü"/>
              <a:defRPr sz="20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5pPr>
            <a:lvl6pPr marL="2438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895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352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10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endParaRPr lang="es-ES" sz="2000" b="0" kern="0" dirty="0">
              <a:solidFill>
                <a:schemeClr val="accent2">
                  <a:lumMod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9478725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>
              <a:defRPr/>
            </a:pPr>
            <a:r>
              <a:rPr lang="es-CL" dirty="0" smtClean="0"/>
              <a:t>…EJERCICIOS</a:t>
            </a:r>
            <a:endParaRPr lang="es-CL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1619672" y="1124744"/>
            <a:ext cx="6984776" cy="2608716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Font typeface="Wingdings" pitchFamily="2" charset="2"/>
              <a:buChar char="ü"/>
              <a:defRPr sz="20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5pPr>
            <a:lvl6pPr marL="2438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895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352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10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457200" indent="-457200" algn="just">
              <a:lnSpc>
                <a:spcPct val="80000"/>
              </a:lnSpc>
              <a:spcBef>
                <a:spcPts val="300"/>
              </a:spcBef>
              <a:buSzPct val="100000"/>
              <a:buFont typeface="+mj-lt"/>
              <a:buAutoNum type="arabicPeriod" startAt="5"/>
            </a:pPr>
            <a:r>
              <a:rPr lang="es-CL" sz="2000" b="0" dirty="0" smtClean="0">
                <a:latin typeface="+mj-lt"/>
              </a:rPr>
              <a:t>D</a:t>
            </a:r>
            <a:r>
              <a:rPr lang="es-ES" sz="2000" b="0" kern="0" dirty="0" err="1" smtClean="0"/>
              <a:t>ado</a:t>
            </a:r>
            <a:r>
              <a:rPr lang="es-ES" sz="2000" b="0" kern="0" dirty="0" smtClean="0"/>
              <a:t> </a:t>
            </a:r>
            <a:r>
              <a:rPr lang="es-ES" sz="2000" b="0" kern="0" dirty="0"/>
              <a:t>un número entero positivo N ingresado por el usuario, desarrolle algoritmo en </a:t>
            </a:r>
            <a:r>
              <a:rPr lang="es-CL" sz="2000" b="0" kern="0" dirty="0"/>
              <a:t>diagrama de flujo y Python </a:t>
            </a:r>
            <a:r>
              <a:rPr lang="es-ES" sz="2000" b="0" kern="0" dirty="0"/>
              <a:t>que imprima los números enteros desde 1 hasta N, cada uno tantas veces como indique su propio valor. Ejemplo:</a:t>
            </a:r>
          </a:p>
          <a:p>
            <a:pPr marL="0" indent="0" algn="just">
              <a:spcBef>
                <a:spcPts val="300"/>
              </a:spcBef>
              <a:buNone/>
            </a:pPr>
            <a:r>
              <a:rPr lang="es-ES" sz="1600" b="0" kern="0" dirty="0"/>
              <a:t>	</a:t>
            </a:r>
            <a:r>
              <a:rPr lang="es-ES" sz="2000" b="0" kern="0" dirty="0" smtClean="0">
                <a:solidFill>
                  <a:schemeClr val="accent2">
                    <a:lumMod val="75000"/>
                  </a:schemeClr>
                </a:solidFill>
              </a:rPr>
              <a:t>Ingrese </a:t>
            </a:r>
            <a:r>
              <a:rPr lang="es-ES" sz="2000" b="0" kern="0" dirty="0">
                <a:solidFill>
                  <a:schemeClr val="accent2">
                    <a:lumMod val="75000"/>
                  </a:schemeClr>
                </a:solidFill>
              </a:rPr>
              <a:t>un número positivo: 6</a:t>
            </a:r>
          </a:p>
          <a:p>
            <a:pPr marL="0" indent="0" algn="just">
              <a:spcBef>
                <a:spcPts val="300"/>
              </a:spcBef>
              <a:buNone/>
            </a:pPr>
            <a:r>
              <a:rPr lang="es-ES" sz="2000" b="0" kern="0" dirty="0">
                <a:solidFill>
                  <a:schemeClr val="accent2">
                    <a:lumMod val="75000"/>
                  </a:schemeClr>
                </a:solidFill>
              </a:rPr>
              <a:t>	122333444455555666666</a:t>
            </a:r>
          </a:p>
          <a:p>
            <a:pPr marL="514350" indent="-514350" algn="just">
              <a:lnSpc>
                <a:spcPct val="80000"/>
              </a:lnSpc>
              <a:spcBef>
                <a:spcPts val="300"/>
              </a:spcBef>
              <a:buFont typeface="+mj-lt"/>
              <a:buAutoNum type="arabicPeriod"/>
            </a:pPr>
            <a:endParaRPr lang="es-CL" sz="2000" b="0" kern="0" dirty="0"/>
          </a:p>
        </p:txBody>
      </p:sp>
    </p:spTree>
    <p:extLst>
      <p:ext uri="{BB962C8B-B14F-4D97-AF65-F5344CB8AC3E}">
        <p14:creationId xmlns:p14="http://schemas.microsoft.com/office/powerpoint/2010/main" val="331200516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Más ejercicios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CL" dirty="0"/>
              <a:t>Diseñe un algoritmo en diagrama de flujo y </a:t>
            </a:r>
            <a:r>
              <a:rPr lang="es-CL" dirty="0" smtClean="0"/>
              <a:t>Python que:</a:t>
            </a:r>
          </a:p>
          <a:p>
            <a:pPr marL="514350" indent="-514350">
              <a:buSzPct val="100000"/>
              <a:buFont typeface="+mj-lt"/>
              <a:buAutoNum type="arabicParenR"/>
            </a:pPr>
            <a:r>
              <a:rPr lang="es-ES" sz="2400" dirty="0" smtClean="0"/>
              <a:t>Imprima los números consecutivos desde n hasta m, siendo n y m números ingresados por el usuario.</a:t>
            </a:r>
          </a:p>
          <a:p>
            <a:pPr marL="0" indent="0" algn="just">
              <a:lnSpc>
                <a:spcPct val="80000"/>
              </a:lnSpc>
              <a:spcBef>
                <a:spcPts val="300"/>
              </a:spcBef>
              <a:buSzPct val="100000"/>
              <a:buNone/>
            </a:pPr>
            <a:r>
              <a:rPr lang="es-ES" sz="2400" dirty="0" smtClean="0"/>
              <a:t>	</a:t>
            </a:r>
            <a:r>
              <a:rPr lang="es-ES" sz="2000" dirty="0" smtClean="0"/>
              <a:t>Ejemplos:</a:t>
            </a:r>
            <a:endParaRPr lang="es-ES" sz="2000" dirty="0"/>
          </a:p>
          <a:p>
            <a:pPr marL="1219200" lvl="3" indent="0" algn="just">
              <a:spcBef>
                <a:spcPts val="300"/>
              </a:spcBef>
              <a:buNone/>
            </a:pPr>
            <a:r>
              <a:rPr lang="es-ES" sz="600" dirty="0"/>
              <a:t>	</a:t>
            </a:r>
            <a:r>
              <a:rPr lang="es-ES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Ingrese </a:t>
            </a:r>
            <a:r>
              <a:rPr lang="es-ES" dirty="0" smtClean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número: 3</a:t>
            </a:r>
            <a:endParaRPr lang="es-ES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19200" lvl="3" indent="0" algn="just">
              <a:spcBef>
                <a:spcPts val="300"/>
              </a:spcBef>
              <a:buNone/>
            </a:pPr>
            <a:r>
              <a:rPr lang="es-ES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Ingrese </a:t>
            </a:r>
            <a:r>
              <a:rPr lang="es-ES" dirty="0" smtClean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otro número: 9</a:t>
            </a:r>
            <a:endParaRPr lang="es-ES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19200" lvl="3" indent="0" algn="just">
              <a:spcBef>
                <a:spcPts val="300"/>
              </a:spcBef>
              <a:buNone/>
            </a:pPr>
            <a:r>
              <a:rPr lang="es-ES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s-ES" dirty="0" smtClean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3 4 5 6 7 8 9</a:t>
            </a:r>
          </a:p>
          <a:p>
            <a:pPr marL="1219200" lvl="3" indent="0" algn="just">
              <a:spcBef>
                <a:spcPts val="300"/>
              </a:spcBef>
              <a:buNone/>
            </a:pPr>
            <a:r>
              <a:rPr lang="es-ES" dirty="0" smtClean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</a:p>
          <a:p>
            <a:pPr marL="1219200" lvl="3" indent="0" algn="just">
              <a:spcBef>
                <a:spcPts val="300"/>
              </a:spcBef>
              <a:buNone/>
            </a:pPr>
            <a:r>
              <a:rPr lang="es-ES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s-ES" dirty="0" smtClean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Ingrese </a:t>
            </a:r>
            <a:r>
              <a:rPr lang="es-ES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número: 9</a:t>
            </a:r>
          </a:p>
          <a:p>
            <a:pPr marL="1219200" lvl="3" indent="0" algn="just">
              <a:spcBef>
                <a:spcPts val="300"/>
              </a:spcBef>
              <a:buNone/>
            </a:pPr>
            <a:r>
              <a:rPr lang="es-ES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Ingrese otro número: </a:t>
            </a:r>
            <a:r>
              <a:rPr lang="es-ES" dirty="0" smtClean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endParaRPr lang="es-ES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19200" lvl="3" indent="0" algn="just">
              <a:spcBef>
                <a:spcPts val="300"/>
              </a:spcBef>
              <a:buNone/>
            </a:pPr>
            <a:r>
              <a:rPr lang="es-ES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3 4 5 6 7 8 9</a:t>
            </a:r>
          </a:p>
          <a:p>
            <a:pPr marL="1219200" lvl="3" indent="0" algn="just">
              <a:spcBef>
                <a:spcPts val="300"/>
              </a:spcBef>
              <a:buNone/>
            </a:pPr>
            <a:endParaRPr lang="es-ES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19200" lvl="3" indent="0" algn="just">
              <a:spcBef>
                <a:spcPts val="300"/>
              </a:spcBef>
              <a:buNone/>
            </a:pPr>
            <a:endParaRPr lang="es-ES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14350" indent="-514350">
              <a:buSzPct val="100000"/>
              <a:buFont typeface="+mj-lt"/>
              <a:buAutoNum type="arabicPeriod"/>
            </a:pPr>
            <a:endParaRPr lang="es-CL" sz="2400" dirty="0"/>
          </a:p>
        </p:txBody>
      </p:sp>
    </p:spTree>
    <p:extLst>
      <p:ext uri="{BB962C8B-B14F-4D97-AF65-F5344CB8AC3E}">
        <p14:creationId xmlns:p14="http://schemas.microsoft.com/office/powerpoint/2010/main" val="34580243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 smtClean="0"/>
              <a:t>…Más ejercicios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403648" y="829572"/>
            <a:ext cx="7581528" cy="5767780"/>
          </a:xfrm>
        </p:spPr>
        <p:txBody>
          <a:bodyPr/>
          <a:lstStyle/>
          <a:p>
            <a:pPr marL="457200" indent="-457200">
              <a:buSzPct val="100000"/>
              <a:buFont typeface="+mj-lt"/>
              <a:buAutoNum type="arabicParenR" startAt="2"/>
            </a:pPr>
            <a:r>
              <a:rPr lang="es-ES" sz="2000" dirty="0" smtClean="0"/>
              <a:t>Solicite ingresar el radio de una circunferencia e imprima el área o perímetro según  lo determine el usuario.</a:t>
            </a:r>
          </a:p>
          <a:p>
            <a:pPr marL="0" indent="0">
              <a:buSzPct val="100000"/>
              <a:buNone/>
            </a:pPr>
            <a:r>
              <a:rPr lang="es-ES" sz="2000" dirty="0" smtClean="0"/>
              <a:t>	</a:t>
            </a:r>
            <a:r>
              <a:rPr lang="es-ES" sz="1800" dirty="0" smtClean="0"/>
              <a:t>Ejemplos:</a:t>
            </a:r>
            <a:endParaRPr lang="es-ES" sz="1800" dirty="0"/>
          </a:p>
          <a:p>
            <a:pPr marL="1219200" lvl="3" indent="0" algn="just">
              <a:spcBef>
                <a:spcPts val="300"/>
              </a:spcBef>
              <a:buNone/>
            </a:pPr>
            <a:r>
              <a:rPr lang="es-ES" sz="500" dirty="0"/>
              <a:t>	</a:t>
            </a:r>
            <a:r>
              <a:rPr lang="es-ES" sz="16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Ingrese </a:t>
            </a:r>
            <a:r>
              <a:rPr lang="es-ES" sz="1600" dirty="0" smtClean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radio: 3.5</a:t>
            </a:r>
            <a:endParaRPr lang="es-ES" sz="160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19200" lvl="3" indent="0" algn="just">
              <a:spcBef>
                <a:spcPts val="300"/>
              </a:spcBef>
              <a:buNone/>
            </a:pPr>
            <a:r>
              <a:rPr lang="es-ES" sz="16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s-ES" sz="1600" dirty="0" smtClean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Seleccione </a:t>
            </a:r>
            <a:r>
              <a:rPr lang="es-ES" sz="1600" dirty="0" err="1" smtClean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Perimetro</a:t>
            </a:r>
            <a:r>
              <a:rPr lang="es-ES" sz="1600" dirty="0" smtClean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o </a:t>
            </a:r>
            <a:r>
              <a:rPr lang="es-ES" sz="1600" dirty="0" err="1" smtClean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Area</a:t>
            </a:r>
            <a:r>
              <a:rPr lang="es-ES" sz="1600" dirty="0" smtClean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(P o A): P</a:t>
            </a:r>
            <a:endParaRPr lang="es-ES" sz="160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19200" lvl="3" indent="0" algn="just">
              <a:spcBef>
                <a:spcPts val="300"/>
              </a:spcBef>
              <a:buNone/>
            </a:pPr>
            <a:r>
              <a:rPr lang="es-ES" sz="16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s-ES" sz="1600" dirty="0" smtClean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21.98</a:t>
            </a:r>
          </a:p>
          <a:p>
            <a:pPr marL="1219200" lvl="3" indent="0" algn="just">
              <a:spcBef>
                <a:spcPts val="300"/>
              </a:spcBef>
              <a:buNone/>
            </a:pPr>
            <a:r>
              <a:rPr lang="es-ES" sz="1600" dirty="0" smtClean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</a:p>
          <a:p>
            <a:pPr marL="1219200" lvl="3" indent="0" algn="just">
              <a:spcBef>
                <a:spcPts val="300"/>
              </a:spcBef>
              <a:buNone/>
            </a:pPr>
            <a:r>
              <a:rPr lang="es-ES" sz="16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Ingrese radio: 3.5</a:t>
            </a:r>
          </a:p>
          <a:p>
            <a:pPr marL="1219200" lvl="3" indent="0" algn="just">
              <a:spcBef>
                <a:spcPts val="300"/>
              </a:spcBef>
              <a:buNone/>
            </a:pPr>
            <a:r>
              <a:rPr lang="es-ES" sz="16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Seleccione </a:t>
            </a:r>
            <a:r>
              <a:rPr lang="es-ES" sz="16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Perimetro</a:t>
            </a:r>
            <a:r>
              <a:rPr lang="es-ES" sz="16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o </a:t>
            </a:r>
            <a:r>
              <a:rPr lang="es-ES" sz="16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Area</a:t>
            </a:r>
            <a:r>
              <a:rPr lang="es-ES" sz="16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(P o A): </a:t>
            </a:r>
            <a:r>
              <a:rPr lang="es-ES" sz="1600" dirty="0" smtClean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endParaRPr lang="es-ES" sz="160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19200" lvl="3" indent="0" algn="just">
              <a:spcBef>
                <a:spcPts val="300"/>
              </a:spcBef>
              <a:buNone/>
            </a:pPr>
            <a:r>
              <a:rPr lang="es-ES" sz="16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s-ES" sz="1600" dirty="0" smtClean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38.465</a:t>
            </a:r>
            <a:endParaRPr lang="es-ES" sz="160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57200" lvl="3" indent="-457200">
              <a:buSzPct val="100000"/>
              <a:buFont typeface="+mj-lt"/>
              <a:buAutoNum type="arabicParenR" startAt="3"/>
            </a:pPr>
            <a:r>
              <a:rPr lang="es-ES" sz="2000" dirty="0" smtClean="0">
                <a:ea typeface="+mn-ea"/>
                <a:cs typeface="+mn-cs"/>
              </a:rPr>
              <a:t>Solicite ingresar un carácter, si éste es una vocal lo imprime 5 veces, si no lo imprime 3 veces, ambas hacia abajo.</a:t>
            </a:r>
          </a:p>
          <a:p>
            <a:pPr marL="0" indent="0">
              <a:buSzPct val="100000"/>
              <a:buNone/>
            </a:pPr>
            <a:r>
              <a:rPr lang="es-ES" sz="1800" dirty="0"/>
              <a:t> </a:t>
            </a:r>
            <a:r>
              <a:rPr lang="es-ES" sz="1800" dirty="0" smtClean="0"/>
              <a:t>      Ejemplos</a:t>
            </a:r>
            <a:r>
              <a:rPr lang="es-ES" sz="1800" dirty="0"/>
              <a:t>:</a:t>
            </a:r>
          </a:p>
          <a:p>
            <a:pPr marL="719138" lvl="3" indent="0" algn="just">
              <a:spcBef>
                <a:spcPts val="300"/>
              </a:spcBef>
              <a:buNone/>
            </a:pPr>
            <a:r>
              <a:rPr lang="es-ES" sz="1600" dirty="0" smtClean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Ingrese un </a:t>
            </a:r>
            <a:r>
              <a:rPr lang="es-ES" sz="1600" dirty="0" err="1" smtClean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caracter</a:t>
            </a:r>
            <a:r>
              <a:rPr lang="es-ES" sz="1600" dirty="0" smtClean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U</a:t>
            </a:r>
            <a:endParaRPr lang="es-ES" sz="160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719138" lvl="3" indent="0" algn="just">
              <a:spcBef>
                <a:spcPts val="300"/>
              </a:spcBef>
              <a:buNone/>
            </a:pPr>
            <a:r>
              <a:rPr lang="es-ES" sz="1600" dirty="0" smtClean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</a:t>
            </a:r>
          </a:p>
          <a:p>
            <a:pPr marL="719138" lvl="3" indent="0" algn="just">
              <a:spcBef>
                <a:spcPts val="300"/>
              </a:spcBef>
              <a:buNone/>
            </a:pPr>
            <a:r>
              <a:rPr lang="es-ES" sz="1600" dirty="0" smtClean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</a:t>
            </a:r>
          </a:p>
          <a:p>
            <a:pPr marL="719138" lvl="5" indent="0" algn="just">
              <a:spcBef>
                <a:spcPts val="300"/>
              </a:spcBef>
              <a:buNone/>
            </a:pPr>
            <a:r>
              <a:rPr lang="es-ES" sz="1600" dirty="0" smtClean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</a:t>
            </a:r>
          </a:p>
          <a:p>
            <a:pPr marL="719138" lvl="5" indent="0" algn="just">
              <a:spcBef>
                <a:spcPts val="300"/>
              </a:spcBef>
              <a:buNone/>
            </a:pPr>
            <a:r>
              <a:rPr lang="es-ES" sz="1600" dirty="0" smtClean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</a:t>
            </a:r>
          </a:p>
          <a:p>
            <a:pPr marL="719138" lvl="5" indent="0" algn="just">
              <a:spcBef>
                <a:spcPts val="300"/>
              </a:spcBef>
              <a:buNone/>
            </a:pPr>
            <a:r>
              <a:rPr lang="es-ES" sz="16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</a:t>
            </a:r>
          </a:p>
          <a:p>
            <a:pPr marL="457200" lvl="3" indent="-457200">
              <a:buSzPct val="100000"/>
              <a:buFont typeface="+mj-lt"/>
              <a:buAutoNum type="arabicParenR" startAt="3"/>
            </a:pPr>
            <a:endParaRPr lang="es-ES" sz="2000" dirty="0">
              <a:ea typeface="+mn-ea"/>
              <a:cs typeface="+mn-cs"/>
            </a:endParaRPr>
          </a:p>
          <a:p>
            <a:pPr marL="1219200" lvl="3" indent="0" algn="just">
              <a:spcBef>
                <a:spcPts val="300"/>
              </a:spcBef>
              <a:buNone/>
            </a:pPr>
            <a:endParaRPr lang="es-ES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14350" indent="-514350">
              <a:buSzPct val="100000"/>
              <a:buFont typeface="+mj-lt"/>
              <a:buAutoNum type="arabicPeriod"/>
            </a:pPr>
            <a:endParaRPr lang="es-CL" sz="2400" dirty="0"/>
          </a:p>
        </p:txBody>
      </p:sp>
      <p:sp>
        <p:nvSpPr>
          <p:cNvPr id="4" name="Rectángulo 3"/>
          <p:cNvSpPr/>
          <p:nvPr/>
        </p:nvSpPr>
        <p:spPr>
          <a:xfrm>
            <a:off x="5508104" y="4797152"/>
            <a:ext cx="2880320" cy="11926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4625" lvl="3" algn="l">
              <a:spcBef>
                <a:spcPts val="300"/>
              </a:spcBef>
              <a:buNone/>
            </a:pPr>
            <a:r>
              <a:rPr lang="es-ES" sz="1600" b="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Ingrese un </a:t>
            </a:r>
            <a:r>
              <a:rPr lang="es-ES" sz="1600" b="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caracter</a:t>
            </a:r>
            <a:r>
              <a:rPr lang="es-ES" sz="1600" b="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s-ES" sz="1600" b="0" dirty="0" smtClean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endParaRPr lang="es-ES" sz="1600" b="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74625" lvl="3" algn="l">
              <a:spcBef>
                <a:spcPts val="300"/>
              </a:spcBef>
              <a:buNone/>
            </a:pPr>
            <a:r>
              <a:rPr lang="es-ES" sz="1600" b="0" dirty="0" smtClean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endParaRPr lang="es-ES" sz="1600" b="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74625" lvl="3" algn="l">
              <a:spcBef>
                <a:spcPts val="300"/>
              </a:spcBef>
              <a:buNone/>
            </a:pPr>
            <a:r>
              <a:rPr lang="es-ES" sz="1600" b="0" dirty="0" smtClean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endParaRPr lang="es-ES" sz="1600" b="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74625" lvl="5">
              <a:spcBef>
                <a:spcPts val="300"/>
              </a:spcBef>
              <a:buNone/>
            </a:pPr>
            <a:r>
              <a:rPr lang="es-ES" sz="1600" b="0" dirty="0" smtClean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endParaRPr lang="es-ES" sz="1600" b="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270134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 smtClean="0"/>
              <a:t>…Más ejercicios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403648" y="829572"/>
            <a:ext cx="7581528" cy="5767780"/>
          </a:xfrm>
        </p:spPr>
        <p:txBody>
          <a:bodyPr/>
          <a:lstStyle/>
          <a:p>
            <a:pPr marL="457200" indent="-457200">
              <a:buSzPct val="100000"/>
              <a:buFont typeface="+mj-lt"/>
              <a:buAutoNum type="arabicParenR" startAt="4"/>
            </a:pPr>
            <a:r>
              <a:rPr lang="es-ES" sz="2000" dirty="0" smtClean="0"/>
              <a:t>Solicite una </a:t>
            </a:r>
            <a:r>
              <a:rPr lang="es-ES" sz="2000" dirty="0"/>
              <a:t>letra y 3 números a, b y c. Con estos datos se imprimirán tres líneas: en la 1ª la letra repetida a veces, en la 2ª la letra repetida b veces y el la 3ª la letra repetida c veces</a:t>
            </a:r>
            <a:r>
              <a:rPr lang="es-ES" sz="2000" dirty="0" smtClean="0"/>
              <a:t>.</a:t>
            </a:r>
          </a:p>
          <a:p>
            <a:pPr marL="457200" indent="-457200">
              <a:buSzPct val="100000"/>
              <a:buFont typeface="+mj-lt"/>
              <a:buAutoNum type="arabicParenR" startAt="4"/>
            </a:pPr>
            <a:endParaRPr lang="es-ES" sz="2000" dirty="0"/>
          </a:p>
          <a:p>
            <a:pPr marL="457200" indent="-457200">
              <a:buSzPct val="100000"/>
              <a:buFont typeface="+mj-lt"/>
              <a:buAutoNum type="arabicParenR" startAt="4"/>
            </a:pPr>
            <a:r>
              <a:rPr lang="es-ES" sz="2000" dirty="0" smtClean="0"/>
              <a:t>Solicite número N e imprima la sumatoria de 1 a N o el factorial de N según lo indique el usuario.</a:t>
            </a:r>
          </a:p>
          <a:p>
            <a:pPr marL="457200" indent="-457200">
              <a:buSzPct val="100000"/>
              <a:buFont typeface="+mj-lt"/>
              <a:buAutoNum type="arabicParenR" startAt="4"/>
            </a:pPr>
            <a:endParaRPr lang="es-ES" sz="2000" dirty="0" smtClean="0"/>
          </a:p>
          <a:p>
            <a:pPr marL="457200" indent="-457200">
              <a:buSzPct val="100000"/>
              <a:buFont typeface="+mj-lt"/>
              <a:buAutoNum type="arabicParenR" startAt="4"/>
            </a:pPr>
            <a:r>
              <a:rPr lang="es-ES" sz="2000" dirty="0"/>
              <a:t>Imprima la suma de los valores absolutos de 10 números ingresados por el </a:t>
            </a:r>
            <a:r>
              <a:rPr lang="es-ES" sz="2000" dirty="0" smtClean="0"/>
              <a:t>usuario.</a:t>
            </a:r>
          </a:p>
          <a:p>
            <a:pPr marL="457200" indent="-457200">
              <a:buSzPct val="100000"/>
              <a:buFont typeface="+mj-lt"/>
              <a:buAutoNum type="arabicParenR" startAt="4"/>
            </a:pPr>
            <a:r>
              <a:rPr lang="es-ES_tradnl" sz="2000" dirty="0" smtClean="0">
                <a:latin typeface="Arial" panose="020B0604020202020204" pitchFamily="34" charset="0"/>
                <a:ea typeface="Times New Roman" panose="02020603050405020304" pitchFamily="18" charset="0"/>
              </a:rPr>
              <a:t>Dado </a:t>
            </a:r>
            <a:r>
              <a:rPr lang="es-ES_tradnl" sz="2000" dirty="0">
                <a:latin typeface="Arial" panose="020B0604020202020204" pitchFamily="34" charset="0"/>
                <a:ea typeface="Times New Roman" panose="02020603050405020304" pitchFamily="18" charset="0"/>
              </a:rPr>
              <a:t>un número N positivo, escribir los números de 1 a N y después en orden decreciente desde N-1 hasta 1.</a:t>
            </a:r>
            <a:endParaRPr lang="es-CL" sz="800" dirty="0">
              <a:latin typeface="Arial" panose="020B0604020202020204" pitchFamily="34" charset="0"/>
            </a:endParaRPr>
          </a:p>
          <a:p>
            <a:pPr marL="1524000" lvl="0" indent="0">
              <a:spcBef>
                <a:spcPct val="0"/>
              </a:spcBef>
              <a:buNone/>
            </a:pPr>
            <a:r>
              <a:rPr lang="es-ES_tradnl" sz="1800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Ejemplo:</a:t>
            </a:r>
            <a:r>
              <a:rPr lang="es-ES_tradnl" sz="1400" dirty="0"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	</a:t>
            </a:r>
            <a:endParaRPr lang="es-ES_tradnl" sz="1400" dirty="0" smtClean="0">
              <a:latin typeface="Consolas" panose="020B0609020204030204" pitchFamily="49" charset="0"/>
              <a:ea typeface="Times New Roman" panose="02020603050405020304" pitchFamily="18" charset="0"/>
              <a:cs typeface="Consolas" panose="020B0609020204030204" pitchFamily="49" charset="0"/>
            </a:endParaRPr>
          </a:p>
          <a:p>
            <a:pPr marL="1882775" lvl="0" indent="0">
              <a:spcBef>
                <a:spcPct val="0"/>
              </a:spcBef>
              <a:buNone/>
            </a:pPr>
            <a:r>
              <a:rPr lang="es-ES_tradnl" sz="1400" dirty="0" smtClean="0">
                <a:solidFill>
                  <a:schemeClr val="accent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Ingrese </a:t>
            </a:r>
            <a:r>
              <a:rPr lang="es-ES_tradnl" sz="1400" dirty="0">
                <a:solidFill>
                  <a:schemeClr val="accent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un número: 4</a:t>
            </a:r>
            <a:endParaRPr lang="es-CL" sz="600" dirty="0">
              <a:solidFill>
                <a:schemeClr val="accent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882775" lvl="0" indent="0">
              <a:spcBef>
                <a:spcPct val="0"/>
              </a:spcBef>
              <a:buNone/>
            </a:pPr>
            <a:r>
              <a:rPr lang="es-ES_tradnl" sz="1400" dirty="0">
                <a:solidFill>
                  <a:schemeClr val="accent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1</a:t>
            </a:r>
            <a:endParaRPr lang="es-CL" sz="600" dirty="0">
              <a:solidFill>
                <a:schemeClr val="accent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882775" lvl="0" indent="0">
              <a:spcBef>
                <a:spcPct val="0"/>
              </a:spcBef>
              <a:buNone/>
            </a:pPr>
            <a:r>
              <a:rPr lang="es-ES_tradnl" sz="1400" dirty="0">
                <a:solidFill>
                  <a:schemeClr val="accent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2</a:t>
            </a:r>
            <a:endParaRPr lang="es-CL" sz="600" dirty="0">
              <a:solidFill>
                <a:schemeClr val="accent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882775" lvl="0" indent="0">
              <a:spcBef>
                <a:spcPct val="0"/>
              </a:spcBef>
              <a:buNone/>
            </a:pPr>
            <a:r>
              <a:rPr lang="es-ES_tradnl" sz="1400" dirty="0">
                <a:solidFill>
                  <a:schemeClr val="accent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3</a:t>
            </a:r>
            <a:endParaRPr lang="es-CL" sz="600" dirty="0">
              <a:solidFill>
                <a:schemeClr val="accent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882775" lvl="0" indent="0">
              <a:spcBef>
                <a:spcPct val="0"/>
              </a:spcBef>
              <a:buNone/>
            </a:pPr>
            <a:r>
              <a:rPr lang="es-ES_tradnl" sz="1400" dirty="0">
                <a:solidFill>
                  <a:schemeClr val="accent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4</a:t>
            </a:r>
            <a:endParaRPr lang="es-CL" sz="600" dirty="0">
              <a:solidFill>
                <a:schemeClr val="accent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882775" lvl="0" indent="0">
              <a:spcBef>
                <a:spcPct val="0"/>
              </a:spcBef>
              <a:buNone/>
            </a:pPr>
            <a:r>
              <a:rPr lang="es-ES_tradnl" sz="1400" dirty="0">
                <a:solidFill>
                  <a:schemeClr val="accent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3</a:t>
            </a:r>
            <a:endParaRPr lang="es-CL" sz="600" dirty="0">
              <a:solidFill>
                <a:schemeClr val="accent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882775" lvl="0" indent="0">
              <a:spcBef>
                <a:spcPct val="0"/>
              </a:spcBef>
              <a:buNone/>
            </a:pPr>
            <a:r>
              <a:rPr lang="es-ES_tradnl" sz="1400" dirty="0">
                <a:solidFill>
                  <a:schemeClr val="accent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2</a:t>
            </a:r>
            <a:endParaRPr lang="es-CL" sz="600" dirty="0">
              <a:solidFill>
                <a:schemeClr val="accent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882775" lvl="0" indent="0">
              <a:spcBef>
                <a:spcPct val="0"/>
              </a:spcBef>
              <a:buNone/>
            </a:pPr>
            <a:r>
              <a:rPr lang="es-ES_tradnl" sz="1400" dirty="0">
                <a:solidFill>
                  <a:schemeClr val="accent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1</a:t>
            </a:r>
            <a:endParaRPr lang="es-CL" sz="600" dirty="0">
              <a:solidFill>
                <a:schemeClr val="accent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57200" indent="-457200">
              <a:buSzPct val="100000"/>
              <a:buFont typeface="+mj-lt"/>
              <a:buAutoNum type="arabicParenR" startAt="4"/>
            </a:pPr>
            <a:endParaRPr lang="es-ES" sz="2000" dirty="0"/>
          </a:p>
          <a:p>
            <a:pPr marL="0" indent="0">
              <a:buSzPct val="100000"/>
              <a:buNone/>
            </a:pPr>
            <a:r>
              <a:rPr lang="es-ES" sz="2000" dirty="0" smtClean="0"/>
              <a:t>	</a:t>
            </a:r>
            <a:endParaRPr lang="es-CL" sz="2400" dirty="0"/>
          </a:p>
        </p:txBody>
      </p:sp>
    </p:spTree>
    <p:extLst>
      <p:ext uri="{BB962C8B-B14F-4D97-AF65-F5344CB8AC3E}">
        <p14:creationId xmlns:p14="http://schemas.microsoft.com/office/powerpoint/2010/main" val="349218975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55576" y="4290795"/>
            <a:ext cx="6303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441325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4132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L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390813" y="63736"/>
            <a:ext cx="7444077" cy="57861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 startAt="8"/>
              <a:tabLst/>
            </a:pPr>
            <a:r>
              <a:rPr lang="es-ES_tradnl" sz="2000" b="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Dibujar un cuadrado de N x N asteriscos (*). N es un dato de entrada positivo.</a:t>
            </a:r>
            <a:endParaRPr lang="es-CL" sz="2000" b="0" dirty="0">
              <a:solidFill>
                <a:schemeClr val="tx1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ES_tradnl" sz="2000" b="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	</a:t>
            </a:r>
            <a:r>
              <a:rPr lang="es-ES_tradnl" sz="2000" b="0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Ejemplo</a:t>
            </a:r>
            <a:r>
              <a:rPr lang="es-ES_tradnl" sz="2000" b="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:</a:t>
            </a:r>
            <a:endParaRPr lang="es-CL" sz="2000" b="0" dirty="0">
              <a:solidFill>
                <a:schemeClr val="tx1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_tradnl" sz="2000" b="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             </a:t>
            </a:r>
            <a:r>
              <a:rPr lang="es-ES_tradnl" sz="2000" b="0" dirty="0">
                <a:solidFill>
                  <a:schemeClr val="accent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Ingrese un número: 3</a:t>
            </a:r>
            <a:endParaRPr lang="es-CL" sz="2000" b="0" dirty="0">
              <a:solidFill>
                <a:schemeClr val="accent6"/>
              </a:solidFill>
              <a:latin typeface="Consolas" panose="020B0609020204030204" pitchFamily="49" charset="0"/>
              <a:ea typeface="Times New Roman" panose="02020603050405020304" pitchFamily="18" charset="0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_tradnl" sz="2000" b="0" dirty="0">
                <a:solidFill>
                  <a:schemeClr val="accent6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			* * *</a:t>
            </a:r>
            <a:endParaRPr lang="es-CL" sz="2000" b="0" dirty="0">
              <a:solidFill>
                <a:schemeClr val="accent6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_tradnl" sz="2000" b="0" dirty="0">
                <a:solidFill>
                  <a:schemeClr val="accent6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			* * *</a:t>
            </a:r>
            <a:endParaRPr lang="es-CL" sz="2000" b="0" dirty="0">
              <a:solidFill>
                <a:schemeClr val="accent6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_tradnl" sz="2000" b="0" dirty="0">
                <a:solidFill>
                  <a:schemeClr val="accent6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			* * *</a:t>
            </a:r>
            <a:endParaRPr lang="es-CL" sz="2000" b="0" dirty="0">
              <a:solidFill>
                <a:schemeClr val="accent6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lvl="0" indent="441325" algn="l">
              <a:spcBef>
                <a:spcPct val="0"/>
              </a:spcBef>
            </a:pPr>
            <a:endParaRPr lang="es-CL" sz="2000" b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400050" lvl="0" indent="-400050" algn="l">
              <a:spcBef>
                <a:spcPct val="0"/>
              </a:spcBef>
              <a:buFont typeface="+mj-lt"/>
              <a:buAutoNum type="arabicParenR" startAt="9"/>
            </a:pPr>
            <a:r>
              <a:rPr lang="es-ES" sz="2000" b="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Calcular el valor de Pi, usando la fórmula de  Leibniz:</a:t>
            </a:r>
          </a:p>
          <a:p>
            <a:pPr lvl="0" indent="441325" algn="l">
              <a:spcBef>
                <a:spcPct val="0"/>
              </a:spcBef>
              <a:buFontTx/>
              <a:buAutoNum type="arabicPeriod"/>
            </a:pPr>
            <a:endParaRPr lang="es-ES" sz="2000" b="0" dirty="0">
              <a:solidFill>
                <a:srgbClr val="000000"/>
              </a:solidFill>
              <a:latin typeface="Palatino Linotype" panose="02040502050505030304" pitchFamily="18" charset="0"/>
            </a:endParaRPr>
          </a:p>
          <a:p>
            <a:pPr lvl="0" indent="441325" algn="l">
              <a:spcBef>
                <a:spcPct val="0"/>
              </a:spcBef>
              <a:buFontTx/>
              <a:buAutoNum type="arabicPeriod"/>
            </a:pPr>
            <a:endParaRPr lang="es-ES" sz="2000" b="0" dirty="0" smtClean="0">
              <a:solidFill>
                <a:srgbClr val="000000"/>
              </a:solidFill>
              <a:latin typeface="Palatino Linotype" panose="02040502050505030304" pitchFamily="18" charset="0"/>
            </a:endParaRPr>
          </a:p>
          <a:p>
            <a:pPr lvl="0" indent="441325" algn="l">
              <a:spcBef>
                <a:spcPct val="0"/>
              </a:spcBef>
              <a:buFontTx/>
              <a:buAutoNum type="arabicPeriod"/>
            </a:pPr>
            <a:endParaRPr lang="es-ES" sz="2000" b="0" dirty="0">
              <a:solidFill>
                <a:schemeClr val="tx1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algn="l">
              <a:spcBef>
                <a:spcPct val="0"/>
              </a:spcBef>
            </a:pPr>
            <a:r>
              <a:rPr lang="es-ES" sz="2000" b="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La entrada del programa es </a:t>
            </a:r>
            <a:r>
              <a:rPr lang="es-ES" sz="2000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n</a:t>
            </a:r>
            <a:r>
              <a:rPr lang="es-ES" sz="2000" b="0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, </a:t>
            </a:r>
            <a:r>
              <a:rPr lang="es-ES" sz="2000" b="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número entero positivo que indica cuántos términos de la suma se utilizará</a:t>
            </a:r>
            <a:r>
              <a:rPr lang="es-ES" sz="2000" b="0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</a:p>
          <a:p>
            <a:pPr algn="l">
              <a:spcBef>
                <a:spcPct val="0"/>
              </a:spcBef>
            </a:pPr>
            <a:endParaRPr lang="es-ES" sz="2000" b="0" dirty="0">
              <a:solidFill>
                <a:schemeClr val="tx1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457200" indent="-457200" algn="l">
              <a:spcBef>
                <a:spcPct val="0"/>
              </a:spcBef>
              <a:buFont typeface="+mj-lt"/>
              <a:buAutoNum type="arabicParenR" startAt="10"/>
            </a:pPr>
            <a:r>
              <a:rPr lang="es-ES_tradnl" sz="2000" b="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Escribir los múltiplos de Z existentes desde N hasta M; N, M y Z son datos de entrada numéricos, asuma que N es menor que M, y que Z es positivo. </a:t>
            </a:r>
            <a:endParaRPr lang="es-CL" sz="2000" b="0" dirty="0">
              <a:solidFill>
                <a:schemeClr val="tx1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2965286"/>
            <a:ext cx="3901004" cy="614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888739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457200">
              <a:buSzPct val="100000"/>
              <a:buFont typeface="+mj-lt"/>
              <a:buAutoNum type="arabicParenR" startAt="11"/>
            </a:pPr>
            <a:r>
              <a:rPr lang="es-ES_tradnl" sz="2000" dirty="0"/>
              <a:t>Escribir los números desde 1 hasta N, debe imprimir una vez cada número si es impar y dos veces si es par, tenga en cuenta que N es un dato de entrada mayor a 1.</a:t>
            </a:r>
            <a:endParaRPr lang="es-CL" sz="2000" dirty="0"/>
          </a:p>
          <a:p>
            <a:pPr marL="1077913" indent="0">
              <a:buNone/>
            </a:pPr>
            <a:r>
              <a:rPr lang="es-ES_tradnl" sz="2000" dirty="0"/>
              <a:t>Ejemplo:</a:t>
            </a:r>
            <a:endParaRPr lang="es-CL" sz="2000" dirty="0"/>
          </a:p>
          <a:p>
            <a:pPr marL="1077913" indent="0">
              <a:buNone/>
            </a:pPr>
            <a:r>
              <a:rPr lang="es-ES_tradnl" sz="2000" dirty="0"/>
              <a:t>  </a:t>
            </a:r>
            <a:r>
              <a:rPr lang="es-ES_tradnl" sz="160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Ingresa un número: 5</a:t>
            </a:r>
            <a:endParaRPr lang="es-CL" sz="1600" dirty="0">
              <a:solidFill>
                <a:schemeClr val="accent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077913" indent="0">
              <a:buNone/>
            </a:pPr>
            <a:r>
              <a:rPr lang="es-ES_tradnl" sz="160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1</a:t>
            </a:r>
            <a:endParaRPr lang="es-CL" sz="1600" dirty="0">
              <a:solidFill>
                <a:schemeClr val="accent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077913" indent="0">
              <a:buNone/>
            </a:pPr>
            <a:r>
              <a:rPr lang="es-ES_tradnl" sz="160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22</a:t>
            </a:r>
            <a:endParaRPr lang="es-CL" sz="1600" dirty="0">
              <a:solidFill>
                <a:schemeClr val="accent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077913" indent="0">
              <a:buNone/>
            </a:pPr>
            <a:r>
              <a:rPr lang="es-ES_tradnl" sz="160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3</a:t>
            </a:r>
            <a:endParaRPr lang="es-CL" sz="1600" dirty="0">
              <a:solidFill>
                <a:schemeClr val="accent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077913" indent="0">
              <a:buNone/>
            </a:pPr>
            <a:r>
              <a:rPr lang="es-ES_tradnl" sz="160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44</a:t>
            </a:r>
            <a:endParaRPr lang="es-CL" sz="1600" dirty="0">
              <a:solidFill>
                <a:schemeClr val="accent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077913" indent="0">
              <a:buNone/>
            </a:pPr>
            <a:r>
              <a:rPr lang="es-ES_tradnl" sz="160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5</a:t>
            </a:r>
            <a:endParaRPr lang="es-CL" sz="1600" dirty="0">
              <a:solidFill>
                <a:schemeClr val="accent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57200" lvl="0" indent="-457200">
              <a:buSzPct val="100000"/>
              <a:buFont typeface="+mj-lt"/>
              <a:buAutoNum type="arabicParenR" startAt="12"/>
            </a:pPr>
            <a:r>
              <a:rPr lang="es-ES_tradnl" sz="2000" dirty="0"/>
              <a:t>Escribir N términos de la serie: 1 0 2 0 3 0 4 0 …. N es un dato de entrada numérico mayor a 0.</a:t>
            </a:r>
            <a:endParaRPr lang="es-CL" sz="2000" dirty="0"/>
          </a:p>
          <a:p>
            <a:endParaRPr lang="es-CL" sz="2000" dirty="0"/>
          </a:p>
        </p:txBody>
      </p:sp>
    </p:spTree>
    <p:extLst>
      <p:ext uri="{BB962C8B-B14F-4D97-AF65-F5344CB8AC3E}">
        <p14:creationId xmlns:p14="http://schemas.microsoft.com/office/powerpoint/2010/main" val="4088161838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123319"/>
            <a:ext cx="3161800" cy="2866330"/>
          </a:xfrm>
          <a:prstGeom prst="rect">
            <a:avLst/>
          </a:prstGeom>
        </p:spPr>
      </p:pic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>
          <a:xfrm>
            <a:off x="3419872" y="1124744"/>
            <a:ext cx="5410944" cy="634082"/>
          </a:xfrm>
        </p:spPr>
        <p:txBody>
          <a:bodyPr/>
          <a:lstStyle/>
          <a:p>
            <a:pPr>
              <a:defRPr/>
            </a:pPr>
            <a:r>
              <a:rPr lang="es-CL" dirty="0" smtClean="0"/>
              <a:t>EJERCICIO tipo Prueba</a:t>
            </a:r>
            <a:endParaRPr lang="es-CL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75856" y="2996952"/>
            <a:ext cx="5112568" cy="3384376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algn="just">
              <a:lnSpc>
                <a:spcPct val="160000"/>
              </a:lnSpc>
              <a:buFont typeface="Wingdings" pitchFamily="2" charset="2"/>
              <a:buChar char=""/>
            </a:pPr>
            <a:r>
              <a:rPr lang="es-CL" sz="1600" dirty="0">
                <a:latin typeface="+mj-lt"/>
              </a:rPr>
              <a:t>Diseñe un algoritmo en </a:t>
            </a:r>
            <a:r>
              <a:rPr lang="es-CL" sz="1600" dirty="0"/>
              <a:t>diagrama de flujo </a:t>
            </a:r>
            <a:r>
              <a:rPr lang="es-CL" sz="1600" dirty="0" smtClean="0">
                <a:latin typeface="+mj-lt"/>
              </a:rPr>
              <a:t>y </a:t>
            </a:r>
            <a:r>
              <a:rPr lang="es-CL" sz="1600" dirty="0">
                <a:latin typeface="+mj-lt"/>
              </a:rPr>
              <a:t>Python </a:t>
            </a:r>
            <a:r>
              <a:rPr lang="es-CL" sz="1600" dirty="0" smtClean="0">
                <a:latin typeface="+mj-lt"/>
              </a:rPr>
              <a:t>que </a:t>
            </a:r>
            <a:r>
              <a:rPr lang="es-CL" sz="1600" dirty="0">
                <a:latin typeface="+mj-lt"/>
              </a:rPr>
              <a:t>imprima un triángulo rectángulo de alto indicado por el usuario. Por ejemplo, si N = 4, el programa debería imprimir:</a:t>
            </a:r>
          </a:p>
          <a:p>
            <a:pPr marL="0" indent="0" algn="just">
              <a:buNone/>
            </a:pPr>
            <a:r>
              <a:rPr lang="es-CL" sz="2400" dirty="0">
                <a:latin typeface="+mj-lt"/>
              </a:rPr>
              <a:t>			*</a:t>
            </a:r>
          </a:p>
          <a:p>
            <a:pPr marL="0" indent="0" algn="just">
              <a:buNone/>
            </a:pPr>
            <a:r>
              <a:rPr lang="es-CL" sz="2400" dirty="0">
                <a:latin typeface="+mj-lt"/>
              </a:rPr>
              <a:t>			**</a:t>
            </a:r>
          </a:p>
          <a:p>
            <a:pPr marL="0" indent="0" algn="just">
              <a:buNone/>
            </a:pPr>
            <a:r>
              <a:rPr lang="es-CL" sz="2400" dirty="0">
                <a:latin typeface="+mj-lt"/>
              </a:rPr>
              <a:t>			***</a:t>
            </a:r>
          </a:p>
          <a:p>
            <a:pPr marL="0" indent="0" algn="just">
              <a:buNone/>
            </a:pPr>
            <a:r>
              <a:rPr lang="es-CL" sz="2400" dirty="0">
                <a:latin typeface="+mj-lt"/>
              </a:rPr>
              <a:t>			****</a:t>
            </a:r>
          </a:p>
        </p:txBody>
      </p:sp>
    </p:spTree>
    <p:extLst>
      <p:ext uri="{BB962C8B-B14F-4D97-AF65-F5344CB8AC3E}">
        <p14:creationId xmlns:p14="http://schemas.microsoft.com/office/powerpoint/2010/main" val="90880979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iseño predeterminad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s-ES_tradnl" sz="2800" b="1" i="0" u="none" strike="noStrike" cap="none" normalizeH="0" baseline="0" smtClean="0">
            <a:ln>
              <a:noFill/>
            </a:ln>
            <a:solidFill>
              <a:srgbClr val="CC9900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s-ES_tradnl" sz="2800" b="1" i="0" u="none" strike="noStrike" cap="none" normalizeH="0" baseline="0" smtClean="0">
            <a:ln>
              <a:noFill/>
            </a:ln>
            <a:solidFill>
              <a:srgbClr val="CC9900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55981</TotalTime>
  <Words>666</Words>
  <Application>Microsoft Office PowerPoint</Application>
  <PresentationFormat>Presentación en pantalla (4:3)</PresentationFormat>
  <Paragraphs>147</Paragraphs>
  <Slides>17</Slides>
  <Notes>1</Notes>
  <HiddenSlides>0</HiddenSlides>
  <MMClips>0</MMClips>
  <ScaleCrop>false</ScaleCrop>
  <HeadingPairs>
    <vt:vector size="6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  <vt:variant>
        <vt:lpstr>Presentaciones personalizadas</vt:lpstr>
      </vt:variant>
      <vt:variant>
        <vt:i4>1</vt:i4>
      </vt:variant>
    </vt:vector>
  </HeadingPairs>
  <TitlesOfParts>
    <vt:vector size="19" baseType="lpstr">
      <vt:lpstr>Diseño predeterminado</vt:lpstr>
      <vt:lpstr>Instituto de Informática </vt:lpstr>
      <vt:lpstr>Presentación de PowerPoint</vt:lpstr>
      <vt:lpstr>BLOQUES DE CONSTRUCCION</vt:lpstr>
      <vt:lpstr>Estructura Desde/Para (for)</vt:lpstr>
      <vt:lpstr>Estructura Desde/Para (for)</vt:lpstr>
      <vt:lpstr>Estructura Desde/Para (for)</vt:lpstr>
      <vt:lpstr>Presentación de PowerPoint</vt:lpstr>
      <vt:lpstr>Presentación de PowerPoint</vt:lpstr>
      <vt:lpstr>EJEMPLO</vt:lpstr>
      <vt:lpstr>EJERCICIOS</vt:lpstr>
      <vt:lpstr>…EJERCICIOS</vt:lpstr>
      <vt:lpstr>Más ejercicios</vt:lpstr>
      <vt:lpstr>…Más ejercicios</vt:lpstr>
      <vt:lpstr>…Más ejercicios</vt:lpstr>
      <vt:lpstr>Presentación de PowerPoint</vt:lpstr>
      <vt:lpstr>Presentación de PowerPoint</vt:lpstr>
      <vt:lpstr>EJERCICIO tipo Prueba</vt:lpstr>
      <vt:lpstr>Presentación personalizada 1</vt:lpstr>
    </vt:vector>
  </TitlesOfParts>
  <Company>Universidad Austral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 título de diapositiva</dc:title>
  <dc:creator>UACH</dc:creator>
  <cp:lastModifiedBy>Tania</cp:lastModifiedBy>
  <cp:revision>567</cp:revision>
  <dcterms:created xsi:type="dcterms:W3CDTF">2002-04-19T21:10:20Z</dcterms:created>
  <dcterms:modified xsi:type="dcterms:W3CDTF">2017-04-11T14:22:37Z</dcterms:modified>
</cp:coreProperties>
</file>